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E15ABA-D19C-48C7-B68B-B009D1281880}">
          <p14:sldIdLst>
            <p14:sldId id="256"/>
            <p14:sldId id="258"/>
            <p14:sldId id="259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782" autoAdjust="0"/>
  </p:normalViewPr>
  <p:slideViewPr>
    <p:cSldViewPr snapToGrid="0">
      <p:cViewPr varScale="1">
        <p:scale>
          <a:sx n="64" d="100"/>
          <a:sy n="6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13.12.2024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Технологии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5400" dirty="0"/>
              <a:t>Лекция №4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046DA-43F1-3D79-0728-B414F979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исключение?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F198D-2863-B7D0-2968-01EDFE92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Исключение – механизм, позволяющий программе обработать ситуацию, возникшую в результате какой-либо ошибке.</a:t>
            </a:r>
          </a:p>
          <a:p>
            <a:endParaRPr lang="ru-RU" dirty="0"/>
          </a:p>
          <a:p>
            <a:r>
              <a:rPr lang="ru-RU" dirty="0"/>
              <a:t>Исключения происходят по следующим причинам: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61616"/>
                </a:solidFill>
              </a:rPr>
              <a:t>О</a:t>
            </a:r>
            <a:r>
              <a:rPr lang="ru-RU" b="0" i="0" dirty="0">
                <a:solidFill>
                  <a:srgbClr val="161616"/>
                </a:solidFill>
                <a:effectLst/>
              </a:rPr>
              <a:t>шибки логики. Пример: </a:t>
            </a:r>
            <a:r>
              <a:rPr lang="ru-RU" b="1" i="1" dirty="0">
                <a:solidFill>
                  <a:srgbClr val="161616"/>
                </a:solidFill>
                <a:effectLst/>
              </a:rPr>
              <a:t>выход за пределы массива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Ошибка среды выполнения. </a:t>
            </a:r>
            <a:r>
              <a:rPr lang="ru-RU" dirty="0">
                <a:solidFill>
                  <a:srgbClr val="161616"/>
                </a:solidFill>
              </a:rPr>
              <a:t>Пример: </a:t>
            </a:r>
            <a:r>
              <a:rPr lang="ru-RU" b="1" i="1" dirty="0">
                <a:solidFill>
                  <a:srgbClr val="161616"/>
                </a:solidFill>
              </a:rPr>
              <a:t>сетевая служба недоступна</a:t>
            </a:r>
            <a:endParaRPr lang="ru-RU" b="1" i="1" dirty="0">
              <a:solidFill>
                <a:srgbClr val="161616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193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78693-0EF3-D178-0F84-64A6EEFF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надо использовать исключения?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ECE2E6-6510-26BE-1A58-E4A745318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заставляет вызывающий код распознавать условие ошибки и обрабатывать его. Необработанные исключения останавливают выполнение программы.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переходит к точке стека вызовов, которая может обрабатывать ошибку.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Механизм очистки стека исключений уничтожает все объекты в области после создания исключения в соответствии с четко определенными правилами.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позволяет четко разделить код, который обнаруживает ошибку и код, обрабатывающий ошибку.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50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F4505-375A-3553-D360-85BEDBEB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93197D-BBC2-79B7-5E29-A2BAD9B31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Consolas" panose="020B0609020204030204" pitchFamily="49" charset="0"/>
              </a:rPr>
              <a:t>try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	участок кода, в котором возможно исключение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 err="1">
                <a:latin typeface="Consolas" panose="020B0609020204030204" pitchFamily="49" charset="0"/>
              </a:rPr>
              <a:t>catch</a:t>
            </a:r>
            <a:r>
              <a:rPr lang="ru-RU" dirty="0">
                <a:latin typeface="Consolas" panose="020B0609020204030204" pitchFamily="49" charset="0"/>
              </a:rPr>
              <a:t>(тип исключения)</a:t>
            </a:r>
          </a:p>
          <a:p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  обработка исключения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302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D0FB7-B1A6-8438-864F-FC8A14E2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Исключения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E21D88-5F2E-3199-F264-64807CBAF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Исключения в C++ похожи на такие языки, как C# и Java. </a:t>
            </a:r>
          </a:p>
          <a:p>
            <a:r>
              <a:rPr lang="ru-RU" dirty="0"/>
              <a:t>В блоке </a:t>
            </a:r>
            <a:r>
              <a:rPr lang="ru-RU" dirty="0" err="1"/>
              <a:t>try</a:t>
            </a:r>
            <a:r>
              <a:rPr lang="ru-RU" dirty="0"/>
              <a:t>, если исключение создается, он перехватывается первым связанным </a:t>
            </a:r>
            <a:r>
              <a:rPr lang="ru-RU" dirty="0" err="1"/>
              <a:t>catch</a:t>
            </a:r>
            <a:r>
              <a:rPr lang="ru-RU" dirty="0"/>
              <a:t> блоком, тип которого соответствует типу исключения. </a:t>
            </a:r>
          </a:p>
          <a:p>
            <a:r>
              <a:rPr lang="ru-RU" dirty="0"/>
              <a:t>Другими словами, выполнение переходит от инструкции </a:t>
            </a:r>
            <a:r>
              <a:rPr lang="ru-RU" dirty="0" err="1"/>
              <a:t>throw</a:t>
            </a:r>
            <a:r>
              <a:rPr lang="ru-RU" dirty="0"/>
              <a:t> к оператору </a:t>
            </a:r>
            <a:r>
              <a:rPr lang="ru-RU" dirty="0" err="1"/>
              <a:t>catch</a:t>
            </a:r>
            <a:r>
              <a:rPr lang="ru-RU" dirty="0"/>
              <a:t> . </a:t>
            </a:r>
          </a:p>
          <a:p>
            <a:r>
              <a:rPr lang="ru-RU" dirty="0"/>
              <a:t>Если не найден доступный блок перехвата,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terminate</a:t>
            </a:r>
            <a:r>
              <a:rPr lang="ru-RU" dirty="0"/>
              <a:t> вызывается и программа завершает работу. </a:t>
            </a:r>
          </a:p>
          <a:p>
            <a:r>
              <a:rPr lang="ru-RU" dirty="0"/>
              <a:t>В C++ любой тип может быть создан; однако рекомендуется создать тип, производный напрямую или косвенно от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exception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5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A001-A0E4-7D2F-FDCA-10471377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Исключения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7798A9-8CDB-C322-F471-2B9F2A0B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namespace std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class exception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exception()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exception(const exception&amp;)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exception&amp; operator=(const exception&amp;)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virtual ~exception(); // Destructor</a:t>
            </a:r>
          </a:p>
          <a:p>
            <a:r>
              <a:rPr lang="en-US" dirty="0">
                <a:latin typeface="Consolas" panose="020B0609020204030204" pitchFamily="49" charset="0"/>
              </a:rPr>
              <a:t>        virtual const char* what() const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latin typeface="Consolas" panose="020B0609020204030204" pitchFamily="49" charset="0"/>
              </a:rPr>
              <a:t>	  //</a:t>
            </a:r>
            <a:r>
              <a:rPr lang="ru-RU" dirty="0">
                <a:latin typeface="Consolas" panose="020B0609020204030204" pitchFamily="49" charset="0"/>
              </a:rPr>
              <a:t>возвращает сообщение об исключении</a:t>
            </a:r>
          </a:p>
          <a:p>
            <a:r>
              <a:rPr lang="ru-RU" dirty="0">
                <a:latin typeface="Consolas" panose="020B0609020204030204" pitchFamily="49" charset="0"/>
              </a:rPr>
              <a:t>    };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867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D9829-1C93-3B1C-90FD-241D7636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0847CC73-02AC-30CD-7FD4-98BCC9AE31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165" y="1825625"/>
            <a:ext cx="482167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4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1271B-29BA-7D8E-00AA-3D838D60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23625-1AA3-53A8-144E-BE7F0E70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runtime_error</a:t>
            </a:r>
            <a:r>
              <a:rPr lang="ru-RU" sz="2400" dirty="0"/>
              <a:t> – общий тип исключений, которые возникают во время выполнения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range_error</a:t>
            </a:r>
            <a:r>
              <a:rPr lang="ru-RU" sz="2400" dirty="0"/>
              <a:t> – исключение, которое возникает, когда полученный результат превосходит допустимый диапазон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overflow_error</a:t>
            </a:r>
            <a:r>
              <a:rPr lang="ru-RU" sz="2400" dirty="0"/>
              <a:t> – исключение, которое возникает, если полученный результат превышает допустимый диапазон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underflow_error</a:t>
            </a:r>
            <a:r>
              <a:rPr lang="ru-RU" sz="2400" dirty="0"/>
              <a:t> – исключение, которое возникает, если полученный в вычислениях результат имеет недопустимое отрицательное значение (выход за нижнюю допустимую границу значений)</a:t>
            </a:r>
          </a:p>
        </p:txBody>
      </p:sp>
    </p:spTree>
    <p:extLst>
      <p:ext uri="{BB962C8B-B14F-4D97-AF65-F5344CB8AC3E}">
        <p14:creationId xmlns:p14="http://schemas.microsoft.com/office/powerpoint/2010/main" val="41962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D0D16-B72E-60E8-27AE-0124785C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2E9DC0-7CC6-3311-8F38-D61B94A66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logic_error</a:t>
            </a:r>
            <a:r>
              <a:rPr lang="ru-RU" sz="2800" dirty="0"/>
              <a:t> – исключение, которое возникает при наличии логических ошибок к коде программы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domain_error</a:t>
            </a:r>
            <a:r>
              <a:rPr lang="ru-RU" sz="2800" dirty="0"/>
              <a:t> – исключение, которое возникает, если для некоторого значения, передаваемого в функцию, не определен результат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invalid_argument</a:t>
            </a:r>
            <a:r>
              <a:rPr lang="ru-RU" sz="2800" dirty="0"/>
              <a:t> – исключение, которое возникает при передаче в функцию некорректного аргумента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length_error</a:t>
            </a:r>
            <a:r>
              <a:rPr lang="ru-RU" sz="2800" dirty="0"/>
              <a:t> – исключение, которое возникает при попытке создать объект большего размера, чем допустим для данного типа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out_of_range</a:t>
            </a:r>
            <a:r>
              <a:rPr lang="ru-RU" sz="2800" dirty="0"/>
              <a:t> – исключение, которое возникает при попытке доступа к элементам вне допустимого диапазона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74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5CEC8-927A-4473-37EC-11A851E8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9E7DF-C390-5194-78B5-0A3F1C67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Person(std::string name, unsigned age)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</a:t>
            </a:r>
            <a:r>
              <a:rPr lang="en-US" dirty="0" err="1">
                <a:latin typeface="Consolas" panose="020B0609020204030204" pitchFamily="49" charset="0"/>
              </a:rPr>
              <a:t>name.length</a:t>
            </a:r>
            <a:r>
              <a:rPr lang="en-US" dirty="0">
                <a:latin typeface="Consolas" panose="020B0609020204030204" pitchFamily="49" charset="0"/>
              </a:rPr>
              <a:t>() &gt; 11)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</a:rPr>
              <a:t>length_error</a:t>
            </a:r>
            <a:r>
              <a:rPr lang="en-US" dirty="0">
                <a:latin typeface="Consolas" panose="020B0609020204030204" pitchFamily="49" charset="0"/>
              </a:rPr>
              <a:t>("Name must be less than 10 chars");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if(!age || age &gt; 110)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</a:rPr>
              <a:t>range_error</a:t>
            </a:r>
            <a:r>
              <a:rPr lang="en-US" dirty="0">
                <a:latin typeface="Consolas" panose="020B0609020204030204" pitchFamily="49" charset="0"/>
              </a:rPr>
              <a:t>("Age must be between 1 and 110");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this-&gt;name = name; this-&gt;age = age;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unsigned age;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01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126AE85-DCC3-2472-B826-7F889C64B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62642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void </a:t>
            </a:r>
            <a:r>
              <a:rPr lang="en-US" dirty="0" err="1"/>
              <a:t>testPerson</a:t>
            </a:r>
            <a:r>
              <a:rPr lang="en-US" dirty="0"/>
              <a:t>(std::string name, unsigned age)</a:t>
            </a:r>
            <a:r>
              <a:rPr lang="ru-RU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    try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Person person{name, age}; 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</a:t>
            </a:r>
            <a:r>
              <a:rPr lang="en-US" dirty="0" err="1"/>
              <a:t>length_error</a:t>
            </a:r>
            <a:r>
              <a:rPr lang="en-US" dirty="0"/>
              <a:t>&amp; ex)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Length_error</a:t>
            </a:r>
            <a:r>
              <a:rPr lang="en-US" dirty="0"/>
              <a:t>: " &lt;&lt; </a:t>
            </a:r>
            <a:r>
              <a:rPr lang="en-US" dirty="0" err="1"/>
              <a:t>ex.what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</a:t>
            </a:r>
            <a:r>
              <a:rPr lang="en-US" dirty="0" err="1"/>
              <a:t>range_error</a:t>
            </a:r>
            <a:r>
              <a:rPr lang="en-US" dirty="0"/>
              <a:t>&amp; ex)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Range_error</a:t>
            </a:r>
            <a:r>
              <a:rPr lang="en-US" dirty="0"/>
              <a:t>: " &lt;&lt; </a:t>
            </a:r>
            <a:r>
              <a:rPr lang="en-US" dirty="0" err="1"/>
              <a:t>ex.what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std::exception&amp;)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"Something wrong"&lt;&lt;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04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387E-7433-D021-73FC-D8C66B3B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176864-410A-9D58-EE72-F300B93F6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1"/>
            <a:ext cx="10515600" cy="4451684"/>
          </a:xfrm>
        </p:spPr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("Tom", 38);</a:t>
            </a: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("Gai </a:t>
            </a:r>
            <a:r>
              <a:rPr lang="en-US" dirty="0" err="1">
                <a:latin typeface="Consolas" panose="020B0609020204030204" pitchFamily="49" charset="0"/>
              </a:rPr>
              <a:t>Yulii</a:t>
            </a:r>
            <a:r>
              <a:rPr lang="en-US" dirty="0">
                <a:latin typeface="Consolas" panose="020B0609020204030204" pitchFamily="49" charset="0"/>
              </a:rPr>
              <a:t> Cezar", 42);  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("Sam", 250);  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5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6A89B-8F9B-03D1-1F55-69A411F0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Собственные типы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9F9C7D-4BF7-D0A7-3ACA-35197E39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class </a:t>
            </a:r>
            <a:r>
              <a:rPr lang="en-US" sz="2400" dirty="0" err="1">
                <a:latin typeface="Consolas" panose="020B0609020204030204" pitchFamily="49" charset="0"/>
              </a:rPr>
              <a:t>AgeException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public: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AgeException</a:t>
            </a:r>
            <a:r>
              <a:rPr lang="en-US" sz="2400" dirty="0">
                <a:latin typeface="Consolas" panose="020B0609020204030204" pitchFamily="49" charset="0"/>
              </a:rPr>
              <a:t>(std::string message): message{message}{}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std::string </a:t>
            </a:r>
            <a:r>
              <a:rPr lang="en-US" sz="2400" dirty="0" err="1">
                <a:latin typeface="Consolas" panose="020B0609020204030204" pitchFamily="49" charset="0"/>
              </a:rPr>
              <a:t>getMessage</a:t>
            </a:r>
            <a:r>
              <a:rPr lang="en-US" sz="2400" dirty="0">
                <a:latin typeface="Consolas" panose="020B0609020204030204" pitchFamily="49" charset="0"/>
              </a:rPr>
              <a:t>() const {return message;}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std::string message;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};</a:t>
            </a:r>
            <a:endParaRPr lang="ru-R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3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72956CB-9D8B-9435-A84A-E955E3C4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853"/>
            <a:ext cx="10515600" cy="63966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Person(std::string name, unsigned age)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if(!age||age&gt;110)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 {</a:t>
            </a:r>
          </a:p>
          <a:p>
            <a:r>
              <a:rPr lang="ru-RU" dirty="0">
                <a:latin typeface="Consolas" panose="020B0609020204030204" pitchFamily="49" charset="0"/>
              </a:rPr>
              <a:t>            </a:t>
            </a:r>
            <a:r>
              <a:rPr lang="en-US" dirty="0">
                <a:latin typeface="Consolas" panose="020B0609020204030204" pitchFamily="49" charset="0"/>
              </a:rPr>
              <a:t>throw </a:t>
            </a:r>
            <a:r>
              <a:rPr lang="en-US" dirty="0" err="1">
                <a:latin typeface="Consolas" panose="020B0609020204030204" pitchFamily="49" charset="0"/>
              </a:rPr>
              <a:t>AgeException</a:t>
            </a:r>
            <a:r>
              <a:rPr lang="en-US" dirty="0">
                <a:latin typeface="Consolas" panose="020B0609020204030204" pitchFamily="49" charset="0"/>
              </a:rPr>
              <a:t>{"Invalid age"};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this-&gt;name =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this-&gt;age = age;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unsigned age;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58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4C82A-8468-6C6F-7A2C-05D96E4A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плохого в предыдущем примере?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6EB227-533B-8691-3250-E23DF6EB8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1167"/>
            <a:ext cx="10515600" cy="3990307"/>
          </a:xfrm>
        </p:spPr>
        <p:txBody>
          <a:bodyPr>
            <a:normAutofit/>
          </a:bodyPr>
          <a:lstStyle/>
          <a:p>
            <a:pPr algn="ctr"/>
            <a:r>
              <a:rPr lang="ru-RU" sz="8800" dirty="0"/>
              <a:t>ЖДУ ВАШИХ КОММЕНТАРИЕВ!</a:t>
            </a:r>
          </a:p>
        </p:txBody>
      </p:sp>
    </p:spTree>
    <p:extLst>
      <p:ext uri="{BB962C8B-B14F-4D97-AF65-F5344CB8AC3E}">
        <p14:creationId xmlns:p14="http://schemas.microsoft.com/office/powerpoint/2010/main" val="279590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CC999-4D6F-8C08-0C76-146499DC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работе с исключениями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C864D-2D6E-1769-5395-A7DB8AE58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Используйте утверждения для проверки условий, которые всегда должны быть верными или всегда быть ложными</a:t>
            </a:r>
            <a:r>
              <a:rPr lang="en-US" b="0" i="0" dirty="0">
                <a:solidFill>
                  <a:srgbClr val="161616"/>
                </a:solidFill>
                <a:effectLst/>
              </a:rPr>
              <a:t> – </a:t>
            </a:r>
            <a:r>
              <a:rPr lang="ru-RU" b="1" dirty="0">
                <a:solidFill>
                  <a:srgbClr val="161616"/>
                </a:solidFill>
              </a:rPr>
              <a:t>Если есть возможность избежать исключения, то его нужно избегать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Используйте исключения, если код, обрабатывающий ошибку, отделен от кода, который обнаруживает ошибку одним или несколькими промежуточными вызовами функций.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539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89774-8B3C-22E7-2F3E-529B91A0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 обработке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737AE9-7B8B-0FBE-ECAB-4CD3C995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161616"/>
                </a:solidFill>
                <a:effectLst/>
              </a:rPr>
              <a:t>Механизм исключения имеет минимальные затраты на производительность, если исключение не возникает. Если исключение возникает, стоимость обхода стека и очистки примерно сравнима с стоимостью вызова функции.</a:t>
            </a:r>
            <a:endParaRPr lang="en-US" b="0" i="0" dirty="0">
              <a:solidFill>
                <a:srgbClr val="161616"/>
              </a:solidFill>
              <a:effectLst/>
            </a:endParaRPr>
          </a:p>
          <a:p>
            <a:pPr algn="just"/>
            <a:endParaRPr lang="en-US" dirty="0">
              <a:solidFill>
                <a:srgbClr val="161616"/>
              </a:solidFill>
            </a:endParaRPr>
          </a:p>
          <a:p>
            <a:pPr algn="just"/>
            <a:r>
              <a:rPr lang="ru-RU" i="0" dirty="0">
                <a:solidFill>
                  <a:srgbClr val="161616"/>
                </a:solidFill>
                <a:effectLst/>
              </a:rPr>
              <a:t>Однако в большинстве случаев затраты на производительность и объем памяти не являются значительными. Негативное влияние исключений на производительность, скорее всего, будет значительным только в системах с ограниченными памятью.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106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B091C-2D13-702B-E438-25912960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06E5F1-1DB8-A243-D025-89AE5331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i="0" dirty="0">
                <a:solidFill>
                  <a:srgbClr val="333333"/>
                </a:solidFill>
                <a:effectLst/>
              </a:rPr>
              <a:t>Логирование в программировании — это процесс записи логов, то есть текстовых файлов с информацией о действиях программного обеспечения или пользователей, которые хранятся на компьютере или сервере.</a:t>
            </a:r>
            <a:endParaRPr lang="en-US" i="0" dirty="0">
              <a:solidFill>
                <a:srgbClr val="333333"/>
              </a:solidFill>
              <a:effectLst/>
            </a:endParaRPr>
          </a:p>
          <a:p>
            <a:pPr algn="just"/>
            <a:endParaRPr lang="en-US" dirty="0">
              <a:solidFill>
                <a:srgbClr val="333333"/>
              </a:solidFill>
            </a:endParaRPr>
          </a:p>
          <a:p>
            <a:pPr algn="just"/>
            <a:r>
              <a:rPr lang="ru-RU" i="0" dirty="0">
                <a:solidFill>
                  <a:srgbClr val="333333"/>
                </a:solidFill>
                <a:effectLst/>
              </a:rPr>
              <a:t>Для логирования используют логгер — специальный модуль, библиотеку или отдельную программу, которая реагирует на события в программе и записывает всё, что там происходит.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879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F3FE9-312F-B28A-56FD-D996D9B2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7C056-67B9-BFBC-0E65-EF3FF0C3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Анализ логов помогает обнаружить источники многих проблем, выявить конфликты в конфигурационных файлах, отследить события, связанные с информационной безопасностью. Также благодаря логам найденные ошибки можно быстро исправить.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312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D439D-AF49-44B3-59E0-843B9CDF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9DED977-4D4D-A841-5CA3-AC9546CCBF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068512"/>
            <a:ext cx="809625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702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483BD-8A67-8713-52E2-A8A45C0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  <a:br>
              <a:rPr lang="ru-RU" dirty="0"/>
            </a:br>
            <a:r>
              <a:rPr lang="ru-RU" dirty="0"/>
              <a:t>Механизмы записи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15A0DB-0AA7-81A5-F220-92D0172A0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текстовый файл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текстовый файл в сложной ступенчатой иерархии со сложной структурой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бинарный формат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СУБД</a:t>
            </a:r>
          </a:p>
        </p:txBody>
      </p:sp>
    </p:spTree>
    <p:extLst>
      <p:ext uri="{BB962C8B-B14F-4D97-AF65-F5344CB8AC3E}">
        <p14:creationId xmlns:p14="http://schemas.microsoft.com/office/powerpoint/2010/main" val="3217183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B6D7C-6BC9-8BEC-BA77-6A2E41F7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Логирование</a:t>
            </a:r>
            <a:br>
              <a:rPr lang="ru-RU" sz="3600" dirty="0"/>
            </a:br>
            <a:r>
              <a:rPr lang="ru-RU" sz="3600" dirty="0"/>
              <a:t>Простейший пример формата записи в журнале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C4158F-904C-E39D-185E-95B4792E0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Consolas" panose="020B0609020204030204" pitchFamily="49" charset="0"/>
              </a:rPr>
              <a:t>[system info] + [message] + [context]</a:t>
            </a: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info</a:t>
            </a:r>
            <a:r>
              <a:rPr lang="en-HK" dirty="0"/>
              <a:t> –</a:t>
            </a:r>
            <a:r>
              <a:rPr lang="ru-RU" dirty="0"/>
              <a:t> метка времени, </a:t>
            </a:r>
            <a:r>
              <a:rPr lang="en-HK" dirty="0"/>
              <a:t>id</a:t>
            </a:r>
            <a:r>
              <a:rPr lang="ru-RU" dirty="0"/>
              <a:t> процесса, </a:t>
            </a:r>
            <a:r>
              <a:rPr lang="en-HK" dirty="0"/>
              <a:t>id</a:t>
            </a:r>
            <a:r>
              <a:rPr lang="ru-RU" dirty="0"/>
              <a:t> потока и другая служебная информация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message</a:t>
            </a:r>
            <a:r>
              <a:rPr lang="en-HK" dirty="0"/>
              <a:t> –</a:t>
            </a:r>
            <a:r>
              <a:rPr lang="ru-RU" dirty="0"/>
              <a:t> текст сообщения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context</a:t>
            </a:r>
            <a:r>
              <a:rPr lang="en-HK" dirty="0"/>
              <a:t> –</a:t>
            </a:r>
            <a:r>
              <a:rPr lang="ru-RU" dirty="0"/>
              <a:t> любая дополнительная информация, контекст может быть общим для сообщений в рамках какой</a:t>
            </a:r>
            <a:r>
              <a:rPr lang="en-HK" dirty="0"/>
              <a:t>-</a:t>
            </a:r>
            <a:r>
              <a:rPr lang="ru-RU" dirty="0"/>
              <a:t>то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2326029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68B39-16FD-79FA-9952-0785ACA4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Logger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4CBAF1-5FD8-4306-021B-206996EC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{ DEBUG, INFO, WARNING, ERROR, CRITICAL 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Logger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Logger(const string&amp; filename);</a:t>
            </a:r>
          </a:p>
          <a:p>
            <a:r>
              <a:rPr lang="en-US" dirty="0">
                <a:latin typeface="Consolas" panose="020B0609020204030204" pitchFamily="49" charset="0"/>
              </a:rPr>
              <a:t>    ~Logger();</a:t>
            </a:r>
          </a:p>
          <a:p>
            <a:r>
              <a:rPr lang="en-US" dirty="0">
                <a:latin typeface="Consolas" panose="020B0609020204030204" pitchFamily="49" charset="0"/>
              </a:rPr>
              <a:t>    void log(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level, const string&amp; message);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</a:t>
            </a:r>
            <a:r>
              <a:rPr lang="en-US" dirty="0" err="1">
                <a:latin typeface="Consolas" panose="020B0609020204030204" pitchFamily="49" charset="0"/>
              </a:rPr>
              <a:t>levelToString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level);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998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9335</TotalTime>
  <Words>1180</Words>
  <Application>Microsoft Office PowerPoint</Application>
  <PresentationFormat>Широкоэкранный</PresentationFormat>
  <Paragraphs>153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YS Text</vt:lpstr>
      <vt:lpstr>Тема Office</vt:lpstr>
      <vt:lpstr>Технологии программирования</vt:lpstr>
      <vt:lpstr>Что такое исключение?</vt:lpstr>
      <vt:lpstr>Почему надо использовать исключения?</vt:lpstr>
      <vt:lpstr>Обработка исключений</vt:lpstr>
      <vt:lpstr>Исключения С++</vt:lpstr>
      <vt:lpstr>Исключения С++</vt:lpstr>
      <vt:lpstr>Типы исключений С++</vt:lpstr>
      <vt:lpstr>Типы исключений С++</vt:lpstr>
      <vt:lpstr>Типы исключений С++</vt:lpstr>
      <vt:lpstr>Пример</vt:lpstr>
      <vt:lpstr>Презентация PowerPoint</vt:lpstr>
      <vt:lpstr>Презентация PowerPoint</vt:lpstr>
      <vt:lpstr>Собственные типы исключений</vt:lpstr>
      <vt:lpstr>Презентация PowerPoint</vt:lpstr>
      <vt:lpstr>Что плохого в предыдущем примере?</vt:lpstr>
      <vt:lpstr>Рекомендации по работе с исключениями</vt:lpstr>
      <vt:lpstr>Производительность при обработке исключений</vt:lpstr>
      <vt:lpstr>Логирование</vt:lpstr>
      <vt:lpstr>Логирование</vt:lpstr>
      <vt:lpstr>Логирование</vt:lpstr>
      <vt:lpstr>Логирование Механизмы записи</vt:lpstr>
      <vt:lpstr>Логирование Простейший пример формата записи в журнале</vt:lpstr>
      <vt:lpstr>Класс Logger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программирования</dc:title>
  <dc:creator>Иван Петров</dc:creator>
  <cp:lastModifiedBy>Иван Петров</cp:lastModifiedBy>
  <cp:revision>141</cp:revision>
  <dcterms:created xsi:type="dcterms:W3CDTF">2024-09-02T04:38:38Z</dcterms:created>
  <dcterms:modified xsi:type="dcterms:W3CDTF">2024-12-13T07:39:13Z</dcterms:modified>
</cp:coreProperties>
</file>