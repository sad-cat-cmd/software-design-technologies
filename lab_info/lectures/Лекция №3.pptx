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80" r:id="rId24"/>
    <p:sldId id="281" r:id="rId25"/>
    <p:sldId id="282" r:id="rId26"/>
    <p:sldId id="283" r:id="rId27"/>
    <p:sldId id="285" r:id="rId28"/>
    <p:sldId id="292" r:id="rId29"/>
    <p:sldId id="291" r:id="rId30"/>
    <p:sldId id="286" r:id="rId31"/>
    <p:sldId id="293" r:id="rId32"/>
    <p:sldId id="290" r:id="rId33"/>
    <p:sldId id="284" r:id="rId34"/>
    <p:sldId id="288" r:id="rId35"/>
    <p:sldId id="289" r:id="rId36"/>
    <p:sldId id="287" r:id="rId37"/>
    <p:sldId id="300" r:id="rId38"/>
    <p:sldId id="301" r:id="rId39"/>
    <p:sldId id="302" r:id="rId40"/>
    <p:sldId id="303" r:id="rId41"/>
    <p:sldId id="294" r:id="rId42"/>
    <p:sldId id="295" r:id="rId43"/>
    <p:sldId id="296" r:id="rId44"/>
    <p:sldId id="304" r:id="rId45"/>
    <p:sldId id="305" r:id="rId46"/>
    <p:sldId id="297" r:id="rId47"/>
    <p:sldId id="298" r:id="rId48"/>
    <p:sldId id="299" r:id="rId49"/>
    <p:sldId id="306" r:id="rId50"/>
    <p:sldId id="309" r:id="rId51"/>
    <p:sldId id="307" r:id="rId52"/>
    <p:sldId id="308" r:id="rId53"/>
    <p:sldId id="310" r:id="rId54"/>
    <p:sldId id="311" r:id="rId55"/>
    <p:sldId id="314" r:id="rId56"/>
    <p:sldId id="313" r:id="rId57"/>
    <p:sldId id="316" r:id="rId58"/>
    <p:sldId id="318" r:id="rId59"/>
    <p:sldId id="319" r:id="rId60"/>
    <p:sldId id="320" r:id="rId61"/>
    <p:sldId id="337" r:id="rId62"/>
    <p:sldId id="338" r:id="rId63"/>
    <p:sldId id="321" r:id="rId64"/>
    <p:sldId id="322" r:id="rId65"/>
    <p:sldId id="323" r:id="rId66"/>
    <p:sldId id="329" r:id="rId67"/>
    <p:sldId id="324" r:id="rId68"/>
    <p:sldId id="328" r:id="rId69"/>
    <p:sldId id="330" r:id="rId70"/>
    <p:sldId id="325" r:id="rId71"/>
    <p:sldId id="326" r:id="rId72"/>
    <p:sldId id="331" r:id="rId73"/>
    <p:sldId id="335" r:id="rId74"/>
    <p:sldId id="334" r:id="rId75"/>
    <p:sldId id="333" r:id="rId76"/>
    <p:sldId id="332" r:id="rId77"/>
    <p:sldId id="327" r:id="rId78"/>
    <p:sldId id="317" r:id="rId79"/>
    <p:sldId id="315" r:id="rId80"/>
    <p:sldId id="339" r:id="rId8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B9E15ABA-D19C-48C7-B68B-B009D1281880}">
          <p14:sldIdLst>
            <p14:sldId id="256"/>
            <p14:sldId id="257"/>
            <p14:sldId id="258"/>
            <p14:sldId id="259"/>
            <p14:sldId id="260"/>
            <p14:sldId id="261"/>
            <p14:sldId id="262"/>
            <p14:sldId id="263"/>
            <p14:sldId id="265"/>
            <p14:sldId id="264"/>
            <p14:sldId id="266"/>
            <p14:sldId id="267"/>
            <p14:sldId id="268"/>
            <p14:sldId id="269"/>
            <p14:sldId id="270"/>
            <p14:sldId id="271"/>
            <p14:sldId id="272"/>
            <p14:sldId id="273"/>
            <p14:sldId id="274"/>
            <p14:sldId id="275"/>
            <p14:sldId id="277"/>
            <p14:sldId id="278"/>
            <p14:sldId id="280"/>
            <p14:sldId id="281"/>
            <p14:sldId id="282"/>
            <p14:sldId id="283"/>
            <p14:sldId id="285"/>
            <p14:sldId id="292"/>
            <p14:sldId id="291"/>
            <p14:sldId id="286"/>
            <p14:sldId id="293"/>
            <p14:sldId id="290"/>
            <p14:sldId id="284"/>
            <p14:sldId id="288"/>
            <p14:sldId id="289"/>
            <p14:sldId id="287"/>
            <p14:sldId id="300"/>
            <p14:sldId id="301"/>
            <p14:sldId id="302"/>
            <p14:sldId id="303"/>
            <p14:sldId id="294"/>
            <p14:sldId id="295"/>
            <p14:sldId id="296"/>
            <p14:sldId id="304"/>
            <p14:sldId id="305"/>
            <p14:sldId id="297"/>
            <p14:sldId id="298"/>
            <p14:sldId id="299"/>
            <p14:sldId id="306"/>
            <p14:sldId id="309"/>
            <p14:sldId id="307"/>
            <p14:sldId id="308"/>
            <p14:sldId id="310"/>
            <p14:sldId id="311"/>
            <p14:sldId id="314"/>
            <p14:sldId id="313"/>
            <p14:sldId id="316"/>
            <p14:sldId id="318"/>
            <p14:sldId id="319"/>
            <p14:sldId id="320"/>
            <p14:sldId id="337"/>
            <p14:sldId id="338"/>
            <p14:sldId id="321"/>
            <p14:sldId id="322"/>
            <p14:sldId id="323"/>
            <p14:sldId id="329"/>
            <p14:sldId id="324"/>
            <p14:sldId id="328"/>
            <p14:sldId id="330"/>
            <p14:sldId id="325"/>
            <p14:sldId id="326"/>
            <p14:sldId id="331"/>
            <p14:sldId id="335"/>
            <p14:sldId id="334"/>
            <p14:sldId id="333"/>
            <p14:sldId id="332"/>
            <p14:sldId id="327"/>
            <p14:sldId id="317"/>
            <p14:sldId id="315"/>
            <p14:sldId id="3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782" autoAdjust="0"/>
  </p:normalViewPr>
  <p:slideViewPr>
    <p:cSldViewPr snapToGrid="0">
      <p:cViewPr varScale="1">
        <p:scale>
          <a:sx n="64" d="100"/>
          <a:sy n="64" d="100"/>
        </p:scale>
        <p:origin x="142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D7595-FCF4-4099-BD8C-13459FCC7DA5}" type="datetimeFigureOut">
              <a:rPr lang="ru-RU" smtClean="0"/>
              <a:t>28.11.2024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582645-4708-44BD-8BD9-71C144DEFD9D}" type="slidenum">
              <a:rPr lang="ru-RU" smtClean="0"/>
              <a:t>‹#›</a:t>
            </a:fld>
            <a:endParaRPr lang="ru-RU"/>
          </a:p>
        </p:txBody>
      </p:sp>
    </p:spTree>
    <p:extLst>
      <p:ext uri="{BB962C8B-B14F-4D97-AF65-F5344CB8AC3E}">
        <p14:creationId xmlns:p14="http://schemas.microsoft.com/office/powerpoint/2010/main" val="2126553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Выполняемый (</a:t>
            </a:r>
            <a:r>
              <a:rPr lang="en-US" dirty="0"/>
              <a:t>Running</a:t>
            </a:r>
            <a:r>
              <a:rPr lang="ru-RU" dirty="0"/>
              <a:t>) — поток, который выполняется в текущий момент на процессоре.</a:t>
            </a:r>
          </a:p>
          <a:p>
            <a:r>
              <a:rPr lang="ru-RU" dirty="0"/>
              <a:t>Готовый (</a:t>
            </a:r>
            <a:r>
              <a:rPr lang="ru-RU" dirty="0" err="1"/>
              <a:t>Runnable</a:t>
            </a:r>
            <a:r>
              <a:rPr lang="ru-RU" dirty="0"/>
              <a:t>) — поток ждет получения кванта времени и готов выполнять назначенные ему инструкции. Планировщик выбирает следующий поток для выполнения только из готовых потоков.</a:t>
            </a:r>
          </a:p>
          <a:p>
            <a:r>
              <a:rPr lang="ru-RU" dirty="0"/>
              <a:t>Ожидающий (</a:t>
            </a:r>
            <a:r>
              <a:rPr lang="ru-RU" dirty="0" err="1"/>
              <a:t>Waiting</a:t>
            </a:r>
            <a:r>
              <a:rPr lang="ru-RU" dirty="0"/>
              <a:t>) — работа потока заблокирована в ожидании блокирующей операции.</a:t>
            </a:r>
          </a:p>
        </p:txBody>
      </p:sp>
      <p:sp>
        <p:nvSpPr>
          <p:cNvPr id="4" name="Номер слайда 3"/>
          <p:cNvSpPr>
            <a:spLocks noGrp="1"/>
          </p:cNvSpPr>
          <p:nvPr>
            <p:ph type="sldNum" sz="quarter" idx="5"/>
          </p:nvPr>
        </p:nvSpPr>
        <p:spPr/>
        <p:txBody>
          <a:bodyPr/>
          <a:lstStyle/>
          <a:p>
            <a:fld id="{DC582645-4708-44BD-8BD9-71C144DEFD9D}" type="slidenum">
              <a:rPr lang="ru-RU" smtClean="0"/>
              <a:t>9</a:t>
            </a:fld>
            <a:endParaRPr lang="ru-RU"/>
          </a:p>
        </p:txBody>
      </p:sp>
    </p:spTree>
    <p:extLst>
      <p:ext uri="{BB962C8B-B14F-4D97-AF65-F5344CB8AC3E}">
        <p14:creationId xmlns:p14="http://schemas.microsoft.com/office/powerpoint/2010/main" val="2733807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многопоточной блокировки в C++ используется мьютекс (</a:t>
            </a:r>
            <a:r>
              <a:rPr lang="ru-RU" dirty="0" err="1"/>
              <a:t>std</a:t>
            </a:r>
            <a:r>
              <a:rPr lang="ru-RU" dirty="0"/>
              <a:t>::</a:t>
            </a:r>
            <a:r>
              <a:rPr lang="ru-RU" dirty="0" err="1"/>
              <a:t>mutex</a:t>
            </a:r>
            <a:r>
              <a:rPr lang="ru-RU" dirty="0"/>
              <a:t>). Он позволяет блокировать текущий поток, чтобы другие потоки не могли получить доступ к общим ресурсам, и разблокировать его, когда текущий поток закончит работу.</a:t>
            </a:r>
          </a:p>
          <a:p>
            <a:r>
              <a:rPr lang="ru-RU" dirty="0"/>
              <a:t>Использование мьютекса включает три шага:</a:t>
            </a:r>
          </a:p>
          <a:p>
            <a:r>
              <a:rPr lang="ru-RU" dirty="0"/>
              <a:t>	Создание объекта </a:t>
            </a:r>
            <a:r>
              <a:rPr lang="ru-RU" dirty="0" err="1"/>
              <a:t>std</a:t>
            </a:r>
            <a:r>
              <a:rPr lang="ru-RU" dirty="0"/>
              <a:t>::</a:t>
            </a:r>
            <a:r>
              <a:rPr lang="ru-RU" dirty="0" err="1"/>
              <a:t>mutex</a:t>
            </a:r>
            <a:r>
              <a:rPr lang="ru-RU" dirty="0"/>
              <a:t>.</a:t>
            </a:r>
          </a:p>
          <a:p>
            <a:r>
              <a:rPr lang="ru-RU" dirty="0"/>
              <a:t>	Блокировка потока. Функция </a:t>
            </a:r>
            <a:r>
              <a:rPr lang="ru-RU" dirty="0" err="1"/>
              <a:t>lock</a:t>
            </a:r>
            <a:r>
              <a:rPr lang="ru-RU" dirty="0"/>
              <a:t>() класса </a:t>
            </a:r>
            <a:r>
              <a:rPr lang="ru-RU" dirty="0" err="1"/>
              <a:t>std</a:t>
            </a:r>
            <a:r>
              <a:rPr lang="ru-RU" dirty="0"/>
              <a:t>::</a:t>
            </a:r>
            <a:r>
              <a:rPr lang="ru-RU" dirty="0" err="1"/>
              <a:t>mutex</a:t>
            </a:r>
            <a:r>
              <a:rPr lang="ru-RU" dirty="0"/>
              <a:t> блокирует поток и позволяет выполнять только текущий поток до разблокировки.</a:t>
            </a:r>
          </a:p>
          <a:p>
            <a:r>
              <a:rPr lang="ru-RU" dirty="0"/>
              <a:t>	Разблокировка потока. Функция </a:t>
            </a:r>
            <a:r>
              <a:rPr lang="ru-RU" dirty="0" err="1"/>
              <a:t>unlock</a:t>
            </a:r>
            <a:r>
              <a:rPr lang="ru-RU" dirty="0"/>
              <a:t>() класса </a:t>
            </a:r>
            <a:r>
              <a:rPr lang="ru-RU" dirty="0" err="1"/>
              <a:t>std</a:t>
            </a:r>
            <a:r>
              <a:rPr lang="ru-RU" dirty="0"/>
              <a:t>::</a:t>
            </a:r>
            <a:r>
              <a:rPr lang="ru-RU" dirty="0" err="1"/>
              <a:t>mutex</a:t>
            </a:r>
            <a:r>
              <a:rPr lang="ru-RU" dirty="0"/>
              <a:t> используется для освобождения блокировки после выполнения участка кода, где есть вероятность возникновения условий гонки. Она возобновляет все ожидающие потоки.</a:t>
            </a:r>
          </a:p>
          <a:p>
            <a:endParaRPr lang="ru-RU" dirty="0"/>
          </a:p>
          <a:p>
            <a:r>
              <a:rPr lang="ru-RU" dirty="0"/>
              <a:t>Не рекомендуется использовать класс </a:t>
            </a:r>
            <a:r>
              <a:rPr lang="ru-RU" dirty="0" err="1"/>
              <a:t>std</a:t>
            </a:r>
            <a:r>
              <a:rPr lang="ru-RU" dirty="0"/>
              <a:t>::</a:t>
            </a:r>
            <a:r>
              <a:rPr lang="ru-RU" dirty="0" err="1"/>
              <a:t>mutex</a:t>
            </a:r>
            <a:r>
              <a:rPr lang="ru-RU" dirty="0"/>
              <a:t> напрямую, так как если между вызовами </a:t>
            </a:r>
            <a:r>
              <a:rPr lang="ru-RU" dirty="0" err="1"/>
              <a:t>lock</a:t>
            </a:r>
            <a:r>
              <a:rPr lang="ru-RU" dirty="0"/>
              <a:t> и </a:t>
            </a:r>
            <a:r>
              <a:rPr lang="ru-RU" dirty="0" err="1"/>
              <a:t>unlock</a:t>
            </a:r>
            <a:r>
              <a:rPr lang="ru-RU" dirty="0"/>
              <a:t> будет сгенерировано исключение, произойдёт </a:t>
            </a:r>
            <a:r>
              <a:rPr lang="ru-RU" dirty="0" err="1"/>
              <a:t>deadlock</a:t>
            </a:r>
            <a:r>
              <a:rPr lang="ru-RU" dirty="0"/>
              <a:t> (заблокированный поток так и останется ждать). Для решения проблемы используется шаблонный класс </a:t>
            </a:r>
            <a:r>
              <a:rPr lang="ru-RU" dirty="0" err="1"/>
              <a:t>std</a:t>
            </a:r>
            <a:r>
              <a:rPr lang="ru-RU" dirty="0"/>
              <a:t>::</a:t>
            </a:r>
            <a:r>
              <a:rPr lang="ru-RU" dirty="0" err="1"/>
              <a:t>lock_guard</a:t>
            </a:r>
            <a:r>
              <a:rPr lang="ru-RU" dirty="0"/>
              <a:t>, конструктор которого вызывает метод </a:t>
            </a:r>
            <a:r>
              <a:rPr lang="ru-RU" dirty="0" err="1"/>
              <a:t>lock</a:t>
            </a:r>
            <a:r>
              <a:rPr lang="ru-RU" dirty="0"/>
              <a:t> для заданного объекта, а деструктор вызывает </a:t>
            </a:r>
            <a:r>
              <a:rPr lang="ru-RU" dirty="0" err="1"/>
              <a:t>unlock</a:t>
            </a:r>
            <a:r>
              <a:rPr lang="ru-RU" dirty="0"/>
              <a:t>.</a:t>
            </a:r>
          </a:p>
          <a:p>
            <a:endParaRPr lang="ru-RU" dirty="0"/>
          </a:p>
          <a:p>
            <a:r>
              <a:rPr lang="ru-RU" dirty="0"/>
              <a:t>Также в C++17 есть более продвинутый класс — </a:t>
            </a:r>
            <a:r>
              <a:rPr lang="ru-RU" dirty="0" err="1"/>
              <a:t>std</a:t>
            </a:r>
            <a:r>
              <a:rPr lang="ru-RU" dirty="0"/>
              <a:t>::</a:t>
            </a:r>
            <a:r>
              <a:rPr lang="ru-RU" dirty="0" err="1"/>
              <a:t>scoped_lock</a:t>
            </a:r>
            <a:r>
              <a:rPr lang="ru-RU" dirty="0"/>
              <a:t>, который является объектом RAII и способен блокировать в области несколько мьютексов сразу.</a:t>
            </a:r>
          </a:p>
        </p:txBody>
      </p:sp>
      <p:sp>
        <p:nvSpPr>
          <p:cNvPr id="4" name="Номер слайда 3"/>
          <p:cNvSpPr>
            <a:spLocks noGrp="1"/>
          </p:cNvSpPr>
          <p:nvPr>
            <p:ph type="sldNum" sz="quarter" idx="5"/>
          </p:nvPr>
        </p:nvSpPr>
        <p:spPr/>
        <p:txBody>
          <a:bodyPr/>
          <a:lstStyle/>
          <a:p>
            <a:fld id="{DC582645-4708-44BD-8BD9-71C144DEFD9D}" type="slidenum">
              <a:rPr lang="ru-RU" smtClean="0"/>
              <a:t>10</a:t>
            </a:fld>
            <a:endParaRPr lang="ru-RU"/>
          </a:p>
        </p:txBody>
      </p:sp>
    </p:spTree>
    <p:extLst>
      <p:ext uri="{BB962C8B-B14F-4D97-AF65-F5344CB8AC3E}">
        <p14:creationId xmlns:p14="http://schemas.microsoft.com/office/powerpoint/2010/main" val="3998465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r>
              <a:rPr lang="ru-RU" b="0" i="0" dirty="0">
                <a:solidFill>
                  <a:srgbClr val="333333"/>
                </a:solidFill>
                <a:effectLst/>
                <a:latin typeface="-apple-system"/>
              </a:rPr>
              <a:t>Windows имеет 32 уровня приоритета (0-31):</a:t>
            </a:r>
          </a:p>
          <a:p>
            <a:pPr lvl="1" algn="l">
              <a:buFont typeface="Arial" panose="020B0604020202020204" pitchFamily="34" charset="0"/>
              <a:buChar char="•"/>
            </a:pPr>
            <a:r>
              <a:rPr lang="ru-RU" b="0" i="0" dirty="0">
                <a:solidFill>
                  <a:srgbClr val="333333"/>
                </a:solidFill>
                <a:effectLst/>
                <a:latin typeface="-apple-system"/>
              </a:rPr>
              <a:t>1 уровень (00 — 00) — это Zero Page </a:t>
            </a:r>
            <a:r>
              <a:rPr lang="ru-RU" b="0" i="0" dirty="0" err="1">
                <a:solidFill>
                  <a:srgbClr val="333333"/>
                </a:solidFill>
                <a:effectLst/>
                <a:latin typeface="-apple-system"/>
              </a:rPr>
              <a:t>Thread</a:t>
            </a:r>
            <a:r>
              <a:rPr lang="ru-RU" b="0" i="0" dirty="0">
                <a:solidFill>
                  <a:srgbClr val="333333"/>
                </a:solidFill>
                <a:effectLst/>
                <a:latin typeface="-apple-system"/>
              </a:rPr>
              <a:t>;</a:t>
            </a:r>
          </a:p>
          <a:p>
            <a:pPr lvl="1" algn="l">
              <a:buFont typeface="Arial" panose="020B0604020202020204" pitchFamily="34" charset="0"/>
              <a:buChar char="•"/>
            </a:pPr>
            <a:r>
              <a:rPr lang="ru-RU" b="0" i="0" dirty="0">
                <a:solidFill>
                  <a:srgbClr val="333333"/>
                </a:solidFill>
                <a:effectLst/>
                <a:latin typeface="-apple-system"/>
              </a:rPr>
              <a:t>15 уровней (01 — 15) — обычные динамические приоритеты;</a:t>
            </a:r>
          </a:p>
          <a:p>
            <a:pPr lvl="1" algn="l">
              <a:buFont typeface="Arial" panose="020B0604020202020204" pitchFamily="34" charset="0"/>
              <a:buChar char="•"/>
            </a:pPr>
            <a:r>
              <a:rPr lang="ru-RU" b="0" i="0" dirty="0">
                <a:solidFill>
                  <a:srgbClr val="333333"/>
                </a:solidFill>
                <a:effectLst/>
                <a:latin typeface="-apple-system"/>
              </a:rPr>
              <a:t>16 уровней (16 — 31) — реального времени.</a:t>
            </a:r>
          </a:p>
          <a:p>
            <a:pPr lvl="0" algn="l">
              <a:buFont typeface="Arial" panose="020B0604020202020204" pitchFamily="34" charset="0"/>
              <a:buNone/>
            </a:pPr>
            <a:r>
              <a:rPr lang="ru-RU" b="0" i="0" dirty="0">
                <a:solidFill>
                  <a:srgbClr val="333333"/>
                </a:solidFill>
                <a:effectLst/>
                <a:latin typeface="-apple-system"/>
              </a:rPr>
              <a:t>Самый низкий приоритет имеет Zero Page </a:t>
            </a:r>
            <a:r>
              <a:rPr lang="ru-RU" b="0" i="0" dirty="0" err="1">
                <a:solidFill>
                  <a:srgbClr val="333333"/>
                </a:solidFill>
                <a:effectLst/>
                <a:latin typeface="-apple-system"/>
              </a:rPr>
              <a:t>Thread</a:t>
            </a:r>
            <a:r>
              <a:rPr lang="ru-RU" b="0" i="0" dirty="0">
                <a:solidFill>
                  <a:srgbClr val="333333"/>
                </a:solidFill>
                <a:effectLst/>
                <a:latin typeface="-apple-system"/>
              </a:rPr>
              <a:t>. Это — специальный поток операционной системы, который обнуляет страницы оперативной памяти, вычищая тем самым данные, которые там находились, но более не нужны, т.к. страница была освобождена. Необходимо это по одной простой причине: когда приложение освобождает память, оно может ненароком отдать кому-то чувствительные данные. Личные данные, пароли, что-то ещё. Поэтому как операционная система так и </a:t>
            </a:r>
            <a:r>
              <a:rPr lang="ru-RU" b="0" i="0" dirty="0" err="1">
                <a:solidFill>
                  <a:srgbClr val="333333"/>
                </a:solidFill>
                <a:effectLst/>
                <a:latin typeface="-apple-system"/>
              </a:rPr>
              <a:t>runtime</a:t>
            </a:r>
            <a:r>
              <a:rPr lang="ru-RU" b="0" i="0" dirty="0">
                <a:solidFill>
                  <a:srgbClr val="333333"/>
                </a:solidFill>
                <a:effectLst/>
                <a:latin typeface="-apple-system"/>
              </a:rPr>
              <a:t> языков программирования (а у нас — .NET CLR) обнуляют получаемые участки памяти.</a:t>
            </a:r>
            <a:endParaRPr lang="en-US" b="0" i="0" dirty="0">
              <a:solidFill>
                <a:srgbClr val="333333"/>
              </a:solidFill>
              <a:effectLst/>
              <a:latin typeface="-apple-system"/>
            </a:endParaRPr>
          </a:p>
          <a:p>
            <a:pPr lvl="0" algn="l">
              <a:buFont typeface="Arial" panose="020B0604020202020204" pitchFamily="34" charset="0"/>
              <a:buNone/>
            </a:pPr>
            <a:endParaRPr lang="en-US" b="0" i="0" dirty="0">
              <a:solidFill>
                <a:srgbClr val="333333"/>
              </a:solidFill>
              <a:effectLst/>
              <a:latin typeface="-apple-system"/>
            </a:endParaRPr>
          </a:p>
          <a:p>
            <a:pPr lvl="0" algn="l">
              <a:buFont typeface="Arial" panose="020B0604020202020204" pitchFamily="34" charset="0"/>
              <a:buNone/>
            </a:pPr>
            <a:r>
              <a:rPr lang="ru-RU" b="0" i="0" dirty="0">
                <a:solidFill>
                  <a:srgbClr val="333333"/>
                </a:solidFill>
                <a:effectLst/>
                <a:latin typeface="-apple-system"/>
              </a:rPr>
              <a:t>На текущий момент приоритетов реального времени нет. Все потоки работают в обычном диапазоне.</a:t>
            </a:r>
          </a:p>
          <a:p>
            <a:pPr lvl="0" algn="l">
              <a:buFont typeface="Arial" panose="020B0604020202020204" pitchFamily="34" charset="0"/>
              <a:buNone/>
            </a:pPr>
            <a:endParaRPr lang="ru-RU" b="0" i="0" dirty="0">
              <a:solidFill>
                <a:srgbClr val="333333"/>
              </a:solidFill>
              <a:effectLst/>
              <a:latin typeface="-apple-system"/>
            </a:endParaRPr>
          </a:p>
          <a:p>
            <a:pPr lvl="0" algn="l">
              <a:buFont typeface="Arial" panose="020B0604020202020204" pitchFamily="34" charset="0"/>
              <a:buNone/>
            </a:pPr>
            <a:endParaRPr lang="ru-RU" b="0" i="0" dirty="0">
              <a:solidFill>
                <a:srgbClr val="333333"/>
              </a:solidFill>
              <a:effectLst/>
              <a:latin typeface="-apple-system"/>
            </a:endParaRPr>
          </a:p>
        </p:txBody>
      </p:sp>
      <p:sp>
        <p:nvSpPr>
          <p:cNvPr id="4" name="Номер слайда 3"/>
          <p:cNvSpPr>
            <a:spLocks noGrp="1"/>
          </p:cNvSpPr>
          <p:nvPr>
            <p:ph type="sldNum" sz="quarter" idx="5"/>
          </p:nvPr>
        </p:nvSpPr>
        <p:spPr/>
        <p:txBody>
          <a:bodyPr/>
          <a:lstStyle/>
          <a:p>
            <a:fld id="{DC582645-4708-44BD-8BD9-71C144DEFD9D}" type="slidenum">
              <a:rPr lang="ru-RU" smtClean="0"/>
              <a:t>11</a:t>
            </a:fld>
            <a:endParaRPr lang="ru-RU"/>
          </a:p>
        </p:txBody>
      </p:sp>
    </p:spTree>
    <p:extLst>
      <p:ext uri="{BB962C8B-B14F-4D97-AF65-F5344CB8AC3E}">
        <p14:creationId xmlns:p14="http://schemas.microsoft.com/office/powerpoint/2010/main" val="1208586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buFont typeface="Arial" panose="020B0604020202020204" pitchFamily="34" charset="0"/>
              <a:buChar char="•"/>
            </a:pPr>
            <a:r>
              <a:rPr lang="ru-RU" b="0" i="0" dirty="0">
                <a:solidFill>
                  <a:srgbClr val="333333"/>
                </a:solidFill>
                <a:effectLst/>
                <a:latin typeface="-apple-system"/>
              </a:rPr>
              <a:t>Объект класса представляет собой один поток выполнения.</a:t>
            </a:r>
          </a:p>
          <a:p>
            <a:pPr algn="l">
              <a:buFont typeface="Arial" panose="020B0604020202020204" pitchFamily="34" charset="0"/>
              <a:buChar char="•"/>
            </a:pPr>
            <a:r>
              <a:rPr lang="ru-RU" b="0" i="0" dirty="0">
                <a:solidFill>
                  <a:srgbClr val="333333"/>
                </a:solidFill>
                <a:effectLst/>
                <a:latin typeface="-apple-system"/>
              </a:rPr>
              <a:t>Новый поток начинает выполнение сразу же после построения объекта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thread</a:t>
            </a:r>
            <a:r>
              <a:rPr lang="ru-RU" b="0" i="0" dirty="0">
                <a:solidFill>
                  <a:srgbClr val="333333"/>
                </a:solidFill>
                <a:effectLst/>
                <a:latin typeface="-apple-system"/>
              </a:rPr>
              <a:t>. Выполнение начинается с функции верхнего уровня, которая передаётся в качестве аргумента в конструктор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thread</a:t>
            </a:r>
            <a:r>
              <a:rPr lang="ru-RU" b="0" i="0" dirty="0">
                <a:solidFill>
                  <a:srgbClr val="333333"/>
                </a:solidFill>
                <a:effectLst/>
                <a:latin typeface="-apple-system"/>
              </a:rPr>
              <a:t>.</a:t>
            </a:r>
          </a:p>
          <a:p>
            <a:pPr algn="l">
              <a:buFont typeface="Arial" panose="020B0604020202020204" pitchFamily="34" charset="0"/>
              <a:buChar char="•"/>
            </a:pPr>
            <a:r>
              <a:rPr lang="ru-RU" b="0" i="0" dirty="0">
                <a:solidFill>
                  <a:srgbClr val="333333"/>
                </a:solidFill>
                <a:effectLst/>
                <a:latin typeface="-apple-system"/>
              </a:rPr>
              <a:t>Возвращаемое значение этой функции игнорируется, а если в ней будет брошено исключение, которое не будет обработано в этом же потоке, то вызовется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terminate</a:t>
            </a:r>
            <a:r>
              <a:rPr lang="ru-RU" b="0" i="0" dirty="0">
                <a:solidFill>
                  <a:srgbClr val="333333"/>
                </a:solidFill>
                <a:effectLst/>
                <a:latin typeface="-apple-system"/>
              </a:rPr>
              <a:t>.</a:t>
            </a:r>
          </a:p>
          <a:p>
            <a:pPr algn="l">
              <a:buFont typeface="Arial" panose="020B0604020202020204" pitchFamily="34" charset="0"/>
              <a:buChar char="•"/>
            </a:pPr>
            <a:r>
              <a:rPr lang="ru-RU" b="0" i="0" dirty="0">
                <a:solidFill>
                  <a:srgbClr val="333333"/>
                </a:solidFill>
                <a:effectLst/>
                <a:latin typeface="-apple-system"/>
              </a:rPr>
              <a:t>Передать возвращаемое значение или исключение из нового потока наружу можно через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promise</a:t>
            </a:r>
            <a:r>
              <a:rPr lang="ru-RU" b="0" i="0" dirty="0">
                <a:solidFill>
                  <a:srgbClr val="333333"/>
                </a:solidFill>
                <a:effectLst/>
                <a:latin typeface="-apple-system"/>
              </a:rPr>
              <a:t> или через глобальные переменные (работа с которыми потребует синхронизации, см.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mutex</a:t>
            </a:r>
            <a:r>
              <a:rPr lang="ru-RU" b="0" i="0" dirty="0">
                <a:solidFill>
                  <a:srgbClr val="333333"/>
                </a:solidFill>
                <a:effectLst/>
                <a:latin typeface="-apple-system"/>
              </a:rPr>
              <a:t> и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atomic</a:t>
            </a:r>
            <a:r>
              <a:rPr lang="ru-RU" b="0" i="0" dirty="0">
                <a:solidFill>
                  <a:srgbClr val="333333"/>
                </a:solidFill>
                <a:effectLst/>
                <a:latin typeface="-apple-system"/>
              </a:rPr>
              <a:t>).</a:t>
            </a:r>
          </a:p>
          <a:p>
            <a:pPr algn="l">
              <a:buFont typeface="Arial" panose="020B0604020202020204" pitchFamily="34" charset="0"/>
              <a:buChar char="•"/>
            </a:pPr>
            <a:r>
              <a:rPr lang="ru-RU" b="0" i="0" dirty="0">
                <a:solidFill>
                  <a:srgbClr val="333333"/>
                </a:solidFill>
                <a:effectLst/>
                <a:latin typeface="-apple-system"/>
              </a:rPr>
              <a:t>Объекты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thread</a:t>
            </a:r>
            <a:r>
              <a:rPr lang="ru-RU" b="0" i="0" dirty="0">
                <a:solidFill>
                  <a:srgbClr val="333333"/>
                </a:solidFill>
                <a:effectLst/>
                <a:latin typeface="-apple-system"/>
              </a:rPr>
              <a:t> также могут быть не связаны ни с каким потоком (после </a:t>
            </a:r>
            <a:r>
              <a:rPr lang="ru-RU" b="0" i="0" dirty="0" err="1">
                <a:solidFill>
                  <a:srgbClr val="333333"/>
                </a:solidFill>
                <a:effectLst/>
                <a:latin typeface="-apple-system"/>
              </a:rPr>
              <a:t>default</a:t>
            </a:r>
            <a:r>
              <a:rPr lang="ru-RU" b="0" i="0" dirty="0">
                <a:solidFill>
                  <a:srgbClr val="333333"/>
                </a:solidFill>
                <a:effectLst/>
                <a:latin typeface="-apple-system"/>
              </a:rPr>
              <a:t> </a:t>
            </a:r>
            <a:r>
              <a:rPr lang="ru-RU" b="0" i="0" dirty="0" err="1">
                <a:solidFill>
                  <a:srgbClr val="333333"/>
                </a:solidFill>
                <a:effectLst/>
                <a:latin typeface="-apple-system"/>
              </a:rPr>
              <a:t>construction</a:t>
            </a:r>
            <a:r>
              <a:rPr lang="ru-RU" b="0" i="0" dirty="0">
                <a:solidFill>
                  <a:srgbClr val="333333"/>
                </a:solidFill>
                <a:effectLst/>
                <a:latin typeface="-apple-system"/>
              </a:rPr>
              <a:t>, </a:t>
            </a:r>
            <a:r>
              <a:rPr lang="ru-RU" b="0" i="0" dirty="0" err="1">
                <a:solidFill>
                  <a:srgbClr val="333333"/>
                </a:solidFill>
                <a:effectLst/>
                <a:latin typeface="-apple-system"/>
              </a:rPr>
              <a:t>move</a:t>
            </a:r>
            <a:r>
              <a:rPr lang="ru-RU" b="0" i="0" dirty="0">
                <a:solidFill>
                  <a:srgbClr val="333333"/>
                </a:solidFill>
                <a:effectLst/>
                <a:latin typeface="-apple-system"/>
              </a:rPr>
              <a:t> </a:t>
            </a:r>
            <a:r>
              <a:rPr lang="ru-RU" b="0" i="0" dirty="0" err="1">
                <a:solidFill>
                  <a:srgbClr val="333333"/>
                </a:solidFill>
                <a:effectLst/>
                <a:latin typeface="-apple-system"/>
              </a:rPr>
              <a:t>from</a:t>
            </a:r>
            <a:r>
              <a:rPr lang="ru-RU" b="0" i="0" dirty="0">
                <a:solidFill>
                  <a:srgbClr val="333333"/>
                </a:solidFill>
                <a:effectLst/>
                <a:latin typeface="-apple-system"/>
              </a:rPr>
              <a:t>, </a:t>
            </a:r>
            <a:r>
              <a:rPr lang="ru-RU" b="0" i="0" dirty="0" err="1">
                <a:solidFill>
                  <a:srgbClr val="333333"/>
                </a:solidFill>
                <a:effectLst/>
                <a:latin typeface="-apple-system"/>
              </a:rPr>
              <a:t>detach</a:t>
            </a:r>
            <a:r>
              <a:rPr lang="ru-RU" b="0" i="0" dirty="0">
                <a:solidFill>
                  <a:srgbClr val="333333"/>
                </a:solidFill>
                <a:effectLst/>
                <a:latin typeface="-apple-system"/>
              </a:rPr>
              <a:t> или </a:t>
            </a:r>
            <a:r>
              <a:rPr lang="ru-RU" b="0" i="0" dirty="0" err="1">
                <a:solidFill>
                  <a:srgbClr val="333333"/>
                </a:solidFill>
                <a:effectLst/>
                <a:latin typeface="-apple-system"/>
              </a:rPr>
              <a:t>join</a:t>
            </a:r>
            <a:r>
              <a:rPr lang="ru-RU" b="0" i="0" dirty="0">
                <a:solidFill>
                  <a:srgbClr val="333333"/>
                </a:solidFill>
                <a:effectLst/>
                <a:latin typeface="-apple-system"/>
              </a:rPr>
              <a:t>), и поток выполнения может быть не связан ни с каким объектом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thread</a:t>
            </a:r>
            <a:r>
              <a:rPr lang="ru-RU" b="0" i="0" dirty="0">
                <a:solidFill>
                  <a:srgbClr val="333333"/>
                </a:solidFill>
                <a:effectLst/>
                <a:latin typeface="-apple-system"/>
              </a:rPr>
              <a:t> (после </a:t>
            </a:r>
            <a:r>
              <a:rPr lang="ru-RU" b="0" i="0" dirty="0" err="1">
                <a:solidFill>
                  <a:srgbClr val="333333"/>
                </a:solidFill>
                <a:effectLst/>
                <a:latin typeface="-apple-system"/>
              </a:rPr>
              <a:t>detach</a:t>
            </a:r>
            <a:r>
              <a:rPr lang="ru-RU" b="0" i="0" dirty="0">
                <a:solidFill>
                  <a:srgbClr val="333333"/>
                </a:solidFill>
                <a:effectLst/>
                <a:latin typeface="-apple-system"/>
              </a:rPr>
              <a:t>).</a:t>
            </a:r>
          </a:p>
          <a:p>
            <a:pPr algn="l">
              <a:buFont typeface="Arial" panose="020B0604020202020204" pitchFamily="34" charset="0"/>
              <a:buChar char="•"/>
            </a:pPr>
            <a:r>
              <a:rPr lang="ru-RU" b="0" i="0" dirty="0">
                <a:solidFill>
                  <a:srgbClr val="333333"/>
                </a:solidFill>
                <a:effectLst/>
                <a:latin typeface="-apple-system"/>
              </a:rPr>
              <a:t>Никакие два объекта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thread</a:t>
            </a:r>
            <a:r>
              <a:rPr lang="ru-RU" b="0" i="0" dirty="0">
                <a:solidFill>
                  <a:srgbClr val="333333"/>
                </a:solidFill>
                <a:effectLst/>
                <a:latin typeface="-apple-system"/>
              </a:rPr>
              <a:t> не могут представлять один и тот же поток выполнения;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thread</a:t>
            </a:r>
            <a:r>
              <a:rPr lang="ru-RU" b="0" i="0" dirty="0">
                <a:solidFill>
                  <a:srgbClr val="333333"/>
                </a:solidFill>
                <a:effectLst/>
                <a:latin typeface="-apple-system"/>
              </a:rPr>
              <a:t> нельзя копировать (не является </a:t>
            </a:r>
            <a:r>
              <a:rPr lang="ru-RU" b="0" i="0" dirty="0" err="1">
                <a:solidFill>
                  <a:srgbClr val="333333"/>
                </a:solidFill>
                <a:effectLst/>
                <a:latin typeface="-apple-system"/>
              </a:rPr>
              <a:t>CopyConstructible</a:t>
            </a:r>
            <a:r>
              <a:rPr lang="ru-RU" b="0" i="0" dirty="0">
                <a:solidFill>
                  <a:srgbClr val="333333"/>
                </a:solidFill>
                <a:effectLst/>
                <a:latin typeface="-apple-system"/>
              </a:rPr>
              <a:t> или </a:t>
            </a:r>
            <a:r>
              <a:rPr lang="ru-RU" b="0" i="0" dirty="0" err="1">
                <a:solidFill>
                  <a:srgbClr val="333333"/>
                </a:solidFill>
                <a:effectLst/>
                <a:latin typeface="-apple-system"/>
              </a:rPr>
              <a:t>CopyAssignable</a:t>
            </a:r>
            <a:r>
              <a:rPr lang="ru-RU" b="0" i="0" dirty="0">
                <a:solidFill>
                  <a:srgbClr val="333333"/>
                </a:solidFill>
                <a:effectLst/>
                <a:latin typeface="-apple-system"/>
              </a:rPr>
              <a:t>), но можно перемещать (является </a:t>
            </a:r>
            <a:r>
              <a:rPr lang="ru-RU" b="0" i="0" dirty="0" err="1">
                <a:solidFill>
                  <a:srgbClr val="333333"/>
                </a:solidFill>
                <a:effectLst/>
                <a:latin typeface="-apple-system"/>
              </a:rPr>
              <a:t>MoveConstructible</a:t>
            </a:r>
            <a:r>
              <a:rPr lang="ru-RU" b="0" i="0" dirty="0">
                <a:solidFill>
                  <a:srgbClr val="333333"/>
                </a:solidFill>
                <a:effectLst/>
                <a:latin typeface="-apple-system"/>
              </a:rPr>
              <a:t> и </a:t>
            </a:r>
            <a:r>
              <a:rPr lang="ru-RU" b="0" i="0" dirty="0" err="1">
                <a:solidFill>
                  <a:srgbClr val="333333"/>
                </a:solidFill>
                <a:effectLst/>
                <a:latin typeface="-apple-system"/>
              </a:rPr>
              <a:t>MoveAssignable</a:t>
            </a:r>
            <a:r>
              <a:rPr lang="ru-RU" b="0" i="0" dirty="0">
                <a:solidFill>
                  <a:srgbClr val="333333"/>
                </a:solidFill>
                <a:effectLst/>
                <a:latin typeface="-apple-system"/>
              </a:rPr>
              <a:t>).</a:t>
            </a:r>
          </a:p>
          <a:p>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13</a:t>
            </a:fld>
            <a:endParaRPr lang="ru-RU"/>
          </a:p>
        </p:txBody>
      </p:sp>
    </p:spTree>
    <p:extLst>
      <p:ext uri="{BB962C8B-B14F-4D97-AF65-F5344CB8AC3E}">
        <p14:creationId xmlns:p14="http://schemas.microsoft.com/office/powerpoint/2010/main" val="1612692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Выполнение функции </a:t>
            </a:r>
            <a:r>
              <a:rPr lang="en-US" dirty="0" err="1"/>
              <a:t>do_some_work</a:t>
            </a:r>
            <a:r>
              <a:rPr lang="en-US" dirty="0"/>
              <a:t> </a:t>
            </a:r>
            <a:r>
              <a:rPr lang="ru-RU" dirty="0"/>
              <a:t>в отдельном потоке.</a:t>
            </a:r>
          </a:p>
        </p:txBody>
      </p:sp>
      <p:sp>
        <p:nvSpPr>
          <p:cNvPr id="4" name="Номер слайда 3"/>
          <p:cNvSpPr>
            <a:spLocks noGrp="1"/>
          </p:cNvSpPr>
          <p:nvPr>
            <p:ph type="sldNum" sz="quarter" idx="5"/>
          </p:nvPr>
        </p:nvSpPr>
        <p:spPr/>
        <p:txBody>
          <a:bodyPr/>
          <a:lstStyle/>
          <a:p>
            <a:fld id="{DC582645-4708-44BD-8BD9-71C144DEFD9D}" type="slidenum">
              <a:rPr lang="ru-RU" smtClean="0"/>
              <a:t>14</a:t>
            </a:fld>
            <a:endParaRPr lang="ru-RU"/>
          </a:p>
        </p:txBody>
      </p:sp>
    </p:spTree>
    <p:extLst>
      <p:ext uri="{BB962C8B-B14F-4D97-AF65-F5344CB8AC3E}">
        <p14:creationId xmlns:p14="http://schemas.microsoft.com/office/powerpoint/2010/main" val="1755910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Оператор вызова функции для экземпляра класса</a:t>
            </a:r>
            <a:r>
              <a:rPr lang="en-US" dirty="0"/>
              <a:t>;</a:t>
            </a:r>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15</a:t>
            </a:fld>
            <a:endParaRPr lang="ru-RU"/>
          </a:p>
        </p:txBody>
      </p:sp>
    </p:spTree>
    <p:extLst>
      <p:ext uri="{BB962C8B-B14F-4D97-AF65-F5344CB8AC3E}">
        <p14:creationId xmlns:p14="http://schemas.microsoft.com/office/powerpoint/2010/main" val="13854631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Использование </a:t>
            </a:r>
            <a:r>
              <a:rPr lang="ru-RU" dirty="0" err="1"/>
              <a:t>лямда</a:t>
            </a:r>
            <a:r>
              <a:rPr lang="ru-RU" dirty="0"/>
              <a:t>-функций.</a:t>
            </a:r>
          </a:p>
        </p:txBody>
      </p:sp>
      <p:sp>
        <p:nvSpPr>
          <p:cNvPr id="4" name="Номер слайда 3"/>
          <p:cNvSpPr>
            <a:spLocks noGrp="1"/>
          </p:cNvSpPr>
          <p:nvPr>
            <p:ph type="sldNum" sz="quarter" idx="5"/>
          </p:nvPr>
        </p:nvSpPr>
        <p:spPr/>
        <p:txBody>
          <a:bodyPr/>
          <a:lstStyle/>
          <a:p>
            <a:fld id="{DC582645-4708-44BD-8BD9-71C144DEFD9D}" type="slidenum">
              <a:rPr lang="ru-RU" smtClean="0"/>
              <a:t>16</a:t>
            </a:fld>
            <a:endParaRPr lang="ru-RU"/>
          </a:p>
        </p:txBody>
      </p:sp>
    </p:spTree>
    <p:extLst>
      <p:ext uri="{BB962C8B-B14F-4D97-AF65-F5344CB8AC3E}">
        <p14:creationId xmlns:p14="http://schemas.microsoft.com/office/powerpoint/2010/main" val="3851134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33333"/>
                </a:solidFill>
                <a:effectLst/>
                <a:latin typeface="-apple-system"/>
              </a:rPr>
              <a:t>Фоновые потоки являются продолжительными.</a:t>
            </a:r>
          </a:p>
          <a:p>
            <a:r>
              <a:rPr lang="ru-RU" b="0" i="0" dirty="0">
                <a:solidFill>
                  <a:srgbClr val="333333"/>
                </a:solidFill>
                <a:effectLst/>
                <a:latin typeface="-apple-system"/>
              </a:rPr>
              <a:t>Работают в течение практически всего времени жизни приложения и выполняют фоновую задачу.</a:t>
            </a:r>
          </a:p>
          <a:p>
            <a:r>
              <a:rPr lang="ru-RU" b="0" i="0" dirty="0">
                <a:solidFill>
                  <a:srgbClr val="333333"/>
                </a:solidFill>
                <a:effectLst/>
                <a:latin typeface="-apple-system"/>
              </a:rPr>
              <a:t>Пример: отслеживание состояния файловой системы, удаление неиспользуемых записей из кэш-памяти объектов или оптимизация структур данных</a:t>
            </a:r>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18</a:t>
            </a:fld>
            <a:endParaRPr lang="ru-RU"/>
          </a:p>
        </p:txBody>
      </p:sp>
    </p:spTree>
    <p:extLst>
      <p:ext uri="{BB962C8B-B14F-4D97-AF65-F5344CB8AC3E}">
        <p14:creationId xmlns:p14="http://schemas.microsoft.com/office/powerpoint/2010/main" val="2650411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solidFill>
                  <a:srgbClr val="333333"/>
                </a:solidFill>
                <a:effectLst/>
                <a:latin typeface="-apple-system"/>
              </a:rPr>
              <a:t>Передача аргументов вызываемому объекту или функции сводится к простой передаче дополнительных аргументов конструктору </a:t>
            </a:r>
            <a:r>
              <a:rPr lang="ru-RU" dirty="0" err="1"/>
              <a:t>std</a:t>
            </a:r>
            <a:r>
              <a:rPr lang="ru-RU" dirty="0"/>
              <a:t>::</a:t>
            </a:r>
            <a:r>
              <a:rPr lang="ru-RU" dirty="0" err="1"/>
              <a:t>thread</a:t>
            </a:r>
            <a:r>
              <a:rPr lang="ru-RU" b="0" i="0" dirty="0">
                <a:solidFill>
                  <a:srgbClr val="333333"/>
                </a:solidFill>
                <a:effectLst/>
                <a:latin typeface="-apple-system"/>
              </a:rPr>
              <a:t>. Но важно учесть, что по умолчанию аргументы копируются во внутреннее хранилище, где к ним может получить доступ вновь созданный поток выполнения, а затем передаются вызываемому объекту или функции как r-значения (</a:t>
            </a:r>
            <a:r>
              <a:rPr lang="ru-RU" dirty="0" err="1"/>
              <a:t>rvalues</a:t>
            </a:r>
            <a:r>
              <a:rPr lang="ru-RU" b="0" i="0" dirty="0">
                <a:solidFill>
                  <a:srgbClr val="333333"/>
                </a:solidFill>
                <a:effectLst/>
                <a:latin typeface="-apple-system"/>
              </a:rPr>
              <a:t>), как будто они временные. Так делается, даже если соответствующий параметр в функции ожидает ссылку.</a:t>
            </a:r>
            <a:endParaRPr lang="ru-RU" dirty="0"/>
          </a:p>
          <a:p>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19</a:t>
            </a:fld>
            <a:endParaRPr lang="ru-RU"/>
          </a:p>
        </p:txBody>
      </p:sp>
    </p:spTree>
    <p:extLst>
      <p:ext uri="{BB962C8B-B14F-4D97-AF65-F5344CB8AC3E}">
        <p14:creationId xmlns:p14="http://schemas.microsoft.com/office/powerpoint/2010/main" val="1873504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33333"/>
                </a:solidFill>
                <a:effectLst/>
                <a:latin typeface="-apple-system"/>
              </a:rPr>
              <a:t>Обратите внимание: даже если </a:t>
            </a:r>
            <a:r>
              <a:rPr lang="ru-RU" dirty="0"/>
              <a:t>f</a:t>
            </a:r>
            <a:r>
              <a:rPr lang="ru-RU" b="0" i="0" dirty="0">
                <a:solidFill>
                  <a:srgbClr val="333333"/>
                </a:solidFill>
                <a:effectLst/>
                <a:latin typeface="-apple-system"/>
              </a:rPr>
              <a:t> в качестве второго параметра принимает </a:t>
            </a:r>
            <a:r>
              <a:rPr lang="ru-RU" dirty="0" err="1"/>
              <a:t>std</a:t>
            </a:r>
            <a:r>
              <a:rPr lang="ru-RU" dirty="0"/>
              <a:t>::</a:t>
            </a:r>
            <a:r>
              <a:rPr lang="ru-RU" dirty="0" err="1"/>
              <a:t>string</a:t>
            </a:r>
            <a:r>
              <a:rPr lang="ru-RU" b="0" i="0" dirty="0">
                <a:solidFill>
                  <a:srgbClr val="333333"/>
                </a:solidFill>
                <a:effectLst/>
                <a:latin typeface="-apple-system"/>
              </a:rPr>
              <a:t>, строковый литерал передается как </a:t>
            </a:r>
            <a:r>
              <a:rPr lang="ru-RU" dirty="0" err="1"/>
              <a:t>char</a:t>
            </a:r>
            <a:r>
              <a:rPr lang="ru-RU" dirty="0"/>
              <a:t> </a:t>
            </a:r>
            <a:r>
              <a:rPr lang="ru-RU" dirty="0" err="1"/>
              <a:t>const</a:t>
            </a:r>
            <a:r>
              <a:rPr lang="ru-RU" dirty="0"/>
              <a:t>*</a:t>
            </a:r>
            <a:r>
              <a:rPr lang="ru-RU" b="0" i="0" dirty="0">
                <a:solidFill>
                  <a:srgbClr val="333333"/>
                </a:solidFill>
                <a:effectLst/>
                <a:latin typeface="-apple-system"/>
              </a:rPr>
              <a:t> и преобразуется в </a:t>
            </a:r>
            <a:r>
              <a:rPr lang="ru-RU" dirty="0" err="1"/>
              <a:t>std</a:t>
            </a:r>
            <a:r>
              <a:rPr lang="ru-RU" dirty="0"/>
              <a:t>::</a:t>
            </a:r>
            <a:r>
              <a:rPr lang="ru-RU" dirty="0" err="1"/>
              <a:t>string</a:t>
            </a:r>
            <a:r>
              <a:rPr lang="ru-RU" b="0" i="0" dirty="0">
                <a:solidFill>
                  <a:srgbClr val="333333"/>
                </a:solidFill>
                <a:effectLst/>
                <a:latin typeface="-apple-system"/>
              </a:rPr>
              <a:t> только в контексте нового потока.</a:t>
            </a:r>
          </a:p>
          <a:p>
            <a:r>
              <a:rPr lang="ru-RU" b="0" i="0" dirty="0">
                <a:solidFill>
                  <a:srgbClr val="333333"/>
                </a:solidFill>
                <a:effectLst/>
                <a:latin typeface="-apple-system"/>
              </a:rPr>
              <a:t>Здесь это указатель на буфер локальной переменной, который передается в новый поток. И высока вероятность того, что выход из функции </a:t>
            </a:r>
            <a:r>
              <a:rPr lang="ru-RU" dirty="0" err="1"/>
              <a:t>oops</a:t>
            </a:r>
            <a:r>
              <a:rPr lang="ru-RU" b="0" i="0" dirty="0">
                <a:solidFill>
                  <a:srgbClr val="333333"/>
                </a:solidFill>
                <a:effectLst/>
                <a:latin typeface="-apple-system"/>
              </a:rPr>
              <a:t> произойдет, прежде чем буфер будет в новом потоке преобразован в </a:t>
            </a:r>
            <a:r>
              <a:rPr lang="ru-RU" dirty="0" err="1"/>
              <a:t>std</a:t>
            </a:r>
            <a:r>
              <a:rPr lang="ru-RU" dirty="0"/>
              <a:t>::</a:t>
            </a:r>
            <a:r>
              <a:rPr lang="ru-RU" dirty="0" err="1"/>
              <a:t>string</a:t>
            </a:r>
            <a:r>
              <a:rPr lang="ru-RU" b="0" i="0" dirty="0">
                <a:solidFill>
                  <a:srgbClr val="333333"/>
                </a:solidFill>
                <a:effectLst/>
                <a:latin typeface="-apple-system"/>
              </a:rPr>
              <a:t>, что вызовет неопределенное поведение. Решением является приведение к типу </a:t>
            </a:r>
            <a:r>
              <a:rPr lang="ru-RU" dirty="0" err="1"/>
              <a:t>std</a:t>
            </a:r>
            <a:r>
              <a:rPr lang="ru-RU" dirty="0"/>
              <a:t>::</a:t>
            </a:r>
            <a:r>
              <a:rPr lang="ru-RU" dirty="0" err="1"/>
              <a:t>string</a:t>
            </a:r>
            <a:r>
              <a:rPr lang="ru-RU" b="0" i="0" dirty="0">
                <a:solidFill>
                  <a:srgbClr val="333333"/>
                </a:solidFill>
                <a:effectLst/>
                <a:latin typeface="-apple-system"/>
              </a:rPr>
              <a:t> перед передачей буфера в конструктор </a:t>
            </a:r>
            <a:r>
              <a:rPr lang="ru-RU" dirty="0" err="1"/>
              <a:t>std</a:t>
            </a:r>
            <a:r>
              <a:rPr lang="ru-RU" dirty="0"/>
              <a:t>::</a:t>
            </a:r>
            <a:r>
              <a:rPr lang="ru-RU" dirty="0" err="1"/>
              <a:t>thread</a:t>
            </a:r>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20</a:t>
            </a:fld>
            <a:endParaRPr lang="ru-RU"/>
          </a:p>
        </p:txBody>
      </p:sp>
    </p:spTree>
    <p:extLst>
      <p:ext uri="{BB962C8B-B14F-4D97-AF65-F5344CB8AC3E}">
        <p14:creationId xmlns:p14="http://schemas.microsoft.com/office/powerpoint/2010/main" val="12549787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21</a:t>
            </a:fld>
            <a:endParaRPr lang="ru-RU"/>
          </a:p>
        </p:txBody>
      </p:sp>
    </p:spTree>
    <p:extLst>
      <p:ext uri="{BB962C8B-B14F-4D97-AF65-F5344CB8AC3E}">
        <p14:creationId xmlns:p14="http://schemas.microsoft.com/office/powerpoint/2010/main" val="3961347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33333"/>
                </a:solidFill>
                <a:effectLst/>
                <a:latin typeface="-apple-system"/>
              </a:rPr>
              <a:t>Хотя </a:t>
            </a:r>
            <a:r>
              <a:rPr lang="ru-RU" dirty="0" err="1"/>
              <a:t>update_data_for_widget</a:t>
            </a:r>
            <a:r>
              <a:rPr lang="ru-RU" b="0" i="0" dirty="0">
                <a:solidFill>
                  <a:srgbClr val="333333"/>
                </a:solidFill>
                <a:effectLst/>
                <a:latin typeface="-apple-system"/>
              </a:rPr>
              <a:t> ожидает, что второй параметр будет передан по ссылке, конструктор </a:t>
            </a:r>
            <a:r>
              <a:rPr lang="ru-RU" dirty="0" err="1"/>
              <a:t>std</a:t>
            </a:r>
            <a:r>
              <a:rPr lang="ru-RU" dirty="0"/>
              <a:t>::</a:t>
            </a:r>
            <a:r>
              <a:rPr lang="ru-RU" dirty="0" err="1"/>
              <a:t>thread</a:t>
            </a:r>
            <a:r>
              <a:rPr lang="ru-RU" b="0" i="0" dirty="0">
                <a:solidFill>
                  <a:srgbClr val="333333"/>
                </a:solidFill>
                <a:effectLst/>
                <a:latin typeface="-apple-system"/>
              </a:rPr>
              <a:t> не знает об этом, он не обращает внимания на типы аргументов, которые ожидает функция, и слепо копирует предоставленные значения. Но внутренний код передает скопированные аргументы в качестве r-значений, чтобы работать с типами, предназначенными только для перемещений, и пытается таким образом вызвать </a:t>
            </a:r>
            <a:r>
              <a:rPr lang="ru-RU" dirty="0" err="1"/>
              <a:t>update_data_for_widget</a:t>
            </a:r>
            <a:r>
              <a:rPr lang="ru-RU" b="0" i="0" dirty="0">
                <a:solidFill>
                  <a:srgbClr val="333333"/>
                </a:solidFill>
                <a:effectLst/>
                <a:latin typeface="-apple-system"/>
              </a:rPr>
              <a:t> с r-значением. Этот код не скомпилируется, так как нельзя передать r-значение функции, ожидающей не-</a:t>
            </a:r>
            <a:r>
              <a:rPr lang="ru-RU" b="0" i="0" dirty="0" err="1">
                <a:solidFill>
                  <a:srgbClr val="333333"/>
                </a:solidFill>
                <a:effectLst/>
                <a:latin typeface="-apple-system"/>
              </a:rPr>
              <a:t>const</a:t>
            </a:r>
            <a:r>
              <a:rPr lang="ru-RU" b="0" i="0" dirty="0">
                <a:solidFill>
                  <a:srgbClr val="333333"/>
                </a:solidFill>
                <a:effectLst/>
                <a:latin typeface="-apple-system"/>
              </a:rPr>
              <a:t>-ссылку.</a:t>
            </a:r>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23</a:t>
            </a:fld>
            <a:endParaRPr lang="ru-RU"/>
          </a:p>
        </p:txBody>
      </p:sp>
    </p:spTree>
    <p:extLst>
      <p:ext uri="{BB962C8B-B14F-4D97-AF65-F5344CB8AC3E}">
        <p14:creationId xmlns:p14="http://schemas.microsoft.com/office/powerpoint/2010/main" val="4104683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33333"/>
                </a:solidFill>
                <a:effectLst/>
                <a:latin typeface="-apple-system"/>
              </a:rPr>
              <a:t>Чтобы вызвать в отдельном потоке метод какого-ибо объекта, нужно передать указатель на объект в качестве первого аргумента этого метода.</a:t>
            </a:r>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24</a:t>
            </a:fld>
            <a:endParaRPr lang="ru-RU"/>
          </a:p>
        </p:txBody>
      </p:sp>
    </p:spTree>
    <p:extLst>
      <p:ext uri="{BB962C8B-B14F-4D97-AF65-F5344CB8AC3E}">
        <p14:creationId xmlns:p14="http://schemas.microsoft.com/office/powerpoint/2010/main" val="2718510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33333"/>
                </a:solidFill>
                <a:effectLst/>
                <a:latin typeface="-apple-system"/>
              </a:rPr>
              <a:t>Еще один интересный сценарий предоставления аргументов применяется, когда аргументы нельзя скопировать, а можно только переместить. Примером может послужить тип </a:t>
            </a:r>
            <a:r>
              <a:rPr lang="ru-RU" dirty="0" err="1"/>
              <a:t>std</a:t>
            </a:r>
            <a:r>
              <a:rPr lang="ru-RU" dirty="0"/>
              <a:t>::</a:t>
            </a:r>
            <a:r>
              <a:rPr lang="ru-RU" dirty="0" err="1"/>
              <a:t>unique_ptr</a:t>
            </a:r>
            <a:r>
              <a:rPr lang="ru-RU" b="0" i="0" dirty="0">
                <a:solidFill>
                  <a:srgbClr val="333333"/>
                </a:solidFill>
                <a:effectLst/>
                <a:latin typeface="-apple-system"/>
              </a:rPr>
              <a:t>, обеспечивающий автоматическое управление памятью для динамически выделяемых объектов. В одно и то же время на данный объект может указывать только один экземпляр </a:t>
            </a:r>
            <a:r>
              <a:rPr lang="ru-RU" dirty="0" err="1"/>
              <a:t>std</a:t>
            </a:r>
            <a:r>
              <a:rPr lang="ru-RU" dirty="0"/>
              <a:t>::</a:t>
            </a:r>
            <a:r>
              <a:rPr lang="ru-RU" dirty="0" err="1"/>
              <a:t>unique_ptr</a:t>
            </a:r>
            <a:r>
              <a:rPr lang="ru-RU" b="0" i="0" dirty="0">
                <a:solidFill>
                  <a:srgbClr val="333333"/>
                </a:solidFill>
                <a:effectLst/>
                <a:latin typeface="-apple-system"/>
              </a:rPr>
              <a:t>, и когда этот экземпляр уничтожается, объект, на который он указывал, удаляется. Перемещающий конструктор и перемещающий оператор присваивания позволяют передавать права владения объектом между экземплярами </a:t>
            </a:r>
            <a:r>
              <a:rPr lang="ru-RU" dirty="0" err="1"/>
              <a:t>std</a:t>
            </a:r>
            <a:r>
              <a:rPr lang="ru-RU" dirty="0"/>
              <a:t>::</a:t>
            </a:r>
            <a:r>
              <a:rPr lang="ru-RU" dirty="0" err="1"/>
              <a:t>unique_ptr</a:t>
            </a:r>
            <a:r>
              <a:rPr lang="ru-RU" b="0" i="0" dirty="0">
                <a:solidFill>
                  <a:srgbClr val="333333"/>
                </a:solidFill>
                <a:effectLst/>
                <a:latin typeface="-apple-system"/>
              </a:rPr>
              <a:t>. В результате этого исходный объект остается с нулевым указателем. Такое перемещение значений позволяет принимать объекты данного типа в качестве параметров функции или возвращать их из функций. Если исходный объект временный, перемещение выполняется автоматически, но если источником является именованное значение, передача должна быть запрошена напрямую путем вызова метода </a:t>
            </a:r>
            <a:r>
              <a:rPr lang="ru-RU" dirty="0" err="1"/>
              <a:t>std</a:t>
            </a:r>
            <a:r>
              <a:rPr lang="ru-RU" dirty="0"/>
              <a:t>::</a:t>
            </a:r>
            <a:r>
              <a:rPr lang="ru-RU" dirty="0" err="1"/>
              <a:t>move</a:t>
            </a:r>
            <a:r>
              <a:rPr lang="ru-RU" dirty="0"/>
              <a:t>()</a:t>
            </a:r>
            <a:r>
              <a:rPr lang="ru-RU" b="0" i="0" dirty="0">
                <a:solidFill>
                  <a:srgbClr val="333333"/>
                </a:solidFill>
                <a:effectLst/>
                <a:latin typeface="-apple-system"/>
              </a:rPr>
              <a:t>.</a:t>
            </a:r>
          </a:p>
          <a:p>
            <a:r>
              <a:rPr lang="ru-RU" b="0" i="0" dirty="0">
                <a:solidFill>
                  <a:srgbClr val="333333"/>
                </a:solidFill>
                <a:effectLst/>
                <a:latin typeface="-apple-system"/>
              </a:rPr>
              <a:t>Поскольку при вызове конструктора </a:t>
            </a:r>
            <a:r>
              <a:rPr lang="ru-RU" dirty="0" err="1"/>
              <a:t>std</a:t>
            </a:r>
            <a:r>
              <a:rPr lang="ru-RU" dirty="0"/>
              <a:t>::</a:t>
            </a:r>
            <a:r>
              <a:rPr lang="ru-RU" dirty="0" err="1"/>
              <a:t>thread</a:t>
            </a:r>
            <a:r>
              <a:rPr lang="ru-RU" b="0" i="0" dirty="0">
                <a:solidFill>
                  <a:srgbClr val="333333"/>
                </a:solidFill>
                <a:effectLst/>
                <a:latin typeface="-apple-system"/>
              </a:rPr>
              <a:t> указан метод </a:t>
            </a:r>
            <a:r>
              <a:rPr lang="ru-RU" dirty="0" err="1"/>
              <a:t>std</a:t>
            </a:r>
            <a:r>
              <a:rPr lang="ru-RU" dirty="0"/>
              <a:t>::</a:t>
            </a:r>
            <a:r>
              <a:rPr lang="ru-RU" dirty="0" err="1"/>
              <a:t>move</a:t>
            </a:r>
            <a:r>
              <a:rPr lang="ru-RU" dirty="0"/>
              <a:t>(p)</a:t>
            </a:r>
            <a:r>
              <a:rPr lang="ru-RU" b="0" i="0" dirty="0">
                <a:solidFill>
                  <a:srgbClr val="333333"/>
                </a:solidFill>
                <a:effectLst/>
                <a:latin typeface="-apple-system"/>
              </a:rPr>
              <a:t>, право владения </a:t>
            </a:r>
            <a:r>
              <a:rPr lang="ru-RU" dirty="0" err="1"/>
              <a:t>big_object</a:t>
            </a:r>
            <a:r>
              <a:rPr lang="ru-RU" b="0" i="0" dirty="0">
                <a:solidFill>
                  <a:srgbClr val="333333"/>
                </a:solidFill>
                <a:effectLst/>
                <a:latin typeface="-apple-system"/>
              </a:rPr>
              <a:t> сначала передается внутреннему хранилищу вновь созданного потока, а затем переходит к </a:t>
            </a:r>
            <a:r>
              <a:rPr lang="ru-RU" dirty="0" err="1"/>
              <a:t>process_big_object</a:t>
            </a:r>
            <a:r>
              <a:rPr lang="ru-RU" b="0" i="0" dirty="0">
                <a:solidFill>
                  <a:srgbClr val="333333"/>
                </a:solidFill>
                <a:effectLst/>
                <a:latin typeface="-apple-system"/>
              </a:rPr>
              <a:t>.</a:t>
            </a:r>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25</a:t>
            </a:fld>
            <a:endParaRPr lang="ru-RU"/>
          </a:p>
        </p:txBody>
      </p:sp>
    </p:spTree>
    <p:extLst>
      <p:ext uri="{BB962C8B-B14F-4D97-AF65-F5344CB8AC3E}">
        <p14:creationId xmlns:p14="http://schemas.microsoft.com/office/powerpoint/2010/main" val="778480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Потоки позволяет решать </a:t>
            </a:r>
          </a:p>
        </p:txBody>
      </p:sp>
      <p:sp>
        <p:nvSpPr>
          <p:cNvPr id="4" name="Номер слайда 3"/>
          <p:cNvSpPr>
            <a:spLocks noGrp="1"/>
          </p:cNvSpPr>
          <p:nvPr>
            <p:ph type="sldNum" sz="quarter" idx="5"/>
          </p:nvPr>
        </p:nvSpPr>
        <p:spPr/>
        <p:txBody>
          <a:bodyPr/>
          <a:lstStyle/>
          <a:p>
            <a:fld id="{DC582645-4708-44BD-8BD9-71C144DEFD9D}" type="slidenum">
              <a:rPr lang="ru-RU" smtClean="0"/>
              <a:t>29</a:t>
            </a:fld>
            <a:endParaRPr lang="ru-RU"/>
          </a:p>
        </p:txBody>
      </p:sp>
    </p:spTree>
    <p:extLst>
      <p:ext uri="{BB962C8B-B14F-4D97-AF65-F5344CB8AC3E}">
        <p14:creationId xmlns:p14="http://schemas.microsoft.com/office/powerpoint/2010/main" val="2936256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DC582645-4708-44BD-8BD9-71C144DEFD9D}" type="slidenum">
              <a:rPr lang="ru-RU" smtClean="0"/>
              <a:t>40</a:t>
            </a:fld>
            <a:endParaRPr lang="ru-RU"/>
          </a:p>
        </p:txBody>
      </p:sp>
    </p:spTree>
    <p:extLst>
      <p:ext uri="{BB962C8B-B14F-4D97-AF65-F5344CB8AC3E}">
        <p14:creationId xmlns:p14="http://schemas.microsoft.com/office/powerpoint/2010/main" val="1867928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3E67B7-8B86-328F-B7EC-B1BF2A576EB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059CDB87-CA93-4BE7-35CF-A0C68EDF3F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110E2DA8-8EAF-33A0-3065-C716BF3E157D}"/>
              </a:ext>
            </a:extLst>
          </p:cNvPr>
          <p:cNvSpPr>
            <a:spLocks noGrp="1"/>
          </p:cNvSpPr>
          <p:nvPr>
            <p:ph type="dt" sz="half" idx="10"/>
          </p:nvPr>
        </p:nvSpPr>
        <p:spPr/>
        <p:txBody>
          <a:bodyPr/>
          <a:lstStyle/>
          <a:p>
            <a:fld id="{AAE9C0F7-D75B-4C5D-8BA2-4B6485705959}" type="datetimeFigureOut">
              <a:rPr lang="ru-RU" smtClean="0"/>
              <a:t>28.11.2024</a:t>
            </a:fld>
            <a:endParaRPr lang="ru-RU"/>
          </a:p>
        </p:txBody>
      </p:sp>
      <p:sp>
        <p:nvSpPr>
          <p:cNvPr id="5" name="Нижний колонтитул 4">
            <a:extLst>
              <a:ext uri="{FF2B5EF4-FFF2-40B4-BE49-F238E27FC236}">
                <a16:creationId xmlns:a16="http://schemas.microsoft.com/office/drawing/2014/main" id="{1101D051-4978-EF7F-8C8A-3F244BC2E4C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1B9766E-6D6E-8A4C-658A-B4685CE05A9F}"/>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321911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902B64-7A03-AC61-9E5C-F4F4D956C2C1}"/>
              </a:ext>
            </a:extLst>
          </p:cNvPr>
          <p:cNvSpPr>
            <a:spLocks noGrp="1"/>
          </p:cNvSpPr>
          <p:nvPr>
            <p:ph type="title"/>
          </p:nvPr>
        </p:nvSpPr>
        <p:spPr/>
        <p:txBody>
          <a:bodyPr/>
          <a:lstStyle/>
          <a:p>
            <a:r>
              <a:rPr lang="ru-RU" dirty="0"/>
              <a:t>Образец заголовка</a:t>
            </a:r>
          </a:p>
        </p:txBody>
      </p:sp>
      <p:sp>
        <p:nvSpPr>
          <p:cNvPr id="3" name="Объект 2">
            <a:extLst>
              <a:ext uri="{FF2B5EF4-FFF2-40B4-BE49-F238E27FC236}">
                <a16:creationId xmlns:a16="http://schemas.microsoft.com/office/drawing/2014/main" id="{664FDECA-25F9-183C-D3B7-DD5F7B1108BA}"/>
              </a:ext>
            </a:extLst>
          </p:cNvPr>
          <p:cNvSpPr>
            <a:spLocks noGrp="1"/>
          </p:cNvSpPr>
          <p:nvPr>
            <p:ph idx="1"/>
          </p:nvPr>
        </p:nvSpPr>
        <p:spPr>
          <a:xfrm>
            <a:off x="838200" y="1825625"/>
            <a:ext cx="10515600" cy="489585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47809E4-C3AA-7FFF-66D9-82958219E7EB}"/>
              </a:ext>
            </a:extLst>
          </p:cNvPr>
          <p:cNvSpPr>
            <a:spLocks noGrp="1"/>
          </p:cNvSpPr>
          <p:nvPr>
            <p:ph type="dt" sz="half" idx="10"/>
          </p:nvPr>
        </p:nvSpPr>
        <p:spPr/>
        <p:txBody>
          <a:bodyPr/>
          <a:lstStyle/>
          <a:p>
            <a:fld id="{AAE9C0F7-D75B-4C5D-8BA2-4B6485705959}" type="datetimeFigureOut">
              <a:rPr lang="ru-RU" smtClean="0"/>
              <a:t>28.11.2024</a:t>
            </a:fld>
            <a:endParaRPr lang="ru-RU"/>
          </a:p>
        </p:txBody>
      </p:sp>
      <p:sp>
        <p:nvSpPr>
          <p:cNvPr id="5" name="Нижний колонтитул 4">
            <a:extLst>
              <a:ext uri="{FF2B5EF4-FFF2-40B4-BE49-F238E27FC236}">
                <a16:creationId xmlns:a16="http://schemas.microsoft.com/office/drawing/2014/main" id="{D595A159-D873-5BF8-F8CB-3C05B127A69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BFD8BDA-8665-8883-9E4D-14AD25E226CF}"/>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1259229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431642-8603-DDAE-C5AF-BB3C06858F2F}"/>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0A25BA09-5383-933C-E291-BDB4B71020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F1069EBF-C0B5-9EB4-DCC1-9E8BACFF8539}"/>
              </a:ext>
            </a:extLst>
          </p:cNvPr>
          <p:cNvSpPr>
            <a:spLocks noGrp="1"/>
          </p:cNvSpPr>
          <p:nvPr>
            <p:ph type="dt" sz="half" idx="10"/>
          </p:nvPr>
        </p:nvSpPr>
        <p:spPr/>
        <p:txBody>
          <a:bodyPr/>
          <a:lstStyle/>
          <a:p>
            <a:fld id="{AAE9C0F7-D75B-4C5D-8BA2-4B6485705959}" type="datetimeFigureOut">
              <a:rPr lang="ru-RU" smtClean="0"/>
              <a:t>28.11.2024</a:t>
            </a:fld>
            <a:endParaRPr lang="ru-RU"/>
          </a:p>
        </p:txBody>
      </p:sp>
      <p:sp>
        <p:nvSpPr>
          <p:cNvPr id="5" name="Нижний колонтитул 4">
            <a:extLst>
              <a:ext uri="{FF2B5EF4-FFF2-40B4-BE49-F238E27FC236}">
                <a16:creationId xmlns:a16="http://schemas.microsoft.com/office/drawing/2014/main" id="{2332AC16-93B3-1460-E3C7-65580E1A6CC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87152A2-48DC-5799-2499-17FE61B47538}"/>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625440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675EDD-FB9F-F045-EE95-10EF9D2F46C6}"/>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AC7BC94-00BF-2A5B-BF4D-C38882A64328}"/>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985A367E-D4A4-00C0-F75B-8C02E2A0661E}"/>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8E43EE95-E43A-EB58-34A0-A9DDECDD7AC8}"/>
              </a:ext>
            </a:extLst>
          </p:cNvPr>
          <p:cNvSpPr>
            <a:spLocks noGrp="1"/>
          </p:cNvSpPr>
          <p:nvPr>
            <p:ph type="dt" sz="half" idx="10"/>
          </p:nvPr>
        </p:nvSpPr>
        <p:spPr/>
        <p:txBody>
          <a:bodyPr/>
          <a:lstStyle/>
          <a:p>
            <a:fld id="{AAE9C0F7-D75B-4C5D-8BA2-4B6485705959}" type="datetimeFigureOut">
              <a:rPr lang="ru-RU" smtClean="0"/>
              <a:t>28.11.2024</a:t>
            </a:fld>
            <a:endParaRPr lang="ru-RU"/>
          </a:p>
        </p:txBody>
      </p:sp>
      <p:sp>
        <p:nvSpPr>
          <p:cNvPr id="6" name="Нижний колонтитул 5">
            <a:extLst>
              <a:ext uri="{FF2B5EF4-FFF2-40B4-BE49-F238E27FC236}">
                <a16:creationId xmlns:a16="http://schemas.microsoft.com/office/drawing/2014/main" id="{C51CE8F9-1034-21B2-38EF-2A8B5C4D1E1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BEE8E6C-9A75-8F08-58CE-EB938E29769F}"/>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2962593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D429E8-D3A7-B63A-2739-1D5705FF4AB5}"/>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916582CD-AB3F-25A9-B795-21CDC760E6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3887405F-9984-D933-744C-463E03AB051D}"/>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E50840FB-509F-F934-5C06-61A5B08526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10BB4397-1D85-C4FA-132E-1D2C7A393843}"/>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B81F2429-F720-BD98-422E-081D31DB0306}"/>
              </a:ext>
            </a:extLst>
          </p:cNvPr>
          <p:cNvSpPr>
            <a:spLocks noGrp="1"/>
          </p:cNvSpPr>
          <p:nvPr>
            <p:ph type="dt" sz="half" idx="10"/>
          </p:nvPr>
        </p:nvSpPr>
        <p:spPr/>
        <p:txBody>
          <a:bodyPr/>
          <a:lstStyle/>
          <a:p>
            <a:fld id="{AAE9C0F7-D75B-4C5D-8BA2-4B6485705959}" type="datetimeFigureOut">
              <a:rPr lang="ru-RU" smtClean="0"/>
              <a:t>28.11.2024</a:t>
            </a:fld>
            <a:endParaRPr lang="ru-RU"/>
          </a:p>
        </p:txBody>
      </p:sp>
      <p:sp>
        <p:nvSpPr>
          <p:cNvPr id="8" name="Нижний колонтитул 7">
            <a:extLst>
              <a:ext uri="{FF2B5EF4-FFF2-40B4-BE49-F238E27FC236}">
                <a16:creationId xmlns:a16="http://schemas.microsoft.com/office/drawing/2014/main" id="{DB8D6B9B-B5DF-8947-4A97-B1959BB9A3E5}"/>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96E5F275-C6C3-C7A7-9B49-AB9241D52A12}"/>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2266479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D78BE3-96E3-542D-B866-54D4D5BDD4D3}"/>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72AB0066-C93A-CE44-C9C9-8492509E54BB}"/>
              </a:ext>
            </a:extLst>
          </p:cNvPr>
          <p:cNvSpPr>
            <a:spLocks noGrp="1"/>
          </p:cNvSpPr>
          <p:nvPr>
            <p:ph type="dt" sz="half" idx="10"/>
          </p:nvPr>
        </p:nvSpPr>
        <p:spPr/>
        <p:txBody>
          <a:bodyPr/>
          <a:lstStyle/>
          <a:p>
            <a:fld id="{AAE9C0F7-D75B-4C5D-8BA2-4B6485705959}" type="datetimeFigureOut">
              <a:rPr lang="ru-RU" smtClean="0"/>
              <a:t>28.11.2024</a:t>
            </a:fld>
            <a:endParaRPr lang="ru-RU"/>
          </a:p>
        </p:txBody>
      </p:sp>
      <p:sp>
        <p:nvSpPr>
          <p:cNvPr id="4" name="Нижний колонтитул 3">
            <a:extLst>
              <a:ext uri="{FF2B5EF4-FFF2-40B4-BE49-F238E27FC236}">
                <a16:creationId xmlns:a16="http://schemas.microsoft.com/office/drawing/2014/main" id="{4D86183F-4A06-0A6D-2439-9920BE59F3A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4A19C14-09EE-8DA0-35EE-10747B9F0FC9}"/>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172911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5B0E34C-DF03-FB68-EAB6-2F9E412099C3}"/>
              </a:ext>
            </a:extLst>
          </p:cNvPr>
          <p:cNvSpPr>
            <a:spLocks noGrp="1"/>
          </p:cNvSpPr>
          <p:nvPr>
            <p:ph type="dt" sz="half" idx="10"/>
          </p:nvPr>
        </p:nvSpPr>
        <p:spPr/>
        <p:txBody>
          <a:bodyPr/>
          <a:lstStyle/>
          <a:p>
            <a:fld id="{AAE9C0F7-D75B-4C5D-8BA2-4B6485705959}" type="datetimeFigureOut">
              <a:rPr lang="ru-RU" smtClean="0"/>
              <a:t>28.11.2024</a:t>
            </a:fld>
            <a:endParaRPr lang="ru-RU"/>
          </a:p>
        </p:txBody>
      </p:sp>
      <p:sp>
        <p:nvSpPr>
          <p:cNvPr id="3" name="Нижний колонтитул 2">
            <a:extLst>
              <a:ext uri="{FF2B5EF4-FFF2-40B4-BE49-F238E27FC236}">
                <a16:creationId xmlns:a16="http://schemas.microsoft.com/office/drawing/2014/main" id="{F3423B85-5262-79FE-1774-FCA052A99950}"/>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5FB42707-0180-59A5-67BB-165999785DF9}"/>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2731115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6F69A8C-27E6-130A-0F34-2A6C962069C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4CB8BD66-0277-8F15-78C4-39A5EE2172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ED3E5280-B2C5-EB27-34F2-3D18F3D081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040CD3B-D516-8EF6-49C8-81E5229921CC}"/>
              </a:ext>
            </a:extLst>
          </p:cNvPr>
          <p:cNvSpPr>
            <a:spLocks noGrp="1"/>
          </p:cNvSpPr>
          <p:nvPr>
            <p:ph type="dt" sz="half" idx="10"/>
          </p:nvPr>
        </p:nvSpPr>
        <p:spPr/>
        <p:txBody>
          <a:bodyPr/>
          <a:lstStyle/>
          <a:p>
            <a:fld id="{AAE9C0F7-D75B-4C5D-8BA2-4B6485705959}" type="datetimeFigureOut">
              <a:rPr lang="ru-RU" smtClean="0"/>
              <a:t>28.11.2024</a:t>
            </a:fld>
            <a:endParaRPr lang="ru-RU"/>
          </a:p>
        </p:txBody>
      </p:sp>
      <p:sp>
        <p:nvSpPr>
          <p:cNvPr id="6" name="Нижний колонтитул 5">
            <a:extLst>
              <a:ext uri="{FF2B5EF4-FFF2-40B4-BE49-F238E27FC236}">
                <a16:creationId xmlns:a16="http://schemas.microsoft.com/office/drawing/2014/main" id="{5E39D0E4-C405-ED24-5E05-503B0046E56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BA4DDD1-B00C-597F-82F6-F2A809291473}"/>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1121590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3E39A1-0DED-CE4B-5B62-BD19F0BCC232}"/>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2854D6F2-42E9-3FEA-C6A7-740C51D9DF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78A8E58D-4DAC-4FC8-5B80-7961711AC2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50A013B-DD5C-737D-F0AB-7C157241F0B4}"/>
              </a:ext>
            </a:extLst>
          </p:cNvPr>
          <p:cNvSpPr>
            <a:spLocks noGrp="1"/>
          </p:cNvSpPr>
          <p:nvPr>
            <p:ph type="dt" sz="half" idx="10"/>
          </p:nvPr>
        </p:nvSpPr>
        <p:spPr/>
        <p:txBody>
          <a:bodyPr/>
          <a:lstStyle/>
          <a:p>
            <a:fld id="{AAE9C0F7-D75B-4C5D-8BA2-4B6485705959}" type="datetimeFigureOut">
              <a:rPr lang="ru-RU" smtClean="0"/>
              <a:t>28.11.2024</a:t>
            </a:fld>
            <a:endParaRPr lang="ru-RU"/>
          </a:p>
        </p:txBody>
      </p:sp>
      <p:sp>
        <p:nvSpPr>
          <p:cNvPr id="6" name="Нижний колонтитул 5">
            <a:extLst>
              <a:ext uri="{FF2B5EF4-FFF2-40B4-BE49-F238E27FC236}">
                <a16:creationId xmlns:a16="http://schemas.microsoft.com/office/drawing/2014/main" id="{E14E4AEB-1CB0-2CFD-BC02-DFD9847A340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B0ABAB9-35CC-F3B8-B086-C857480ED5B9}"/>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2451274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20FEB8-DA1D-02DC-B5C2-755D52595E66}"/>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2708DD26-2A62-77FD-1C83-3B3882EACF3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F4A89C9-6D79-3B2C-6B15-AEF4507AF6FC}"/>
              </a:ext>
            </a:extLst>
          </p:cNvPr>
          <p:cNvSpPr>
            <a:spLocks noGrp="1"/>
          </p:cNvSpPr>
          <p:nvPr>
            <p:ph type="dt" sz="half" idx="10"/>
          </p:nvPr>
        </p:nvSpPr>
        <p:spPr/>
        <p:txBody>
          <a:bodyPr/>
          <a:lstStyle/>
          <a:p>
            <a:fld id="{AAE9C0F7-D75B-4C5D-8BA2-4B6485705959}" type="datetimeFigureOut">
              <a:rPr lang="ru-RU" smtClean="0"/>
              <a:t>28.11.2024</a:t>
            </a:fld>
            <a:endParaRPr lang="ru-RU"/>
          </a:p>
        </p:txBody>
      </p:sp>
      <p:sp>
        <p:nvSpPr>
          <p:cNvPr id="5" name="Нижний колонтитул 4">
            <a:extLst>
              <a:ext uri="{FF2B5EF4-FFF2-40B4-BE49-F238E27FC236}">
                <a16:creationId xmlns:a16="http://schemas.microsoft.com/office/drawing/2014/main" id="{35E70559-F67E-CA20-365A-2B0DDAFBD4C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A736514-470B-0377-D0F6-5D31A6DEA71B}"/>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3703551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4593FE35-8AF2-DD78-796E-56EC68636162}"/>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67B660D9-45FD-7890-3D0F-E47BD8B39C79}"/>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65E59F6-A2CA-A130-A170-4BCEBFD81A81}"/>
              </a:ext>
            </a:extLst>
          </p:cNvPr>
          <p:cNvSpPr>
            <a:spLocks noGrp="1"/>
          </p:cNvSpPr>
          <p:nvPr>
            <p:ph type="dt" sz="half" idx="10"/>
          </p:nvPr>
        </p:nvSpPr>
        <p:spPr/>
        <p:txBody>
          <a:bodyPr/>
          <a:lstStyle/>
          <a:p>
            <a:fld id="{AAE9C0F7-D75B-4C5D-8BA2-4B6485705959}" type="datetimeFigureOut">
              <a:rPr lang="ru-RU" smtClean="0"/>
              <a:t>28.11.2024</a:t>
            </a:fld>
            <a:endParaRPr lang="ru-RU"/>
          </a:p>
        </p:txBody>
      </p:sp>
      <p:sp>
        <p:nvSpPr>
          <p:cNvPr id="5" name="Нижний колонтитул 4">
            <a:extLst>
              <a:ext uri="{FF2B5EF4-FFF2-40B4-BE49-F238E27FC236}">
                <a16:creationId xmlns:a16="http://schemas.microsoft.com/office/drawing/2014/main" id="{30739BC6-BAA9-14F7-E5F0-45F92CF9E1D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9443F45-277D-2C12-D898-2C9E77A340F6}"/>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3487993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B8F0C5-9240-24BB-AB2C-20ADF63F8048}"/>
              </a:ext>
            </a:extLst>
          </p:cNvPr>
          <p:cNvSpPr>
            <a:spLocks noGrp="1"/>
          </p:cNvSpPr>
          <p:nvPr>
            <p:ph type="title"/>
          </p:nvPr>
        </p:nvSpPr>
        <p:spPr>
          <a:xfrm>
            <a:off x="838200" y="365125"/>
            <a:ext cx="9474200" cy="1325563"/>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a:extLst>
              <a:ext uri="{FF2B5EF4-FFF2-40B4-BE49-F238E27FC236}">
                <a16:creationId xmlns:a16="http://schemas.microsoft.com/office/drawing/2014/main" id="{11A6985C-F8DC-F486-A49E-0B2B654416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endParaRPr lang="ru-RU" dirty="0"/>
          </a:p>
        </p:txBody>
      </p:sp>
      <p:sp>
        <p:nvSpPr>
          <p:cNvPr id="4" name="Дата 3">
            <a:extLst>
              <a:ext uri="{FF2B5EF4-FFF2-40B4-BE49-F238E27FC236}">
                <a16:creationId xmlns:a16="http://schemas.microsoft.com/office/drawing/2014/main" id="{D191F3EF-F30E-6D88-967B-040F961D8E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E9C0F7-D75B-4C5D-8BA2-4B6485705959}" type="datetimeFigureOut">
              <a:rPr lang="ru-RU" smtClean="0"/>
              <a:t>28.11.2024</a:t>
            </a:fld>
            <a:endParaRPr lang="ru-RU"/>
          </a:p>
        </p:txBody>
      </p:sp>
      <p:sp>
        <p:nvSpPr>
          <p:cNvPr id="5" name="Нижний колонтитул 4">
            <a:extLst>
              <a:ext uri="{FF2B5EF4-FFF2-40B4-BE49-F238E27FC236}">
                <a16:creationId xmlns:a16="http://schemas.microsoft.com/office/drawing/2014/main" id="{749879BD-3AFC-8225-C352-7D9D01B1A2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7DE1DDE2-73F3-A77C-24A3-116C7FD462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87430C-6405-4F43-BEE8-A9EDAAE57C2A}" type="slidenum">
              <a:rPr lang="ru-RU" smtClean="0"/>
              <a:t>‹#›</a:t>
            </a:fld>
            <a:endParaRPr lang="ru-RU"/>
          </a:p>
        </p:txBody>
      </p:sp>
      <p:pic>
        <p:nvPicPr>
          <p:cNvPr id="8" name="Рисунок 7">
            <a:extLst>
              <a:ext uri="{FF2B5EF4-FFF2-40B4-BE49-F238E27FC236}">
                <a16:creationId xmlns:a16="http://schemas.microsoft.com/office/drawing/2014/main" id="{1DEFAF48-7A20-BDED-6DB6-D8E23EB4BEEF}"/>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9869053" y="24422"/>
            <a:ext cx="2322947" cy="2006967"/>
          </a:xfrm>
          <a:prstGeom prst="rect">
            <a:avLst/>
          </a:prstGeom>
        </p:spPr>
      </p:pic>
    </p:spTree>
    <p:extLst>
      <p:ext uri="{BB962C8B-B14F-4D97-AF65-F5344CB8AC3E}">
        <p14:creationId xmlns:p14="http://schemas.microsoft.com/office/powerpoint/2010/main" val="35033688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A6D10E-B4D8-B973-A146-B23613FFFFE4}"/>
              </a:ext>
            </a:extLst>
          </p:cNvPr>
          <p:cNvSpPr>
            <a:spLocks noGrp="1"/>
          </p:cNvSpPr>
          <p:nvPr>
            <p:ph type="ctrTitle"/>
          </p:nvPr>
        </p:nvSpPr>
        <p:spPr/>
        <p:txBody>
          <a:bodyPr/>
          <a:lstStyle/>
          <a:p>
            <a:r>
              <a:rPr lang="ru-RU" dirty="0"/>
              <a:t>Технологии программирования</a:t>
            </a:r>
          </a:p>
        </p:txBody>
      </p:sp>
      <p:sp>
        <p:nvSpPr>
          <p:cNvPr id="3" name="Подзаголовок 2">
            <a:extLst>
              <a:ext uri="{FF2B5EF4-FFF2-40B4-BE49-F238E27FC236}">
                <a16:creationId xmlns:a16="http://schemas.microsoft.com/office/drawing/2014/main" id="{23AF7337-EB00-C20F-E6CF-D664DFEC72EC}"/>
              </a:ext>
            </a:extLst>
          </p:cNvPr>
          <p:cNvSpPr>
            <a:spLocks noGrp="1"/>
          </p:cNvSpPr>
          <p:nvPr>
            <p:ph type="subTitle" idx="1"/>
          </p:nvPr>
        </p:nvSpPr>
        <p:spPr/>
        <p:txBody>
          <a:bodyPr/>
          <a:lstStyle/>
          <a:p>
            <a:r>
              <a:rPr lang="ru-RU" sz="5400" dirty="0"/>
              <a:t>Лекция №3</a:t>
            </a:r>
            <a:endParaRPr lang="ru-RU" dirty="0"/>
          </a:p>
          <a:p>
            <a:endParaRPr lang="ru-RU" dirty="0"/>
          </a:p>
        </p:txBody>
      </p:sp>
    </p:spTree>
    <p:extLst>
      <p:ext uri="{BB962C8B-B14F-4D97-AF65-F5344CB8AC3E}">
        <p14:creationId xmlns:p14="http://schemas.microsoft.com/office/powerpoint/2010/main" val="414470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274D71-F58A-E07E-8A98-580E3D094329}"/>
              </a:ext>
            </a:extLst>
          </p:cNvPr>
          <p:cNvSpPr>
            <a:spLocks noGrp="1"/>
          </p:cNvSpPr>
          <p:nvPr>
            <p:ph type="title"/>
          </p:nvPr>
        </p:nvSpPr>
        <p:spPr/>
        <p:txBody>
          <a:bodyPr/>
          <a:lstStyle/>
          <a:p>
            <a:r>
              <a:rPr lang="ru-RU" dirty="0"/>
              <a:t>Конвейер выполнения команд</a:t>
            </a:r>
          </a:p>
        </p:txBody>
      </p:sp>
      <p:pic>
        <p:nvPicPr>
          <p:cNvPr id="7" name="Объект 6">
            <a:extLst>
              <a:ext uri="{FF2B5EF4-FFF2-40B4-BE49-F238E27FC236}">
                <a16:creationId xmlns:a16="http://schemas.microsoft.com/office/drawing/2014/main" id="{A7BC37ED-25F2-48DD-AA91-51818E03FED2}"/>
              </a:ext>
            </a:extLst>
          </p:cNvPr>
          <p:cNvPicPr>
            <a:picLocks noGrp="1" noChangeAspect="1"/>
          </p:cNvPicPr>
          <p:nvPr>
            <p:ph idx="1"/>
          </p:nvPr>
        </p:nvPicPr>
        <p:blipFill>
          <a:blip r:embed="rId2"/>
          <a:stretch>
            <a:fillRect/>
          </a:stretch>
        </p:blipFill>
        <p:spPr>
          <a:xfrm>
            <a:off x="278390" y="2256243"/>
            <a:ext cx="11635219" cy="2710639"/>
          </a:xfrm>
        </p:spPr>
      </p:pic>
    </p:spTree>
    <p:extLst>
      <p:ext uri="{BB962C8B-B14F-4D97-AF65-F5344CB8AC3E}">
        <p14:creationId xmlns:p14="http://schemas.microsoft.com/office/powerpoint/2010/main" val="231898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2F667B-93B4-E88A-0613-FAD47B2D147E}"/>
              </a:ext>
            </a:extLst>
          </p:cNvPr>
          <p:cNvSpPr>
            <a:spLocks noGrp="1"/>
          </p:cNvSpPr>
          <p:nvPr>
            <p:ph type="title"/>
          </p:nvPr>
        </p:nvSpPr>
        <p:spPr/>
        <p:txBody>
          <a:bodyPr/>
          <a:lstStyle/>
          <a:p>
            <a:r>
              <a:rPr lang="en-US" b="0" i="0" dirty="0">
                <a:solidFill>
                  <a:srgbClr val="092433"/>
                </a:solidFill>
                <a:effectLst/>
              </a:rPr>
              <a:t>Hyper-Threading</a:t>
            </a:r>
            <a:endParaRPr lang="ru-RU" dirty="0"/>
          </a:p>
        </p:txBody>
      </p:sp>
      <p:pic>
        <p:nvPicPr>
          <p:cNvPr id="2050" name="Picture 2" descr="Блоки процессора (ALU, FPU, LSU), которые используются для выполнения двух потоков (синие и зеленые квадраты).">
            <a:extLst>
              <a:ext uri="{FF2B5EF4-FFF2-40B4-BE49-F238E27FC236}">
                <a16:creationId xmlns:a16="http://schemas.microsoft.com/office/drawing/2014/main" id="{A222F04D-FF95-7359-908E-344BB8635C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153191"/>
            <a:ext cx="10515600" cy="4240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803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F47038-D468-98DD-3A7D-AD78D31B89E3}"/>
              </a:ext>
            </a:extLst>
          </p:cNvPr>
          <p:cNvSpPr>
            <a:spLocks noGrp="1"/>
          </p:cNvSpPr>
          <p:nvPr>
            <p:ph type="title"/>
          </p:nvPr>
        </p:nvSpPr>
        <p:spPr/>
        <p:txBody>
          <a:bodyPr/>
          <a:lstStyle/>
          <a:p>
            <a:r>
              <a:rPr lang="ru-RU" dirty="0"/>
              <a:t>Терминология</a:t>
            </a:r>
          </a:p>
        </p:txBody>
      </p:sp>
      <p:sp>
        <p:nvSpPr>
          <p:cNvPr id="3" name="Объект 2">
            <a:extLst>
              <a:ext uri="{FF2B5EF4-FFF2-40B4-BE49-F238E27FC236}">
                <a16:creationId xmlns:a16="http://schemas.microsoft.com/office/drawing/2014/main" id="{F363D8D0-EA6A-C929-5E96-8A4685AB02A0}"/>
              </a:ext>
            </a:extLst>
          </p:cNvPr>
          <p:cNvSpPr>
            <a:spLocks noGrp="1"/>
          </p:cNvSpPr>
          <p:nvPr>
            <p:ph idx="1"/>
          </p:nvPr>
        </p:nvSpPr>
        <p:spPr/>
        <p:txBody>
          <a:bodyPr>
            <a:normAutofit lnSpcReduction="10000"/>
          </a:bodyPr>
          <a:lstStyle/>
          <a:p>
            <a:pPr algn="just"/>
            <a:r>
              <a:rPr lang="en-US" dirty="0"/>
              <a:t>ALU – </a:t>
            </a:r>
            <a:r>
              <a:rPr lang="ru-RU" dirty="0"/>
              <a:t>блок процессора, который под управлением устройства управления служит для выполнения арифметических и логических преобразований (начиная от элементарных) над данными, называемыми в этом случае операндами.</a:t>
            </a:r>
          </a:p>
          <a:p>
            <a:pPr algn="just"/>
            <a:r>
              <a:rPr lang="en-US" dirty="0"/>
              <a:t>FPU – </a:t>
            </a:r>
            <a:r>
              <a:rPr lang="ru-RU" dirty="0"/>
              <a:t>сопроцессор для выполнения расширенных операций над вещественными числами (числа с плавающей запятой).</a:t>
            </a:r>
          </a:p>
          <a:p>
            <a:pPr algn="just"/>
            <a:r>
              <a:rPr lang="en-US" dirty="0"/>
              <a:t>LSU – </a:t>
            </a:r>
            <a:r>
              <a:rPr lang="ru-RU" dirty="0"/>
              <a:t>это специализированный исполнительный блок, отвечающий за выполнение всех инструкций загрузки и сохранения, генерирующий виртуальные адреса операций загрузки и сохранения и загружающий данные из памяти или сохраняющий их в памяти из регистров.</a:t>
            </a:r>
          </a:p>
        </p:txBody>
      </p:sp>
    </p:spTree>
    <p:extLst>
      <p:ext uri="{BB962C8B-B14F-4D97-AF65-F5344CB8AC3E}">
        <p14:creationId xmlns:p14="http://schemas.microsoft.com/office/powerpoint/2010/main" val="674205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B9308D-85D9-9684-B5D5-70D67112663E}"/>
              </a:ext>
            </a:extLst>
          </p:cNvPr>
          <p:cNvSpPr>
            <a:spLocks noGrp="1"/>
          </p:cNvSpPr>
          <p:nvPr>
            <p:ph type="title"/>
          </p:nvPr>
        </p:nvSpPr>
        <p:spPr/>
        <p:txBody>
          <a:bodyPr>
            <a:normAutofit/>
          </a:bodyPr>
          <a:lstStyle/>
          <a:p>
            <a:pPr algn="l"/>
            <a:r>
              <a:rPr lang="ru-RU" sz="4000" b="0" i="0" dirty="0">
                <a:solidFill>
                  <a:srgbClr val="333333"/>
                </a:solidFill>
                <a:effectLst/>
              </a:rPr>
              <a:t>Многозадачность и многопоточность</a:t>
            </a:r>
          </a:p>
        </p:txBody>
      </p:sp>
      <p:sp>
        <p:nvSpPr>
          <p:cNvPr id="3" name="Объект 2">
            <a:extLst>
              <a:ext uri="{FF2B5EF4-FFF2-40B4-BE49-F238E27FC236}">
                <a16:creationId xmlns:a16="http://schemas.microsoft.com/office/drawing/2014/main" id="{5FE400BE-5DA1-8B47-2429-6D81199F7E61}"/>
              </a:ext>
            </a:extLst>
          </p:cNvPr>
          <p:cNvSpPr>
            <a:spLocks noGrp="1"/>
          </p:cNvSpPr>
          <p:nvPr>
            <p:ph idx="1"/>
          </p:nvPr>
        </p:nvSpPr>
        <p:spPr/>
        <p:txBody>
          <a:bodyPr>
            <a:normAutofit fontScale="92500" lnSpcReduction="10000"/>
          </a:bodyPr>
          <a:lstStyle/>
          <a:p>
            <a:pPr algn="just"/>
            <a:r>
              <a:rPr lang="ru-RU" b="1" i="0" dirty="0">
                <a:solidFill>
                  <a:srgbClr val="333333"/>
                </a:solidFill>
                <a:effectLst/>
              </a:rPr>
              <a:t>Многозадачность (</a:t>
            </a:r>
            <a:r>
              <a:rPr lang="ru-RU" b="1" i="0" dirty="0" err="1">
                <a:solidFill>
                  <a:srgbClr val="333333"/>
                </a:solidFill>
                <a:effectLst/>
              </a:rPr>
              <a:t>multitasking</a:t>
            </a:r>
            <a:r>
              <a:rPr lang="ru-RU" b="1" i="0" dirty="0">
                <a:solidFill>
                  <a:srgbClr val="333333"/>
                </a:solidFill>
                <a:effectLst/>
              </a:rPr>
              <a:t>)</a:t>
            </a:r>
            <a:r>
              <a:rPr lang="ru-RU" b="0" i="0" dirty="0">
                <a:solidFill>
                  <a:srgbClr val="333333"/>
                </a:solidFill>
                <a:effectLst/>
              </a:rPr>
              <a:t> — свойство операционной системы или среды выполнения обеспечивать возможность параллельной (или псевдопараллельной) обработки нескольких задач.</a:t>
            </a:r>
          </a:p>
          <a:p>
            <a:pPr algn="just"/>
            <a:endParaRPr lang="ru-RU" dirty="0">
              <a:solidFill>
                <a:srgbClr val="333333"/>
              </a:solidFill>
            </a:endParaRPr>
          </a:p>
          <a:p>
            <a:pPr algn="just"/>
            <a:r>
              <a:rPr lang="ru-RU" b="1" i="0" dirty="0">
                <a:solidFill>
                  <a:srgbClr val="333333"/>
                </a:solidFill>
                <a:effectLst/>
              </a:rPr>
              <a:t>Многопоточность (</a:t>
            </a:r>
            <a:r>
              <a:rPr lang="ru-RU" b="1" i="0" dirty="0" err="1">
                <a:solidFill>
                  <a:srgbClr val="333333"/>
                </a:solidFill>
                <a:effectLst/>
              </a:rPr>
              <a:t>multithreading</a:t>
            </a:r>
            <a:r>
              <a:rPr lang="ru-RU" b="1" i="0" dirty="0">
                <a:solidFill>
                  <a:srgbClr val="333333"/>
                </a:solidFill>
                <a:effectLst/>
              </a:rPr>
              <a:t>)</a:t>
            </a:r>
            <a:r>
              <a:rPr lang="ru-RU" b="0" i="0" dirty="0">
                <a:solidFill>
                  <a:srgbClr val="333333"/>
                </a:solidFill>
                <a:effectLst/>
              </a:rPr>
              <a:t> — свойство платформы (например, операционной системы, виртуальной машины и т. д.) или приложения, состоящее в том, что </a:t>
            </a:r>
            <a:r>
              <a:rPr lang="ru-RU" b="1" i="0" dirty="0">
                <a:solidFill>
                  <a:srgbClr val="333333"/>
                </a:solidFill>
                <a:effectLst/>
              </a:rPr>
              <a:t>процесс</a:t>
            </a:r>
            <a:r>
              <a:rPr lang="ru-RU" b="0" i="0" dirty="0">
                <a:solidFill>
                  <a:srgbClr val="333333"/>
                </a:solidFill>
                <a:effectLst/>
              </a:rPr>
              <a:t>, порождённый в операционной системе, может состоять из нескольких </a:t>
            </a:r>
            <a:r>
              <a:rPr lang="ru-RU" b="1" i="0" dirty="0">
                <a:solidFill>
                  <a:srgbClr val="333333"/>
                </a:solidFill>
                <a:effectLst/>
              </a:rPr>
              <a:t>потоков</a:t>
            </a:r>
            <a:r>
              <a:rPr lang="ru-RU" b="0" i="0" dirty="0">
                <a:solidFill>
                  <a:srgbClr val="333333"/>
                </a:solidFill>
                <a:effectLst/>
              </a:rPr>
              <a:t>, выполняющихся «параллельно», то есть без предписанного порядка во времени. При выполнении некоторых задач такое разделение может достичь более эффективного использования ресурсов вычислительной машины.</a:t>
            </a:r>
            <a:endParaRPr lang="ru-RU" dirty="0"/>
          </a:p>
        </p:txBody>
      </p:sp>
    </p:spTree>
    <p:extLst>
      <p:ext uri="{BB962C8B-B14F-4D97-AF65-F5344CB8AC3E}">
        <p14:creationId xmlns:p14="http://schemas.microsoft.com/office/powerpoint/2010/main" val="2131977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7C16FA-FFBF-7B44-1570-6545A193D51F}"/>
              </a:ext>
            </a:extLst>
          </p:cNvPr>
          <p:cNvSpPr>
            <a:spLocks noGrp="1"/>
          </p:cNvSpPr>
          <p:nvPr>
            <p:ph type="title"/>
          </p:nvPr>
        </p:nvSpPr>
        <p:spPr/>
        <p:txBody>
          <a:bodyPr/>
          <a:lstStyle/>
          <a:p>
            <a:r>
              <a:rPr lang="ru-RU" dirty="0"/>
              <a:t>Процесс</a:t>
            </a:r>
          </a:p>
        </p:txBody>
      </p:sp>
      <p:sp>
        <p:nvSpPr>
          <p:cNvPr id="3" name="Объект 2">
            <a:extLst>
              <a:ext uri="{FF2B5EF4-FFF2-40B4-BE49-F238E27FC236}">
                <a16:creationId xmlns:a16="http://schemas.microsoft.com/office/drawing/2014/main" id="{65EC1FBE-56EC-031A-58C8-42E695E3DCDD}"/>
              </a:ext>
            </a:extLst>
          </p:cNvPr>
          <p:cNvSpPr>
            <a:spLocks noGrp="1"/>
          </p:cNvSpPr>
          <p:nvPr>
            <p:ph idx="1"/>
          </p:nvPr>
        </p:nvSpPr>
        <p:spPr/>
        <p:txBody>
          <a:bodyPr>
            <a:normAutofit lnSpcReduction="10000"/>
          </a:bodyPr>
          <a:lstStyle/>
          <a:p>
            <a:pPr marL="457200" indent="-457200" algn="just">
              <a:buFont typeface="Arial" panose="020B0604020202020204" pitchFamily="34" charset="0"/>
              <a:buChar char="•"/>
            </a:pPr>
            <a:r>
              <a:rPr lang="ru-RU" dirty="0">
                <a:solidFill>
                  <a:srgbClr val="333333"/>
                </a:solidFill>
              </a:rPr>
              <a:t>Э</a:t>
            </a:r>
            <a:r>
              <a:rPr lang="ru-RU" b="0" i="0" dirty="0">
                <a:solidFill>
                  <a:srgbClr val="333333"/>
                </a:solidFill>
                <a:effectLst/>
              </a:rPr>
              <a:t>кземпляр программы во время выполнения.</a:t>
            </a:r>
          </a:p>
          <a:p>
            <a:pPr algn="just"/>
            <a:endParaRPr lang="ru-RU" b="0" i="0" dirty="0">
              <a:solidFill>
                <a:srgbClr val="333333"/>
              </a:solidFill>
              <a:effectLst/>
            </a:endParaRPr>
          </a:p>
          <a:p>
            <a:pPr marL="457200" indent="-457200" algn="just">
              <a:buFont typeface="Arial" panose="020B0604020202020204" pitchFamily="34" charset="0"/>
              <a:buChar char="•"/>
            </a:pPr>
            <a:r>
              <a:rPr lang="ru-RU" dirty="0">
                <a:solidFill>
                  <a:srgbClr val="333333"/>
                </a:solidFill>
              </a:rPr>
              <a:t>А</a:t>
            </a:r>
            <a:r>
              <a:rPr lang="ru-RU" b="0" i="0" dirty="0">
                <a:solidFill>
                  <a:srgbClr val="333333"/>
                </a:solidFill>
                <a:effectLst/>
              </a:rPr>
              <a:t>бстракция, реализованная на уровне операционной системы. Процесс был придуман для организации всех данных, необходимых для работы программы.</a:t>
            </a:r>
          </a:p>
          <a:p>
            <a:pPr algn="just"/>
            <a:endParaRPr lang="ru-RU" b="0" i="0" dirty="0">
              <a:solidFill>
                <a:srgbClr val="333333"/>
              </a:solidFill>
              <a:effectLst/>
            </a:endParaRPr>
          </a:p>
          <a:p>
            <a:pPr marL="457200" indent="-457200" algn="just">
              <a:buFont typeface="Arial" panose="020B0604020202020204" pitchFamily="34" charset="0"/>
              <a:buChar char="•"/>
            </a:pPr>
            <a:r>
              <a:rPr lang="ru-RU" b="0" i="0" dirty="0">
                <a:solidFill>
                  <a:srgbClr val="333333"/>
                </a:solidFill>
                <a:effectLst/>
              </a:rPr>
              <a:t>Процесс — это контейнер, в котором находятся ресурсы программы:</a:t>
            </a:r>
          </a:p>
          <a:p>
            <a:pPr marL="1143000" lvl="1" indent="-457200" algn="just">
              <a:buFont typeface="Wingdings" panose="05000000000000000000" pitchFamily="2" charset="2"/>
              <a:buChar char="q"/>
            </a:pPr>
            <a:r>
              <a:rPr lang="ru-RU" b="0" i="0" dirty="0">
                <a:solidFill>
                  <a:srgbClr val="333333"/>
                </a:solidFill>
                <a:effectLst/>
              </a:rPr>
              <a:t>адресное пространство</a:t>
            </a:r>
          </a:p>
          <a:p>
            <a:pPr marL="1143000" lvl="1" indent="-457200" algn="just">
              <a:buFont typeface="Wingdings" panose="05000000000000000000" pitchFamily="2" charset="2"/>
              <a:buChar char="q"/>
            </a:pPr>
            <a:r>
              <a:rPr lang="ru-RU" b="0" i="0" dirty="0">
                <a:solidFill>
                  <a:srgbClr val="333333"/>
                </a:solidFill>
                <a:effectLst/>
              </a:rPr>
              <a:t>потоки</a:t>
            </a:r>
          </a:p>
          <a:p>
            <a:pPr marL="1143000" lvl="1" indent="-457200" algn="just">
              <a:buFont typeface="Wingdings" panose="05000000000000000000" pitchFamily="2" charset="2"/>
              <a:buChar char="q"/>
            </a:pPr>
            <a:r>
              <a:rPr lang="ru-RU" b="0" i="0" dirty="0">
                <a:solidFill>
                  <a:srgbClr val="333333"/>
                </a:solidFill>
                <a:effectLst/>
              </a:rPr>
              <a:t>открытые файлы</a:t>
            </a:r>
          </a:p>
          <a:p>
            <a:pPr marL="1143000" lvl="1" indent="-457200" algn="just">
              <a:buFont typeface="Wingdings" panose="05000000000000000000" pitchFamily="2" charset="2"/>
              <a:buChar char="q"/>
            </a:pPr>
            <a:r>
              <a:rPr lang="ru-RU" b="0" i="0" dirty="0">
                <a:solidFill>
                  <a:srgbClr val="333333"/>
                </a:solidFill>
                <a:effectLst/>
              </a:rPr>
              <a:t>дочерние процессы</a:t>
            </a:r>
          </a:p>
          <a:p>
            <a:endParaRPr lang="ru-RU" b="0" i="0" dirty="0">
              <a:solidFill>
                <a:srgbClr val="333333"/>
              </a:solidFill>
              <a:effectLst/>
              <a:latin typeface="-apple-system"/>
            </a:endParaRPr>
          </a:p>
          <a:p>
            <a:endParaRPr lang="ru-RU" b="0" i="0" dirty="0">
              <a:solidFill>
                <a:srgbClr val="333333"/>
              </a:solidFill>
              <a:effectLst/>
              <a:latin typeface="-apple-system"/>
            </a:endParaRPr>
          </a:p>
          <a:p>
            <a:endParaRPr lang="ru-RU" dirty="0"/>
          </a:p>
        </p:txBody>
      </p:sp>
    </p:spTree>
    <p:extLst>
      <p:ext uri="{BB962C8B-B14F-4D97-AF65-F5344CB8AC3E}">
        <p14:creationId xmlns:p14="http://schemas.microsoft.com/office/powerpoint/2010/main" val="3240014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665081-C0C8-5F2F-F775-040C05953ED2}"/>
              </a:ext>
            </a:extLst>
          </p:cNvPr>
          <p:cNvSpPr>
            <a:spLocks noGrp="1"/>
          </p:cNvSpPr>
          <p:nvPr>
            <p:ph type="title"/>
          </p:nvPr>
        </p:nvSpPr>
        <p:spPr/>
        <p:txBody>
          <a:bodyPr/>
          <a:lstStyle/>
          <a:p>
            <a:r>
              <a:rPr lang="ru-RU" dirty="0"/>
              <a:t>Потоки</a:t>
            </a:r>
          </a:p>
        </p:txBody>
      </p:sp>
      <p:sp>
        <p:nvSpPr>
          <p:cNvPr id="3" name="Объект 2">
            <a:extLst>
              <a:ext uri="{FF2B5EF4-FFF2-40B4-BE49-F238E27FC236}">
                <a16:creationId xmlns:a16="http://schemas.microsoft.com/office/drawing/2014/main" id="{3D74E915-F12C-8955-F085-61620B81D6A9}"/>
              </a:ext>
            </a:extLst>
          </p:cNvPr>
          <p:cNvSpPr>
            <a:spLocks noGrp="1"/>
          </p:cNvSpPr>
          <p:nvPr>
            <p:ph idx="1"/>
          </p:nvPr>
        </p:nvSpPr>
        <p:spPr/>
        <p:txBody>
          <a:bodyPr>
            <a:normAutofit/>
          </a:bodyPr>
          <a:lstStyle/>
          <a:p>
            <a:pPr marL="457200" indent="-457200" algn="just">
              <a:buFont typeface="Arial" panose="020B0604020202020204" pitchFamily="34" charset="0"/>
              <a:buChar char="•"/>
            </a:pPr>
            <a:r>
              <a:rPr lang="ru-RU" dirty="0">
                <a:solidFill>
                  <a:srgbClr val="333333"/>
                </a:solidFill>
              </a:rPr>
              <a:t>В</a:t>
            </a:r>
            <a:r>
              <a:rPr lang="ru-RU" b="0" i="0" dirty="0">
                <a:solidFill>
                  <a:srgbClr val="333333"/>
                </a:solidFill>
                <a:effectLst/>
              </a:rPr>
              <a:t>етви кода, выполняющиеся «параллельно», то есть без предписанного порядка во времени.</a:t>
            </a:r>
          </a:p>
          <a:p>
            <a:pPr algn="just"/>
            <a:endParaRPr lang="ru-RU" b="0" i="0" dirty="0">
              <a:solidFill>
                <a:srgbClr val="333333"/>
              </a:solidFill>
              <a:effectLst/>
            </a:endParaRPr>
          </a:p>
          <a:p>
            <a:pPr marL="457200" indent="-457200" algn="just">
              <a:buFont typeface="Arial" panose="020B0604020202020204" pitchFamily="34" charset="0"/>
              <a:buChar char="•"/>
            </a:pPr>
            <a:r>
              <a:rPr lang="ru-RU" dirty="0">
                <a:solidFill>
                  <a:srgbClr val="333333"/>
                </a:solidFill>
              </a:rPr>
              <a:t>А</a:t>
            </a:r>
            <a:r>
              <a:rPr lang="ru-RU" b="0" i="0" dirty="0">
                <a:solidFill>
                  <a:srgbClr val="333333"/>
                </a:solidFill>
                <a:effectLst/>
              </a:rPr>
              <a:t>бстракция, реализованная на уровне операционной системы. Поток был придуман для контроля выполнения кода программы.</a:t>
            </a:r>
          </a:p>
          <a:p>
            <a:pPr algn="just"/>
            <a:endParaRPr lang="ru-RU" b="0" i="0" dirty="0">
              <a:solidFill>
                <a:srgbClr val="333333"/>
              </a:solidFill>
              <a:effectLst/>
            </a:endParaRPr>
          </a:p>
          <a:p>
            <a:pPr marL="457200" indent="-457200" algn="just">
              <a:buFont typeface="Arial" panose="020B0604020202020204" pitchFamily="34" charset="0"/>
              <a:buChar char="•"/>
            </a:pPr>
            <a:r>
              <a:rPr lang="ru-RU" dirty="0"/>
              <a:t>Контейнер, в котором находятся:</a:t>
            </a:r>
          </a:p>
          <a:p>
            <a:pPr marL="1143000" lvl="1" indent="-457200" algn="just">
              <a:buFont typeface="Wingdings" panose="05000000000000000000" pitchFamily="2" charset="2"/>
              <a:buChar char="q"/>
            </a:pPr>
            <a:r>
              <a:rPr lang="ru-RU" dirty="0"/>
              <a:t>Счётчик команд</a:t>
            </a:r>
          </a:p>
          <a:p>
            <a:pPr marL="1143000" lvl="1" indent="-457200" algn="just">
              <a:buFont typeface="Wingdings" panose="05000000000000000000" pitchFamily="2" charset="2"/>
              <a:buChar char="q"/>
            </a:pPr>
            <a:r>
              <a:rPr lang="ru-RU" dirty="0"/>
              <a:t>Регистры</a:t>
            </a:r>
          </a:p>
          <a:p>
            <a:pPr marL="1143000" lvl="1" indent="-457200" algn="just">
              <a:buFont typeface="Wingdings" panose="05000000000000000000" pitchFamily="2" charset="2"/>
              <a:buChar char="q"/>
            </a:pPr>
            <a:r>
              <a:rPr lang="ru-RU" dirty="0"/>
              <a:t>Стек</a:t>
            </a:r>
          </a:p>
        </p:txBody>
      </p:sp>
    </p:spTree>
    <p:extLst>
      <p:ext uri="{BB962C8B-B14F-4D97-AF65-F5344CB8AC3E}">
        <p14:creationId xmlns:p14="http://schemas.microsoft.com/office/powerpoint/2010/main" val="675148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24F2D8-B66E-D19A-7B87-E47704778214}"/>
              </a:ext>
            </a:extLst>
          </p:cNvPr>
          <p:cNvSpPr>
            <a:spLocks noGrp="1"/>
          </p:cNvSpPr>
          <p:nvPr>
            <p:ph type="title"/>
          </p:nvPr>
        </p:nvSpPr>
        <p:spPr/>
        <p:txBody>
          <a:bodyPr/>
          <a:lstStyle/>
          <a:p>
            <a:r>
              <a:rPr lang="ru-RU" dirty="0"/>
              <a:t>Потоки</a:t>
            </a:r>
          </a:p>
        </p:txBody>
      </p:sp>
      <p:sp>
        <p:nvSpPr>
          <p:cNvPr id="3" name="Объект 2">
            <a:extLst>
              <a:ext uri="{FF2B5EF4-FFF2-40B4-BE49-F238E27FC236}">
                <a16:creationId xmlns:a16="http://schemas.microsoft.com/office/drawing/2014/main" id="{1B0F192C-9676-83FD-7860-D9FD77071566}"/>
              </a:ext>
            </a:extLst>
          </p:cNvPr>
          <p:cNvSpPr>
            <a:spLocks noGrp="1"/>
          </p:cNvSpPr>
          <p:nvPr>
            <p:ph idx="1"/>
          </p:nvPr>
        </p:nvSpPr>
        <p:spPr/>
        <p:txBody>
          <a:bodyPr/>
          <a:lstStyle/>
          <a:p>
            <a:pPr algn="just"/>
            <a:r>
              <a:rPr lang="ru-RU" dirty="0"/>
              <a:t>Потоки необходимы для:</a:t>
            </a:r>
          </a:p>
          <a:p>
            <a:pPr marL="1143000" lvl="1" indent="-457200" algn="just"/>
            <a:r>
              <a:rPr lang="ru-RU" b="0" i="0" dirty="0">
                <a:solidFill>
                  <a:srgbClr val="333333"/>
                </a:solidFill>
                <a:effectLst/>
                <a:latin typeface="Arial" panose="020B0604020202020204" pitchFamily="34" charset="0"/>
                <a:cs typeface="Arial" panose="020B0604020202020204" pitchFamily="34" charset="0"/>
              </a:rPr>
              <a:t>Разделения ответственность за разные задачи между разными потоками</a:t>
            </a:r>
          </a:p>
          <a:p>
            <a:pPr marL="1143000" lvl="1" indent="-457200" algn="just"/>
            <a:r>
              <a:rPr lang="ru-RU" b="0" i="0" dirty="0">
                <a:solidFill>
                  <a:srgbClr val="333333"/>
                </a:solidFill>
                <a:effectLst/>
                <a:latin typeface="Arial" panose="020B0604020202020204" pitchFamily="34" charset="0"/>
                <a:cs typeface="Arial" panose="020B0604020202020204" pitchFamily="34" charset="0"/>
              </a:rPr>
              <a:t>Повышения быстродействия</a:t>
            </a:r>
          </a:p>
          <a:p>
            <a:pPr marL="457200" indent="-457200" algn="just"/>
            <a:endParaRPr lang="ru-RU" dirty="0">
              <a:solidFill>
                <a:srgbClr val="333333"/>
              </a:solidFill>
            </a:endParaRPr>
          </a:p>
          <a:p>
            <a:pPr marL="457200" indent="-457200" algn="just"/>
            <a:r>
              <a:rPr lang="ru-RU" b="0" i="0" dirty="0">
                <a:solidFill>
                  <a:srgbClr val="333333"/>
                </a:solidFill>
                <a:effectLst/>
                <a:latin typeface="Arial" panose="020B0604020202020204" pitchFamily="34" charset="0"/>
                <a:cs typeface="Arial" panose="020B0604020202020204" pitchFamily="34" charset="0"/>
              </a:rPr>
              <a:t>Плюсы потоков:</a:t>
            </a:r>
          </a:p>
          <a:p>
            <a:pPr marL="1143000" lvl="1" indent="-457200" algn="just"/>
            <a:r>
              <a:rPr lang="ru-RU" dirty="0">
                <a:solidFill>
                  <a:srgbClr val="333333"/>
                </a:solidFill>
                <a:latin typeface="Arial" panose="020B0604020202020204" pitchFamily="34" charset="0"/>
                <a:cs typeface="Arial" panose="020B0604020202020204" pitchFamily="34" charset="0"/>
              </a:rPr>
              <a:t>Могут разделять общее адресное пространство в рамках одного процесса</a:t>
            </a:r>
          </a:p>
          <a:p>
            <a:pPr marL="1143000" lvl="1" indent="-457200" algn="just"/>
            <a:r>
              <a:rPr lang="ru-RU" dirty="0">
                <a:solidFill>
                  <a:srgbClr val="333333"/>
                </a:solidFill>
                <a:latin typeface="Arial" panose="020B0604020202020204" pitchFamily="34" charset="0"/>
                <a:cs typeface="Arial" panose="020B0604020202020204" pitchFamily="34" charset="0"/>
              </a:rPr>
              <a:t>Создание и уничтожение потоков менее затратно, чем создание  и уничтожение </a:t>
            </a:r>
            <a:r>
              <a:rPr lang="ru-RU">
                <a:solidFill>
                  <a:srgbClr val="333333"/>
                </a:solidFill>
                <a:latin typeface="Arial" panose="020B0604020202020204" pitchFamily="34" charset="0"/>
                <a:cs typeface="Arial" panose="020B0604020202020204" pitchFamily="34" charset="0"/>
              </a:rPr>
              <a:t>отдельных процессов</a:t>
            </a:r>
            <a:endParaRPr lang="ru-RU" b="0" i="0" dirty="0">
              <a:solidFill>
                <a:srgbClr val="333333"/>
              </a:solidFill>
              <a:effectLst/>
              <a:latin typeface="Arial" panose="020B0604020202020204" pitchFamily="34" charset="0"/>
              <a:cs typeface="Arial" panose="020B0604020202020204" pitchFamily="34" charset="0"/>
            </a:endParaRPr>
          </a:p>
          <a:p>
            <a:endParaRPr lang="ru-RU" dirty="0"/>
          </a:p>
        </p:txBody>
      </p:sp>
    </p:spTree>
    <p:extLst>
      <p:ext uri="{BB962C8B-B14F-4D97-AF65-F5344CB8AC3E}">
        <p14:creationId xmlns:p14="http://schemas.microsoft.com/office/powerpoint/2010/main" val="255973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5BC84B-5106-FAB8-405E-03C5CF22C7D2}"/>
              </a:ext>
            </a:extLst>
          </p:cNvPr>
          <p:cNvSpPr>
            <a:spLocks noGrp="1"/>
          </p:cNvSpPr>
          <p:nvPr>
            <p:ph type="title"/>
          </p:nvPr>
        </p:nvSpPr>
        <p:spPr/>
        <p:txBody>
          <a:bodyPr/>
          <a:lstStyle/>
          <a:p>
            <a:r>
              <a:rPr lang="ru-RU" dirty="0"/>
              <a:t>Состояния потоков</a:t>
            </a:r>
          </a:p>
        </p:txBody>
      </p:sp>
      <p:pic>
        <p:nvPicPr>
          <p:cNvPr id="2050" name="Picture 2" descr="Picture background">
            <a:extLst>
              <a:ext uri="{FF2B5EF4-FFF2-40B4-BE49-F238E27FC236}">
                <a16:creationId xmlns:a16="http://schemas.microsoft.com/office/drawing/2014/main" id="{2BCBF008-939C-1B34-C1D8-39F8AE1EC7C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61140" y="1825625"/>
            <a:ext cx="10269720"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2079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855AC8-B7D7-689E-D771-9425D5EEBF6E}"/>
              </a:ext>
            </a:extLst>
          </p:cNvPr>
          <p:cNvSpPr>
            <a:spLocks noGrp="1"/>
          </p:cNvSpPr>
          <p:nvPr>
            <p:ph type="title"/>
          </p:nvPr>
        </p:nvSpPr>
        <p:spPr/>
        <p:txBody>
          <a:bodyPr/>
          <a:lstStyle/>
          <a:p>
            <a:r>
              <a:rPr lang="ru-RU" dirty="0"/>
              <a:t>Состояния потоков</a:t>
            </a:r>
          </a:p>
        </p:txBody>
      </p:sp>
      <p:pic>
        <p:nvPicPr>
          <p:cNvPr id="1026" name="Picture 2" descr="Picture background">
            <a:extLst>
              <a:ext uri="{FF2B5EF4-FFF2-40B4-BE49-F238E27FC236}">
                <a16:creationId xmlns:a16="http://schemas.microsoft.com/office/drawing/2014/main" id="{14F85DFB-47FB-51C7-4661-73F22BCB8D9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129410" y="1254691"/>
            <a:ext cx="5933180" cy="5458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2034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5FB2A9-C1EB-ACB4-A835-1DFC465702F7}"/>
              </a:ext>
            </a:extLst>
          </p:cNvPr>
          <p:cNvSpPr>
            <a:spLocks noGrp="1"/>
          </p:cNvSpPr>
          <p:nvPr>
            <p:ph type="title"/>
          </p:nvPr>
        </p:nvSpPr>
        <p:spPr/>
        <p:txBody>
          <a:bodyPr/>
          <a:lstStyle/>
          <a:p>
            <a:r>
              <a:rPr lang="ru-RU" dirty="0"/>
              <a:t>Приоритеты выполнения потоков</a:t>
            </a:r>
          </a:p>
        </p:txBody>
      </p:sp>
      <p:pic>
        <p:nvPicPr>
          <p:cNvPr id="4" name="Объект 3">
            <a:extLst>
              <a:ext uri="{FF2B5EF4-FFF2-40B4-BE49-F238E27FC236}">
                <a16:creationId xmlns:a16="http://schemas.microsoft.com/office/drawing/2014/main" id="{2E658DBB-AC31-F408-6ADB-8D20C2AF454B}"/>
              </a:ext>
            </a:extLst>
          </p:cNvPr>
          <p:cNvPicPr>
            <a:picLocks noGrp="1" noChangeAspect="1"/>
          </p:cNvPicPr>
          <p:nvPr>
            <p:ph idx="1"/>
          </p:nvPr>
        </p:nvPicPr>
        <p:blipFill>
          <a:blip r:embed="rId3"/>
          <a:stretch>
            <a:fillRect/>
          </a:stretch>
        </p:blipFill>
        <p:spPr>
          <a:xfrm>
            <a:off x="1744133" y="1825625"/>
            <a:ext cx="8703733" cy="4895850"/>
          </a:xfrm>
          <a:prstGeom prst="rect">
            <a:avLst/>
          </a:prstGeom>
        </p:spPr>
      </p:pic>
    </p:spTree>
    <p:extLst>
      <p:ext uri="{BB962C8B-B14F-4D97-AF65-F5344CB8AC3E}">
        <p14:creationId xmlns:p14="http://schemas.microsoft.com/office/powerpoint/2010/main" val="4090194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F034B1-2ECC-333B-836F-89209445A368}"/>
              </a:ext>
            </a:extLst>
          </p:cNvPr>
          <p:cNvSpPr>
            <a:spLocks noGrp="1"/>
          </p:cNvSpPr>
          <p:nvPr>
            <p:ph type="title"/>
          </p:nvPr>
        </p:nvSpPr>
        <p:spPr/>
        <p:txBody>
          <a:bodyPr/>
          <a:lstStyle/>
          <a:p>
            <a:r>
              <a:rPr lang="ru-RU" dirty="0"/>
              <a:t>Когда использовать потоки</a:t>
            </a:r>
            <a:r>
              <a:rPr lang="en-US" dirty="0"/>
              <a:t>?</a:t>
            </a:r>
            <a:endParaRPr lang="ru-RU" dirty="0"/>
          </a:p>
        </p:txBody>
      </p:sp>
      <p:sp>
        <p:nvSpPr>
          <p:cNvPr id="3" name="Объект 2">
            <a:extLst>
              <a:ext uri="{FF2B5EF4-FFF2-40B4-BE49-F238E27FC236}">
                <a16:creationId xmlns:a16="http://schemas.microsoft.com/office/drawing/2014/main" id="{F7039835-0A87-757F-2131-A7A5A7E155FF}"/>
              </a:ext>
            </a:extLst>
          </p:cNvPr>
          <p:cNvSpPr>
            <a:spLocks noGrp="1"/>
          </p:cNvSpPr>
          <p:nvPr>
            <p:ph idx="1"/>
          </p:nvPr>
        </p:nvSpPr>
        <p:spPr/>
        <p:txBody>
          <a:bodyPr>
            <a:normAutofit fontScale="92500" lnSpcReduction="20000"/>
          </a:bodyPr>
          <a:lstStyle/>
          <a:p>
            <a:pPr algn="just">
              <a:buFont typeface="Arial" panose="020B0604020202020204" pitchFamily="34" charset="0"/>
              <a:buChar char="•"/>
            </a:pPr>
            <a:r>
              <a:rPr lang="ru-RU" b="0" i="0" dirty="0">
                <a:solidFill>
                  <a:srgbClr val="333333"/>
                </a:solidFill>
                <a:effectLst/>
              </a:rPr>
              <a:t>Многопоточность широко используется в приложениях с пользовательским интерфейсом. В этом случае за работу интерфейса отвечает один поток, а какие-либо вычисления выполняются в других потоках. Это позволяет пользовательскому интерфейсу не подвисать, когда приложение занято другими вычислениями.</a:t>
            </a:r>
          </a:p>
          <a:p>
            <a:pPr algn="just">
              <a:buFont typeface="Arial" panose="020B0604020202020204" pitchFamily="34" charset="0"/>
              <a:buChar char="•"/>
            </a:pPr>
            <a:r>
              <a:rPr lang="ru-RU" b="0" i="0" dirty="0">
                <a:solidFill>
                  <a:srgbClr val="333333"/>
                </a:solidFill>
                <a:effectLst/>
              </a:rPr>
              <a:t>Многие алгоритмы легко разбиваются на независимые подзадачи, которые можно выполнять в разных потоках для повышения производительности. Например, при фильтрации изображения разные потоки могут заниматься фильтрацией разных частей изображения.</a:t>
            </a:r>
          </a:p>
          <a:p>
            <a:pPr algn="just">
              <a:buFont typeface="Arial" panose="020B0604020202020204" pitchFamily="34" charset="0"/>
              <a:buChar char="•"/>
            </a:pPr>
            <a:r>
              <a:rPr lang="ru-RU" b="0" i="0" dirty="0">
                <a:solidFill>
                  <a:srgbClr val="333333"/>
                </a:solidFill>
                <a:effectLst/>
              </a:rPr>
              <a:t>Если некоторые части приложения вынуждены ждать ответа от сервера/пользователя/устройства, то эти операции можно выделить в отдельный поток, чтобы в основном потоке можно было продолжать работу, пока другой поток ждёт ответа.</a:t>
            </a:r>
          </a:p>
          <a:p>
            <a:endParaRPr lang="ru-RU" dirty="0"/>
          </a:p>
        </p:txBody>
      </p:sp>
    </p:spTree>
    <p:extLst>
      <p:ext uri="{BB962C8B-B14F-4D97-AF65-F5344CB8AC3E}">
        <p14:creationId xmlns:p14="http://schemas.microsoft.com/office/powerpoint/2010/main" val="2036295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8917BA-4A40-BF0C-EE48-CB18D0CB923D}"/>
              </a:ext>
            </a:extLst>
          </p:cNvPr>
          <p:cNvSpPr>
            <a:spLocks noGrp="1"/>
          </p:cNvSpPr>
          <p:nvPr>
            <p:ph type="title"/>
          </p:nvPr>
        </p:nvSpPr>
        <p:spPr/>
        <p:txBody>
          <a:bodyPr/>
          <a:lstStyle/>
          <a:p>
            <a:r>
              <a:rPr lang="en-US" b="0" i="0" dirty="0">
                <a:solidFill>
                  <a:srgbClr val="333333"/>
                </a:solidFill>
                <a:effectLst/>
                <a:latin typeface="Fira Sans" panose="020B0503050000020004" pitchFamily="34" charset="0"/>
              </a:rPr>
              <a:t>std::thread – </a:t>
            </a:r>
            <a:r>
              <a:rPr lang="ru-RU" b="0" i="0" dirty="0">
                <a:solidFill>
                  <a:srgbClr val="333333"/>
                </a:solidFill>
                <a:effectLst/>
                <a:latin typeface="Fira Sans" panose="020B0503050000020004" pitchFamily="34" charset="0"/>
              </a:rPr>
              <a:t>средства стандартной библиотеки </a:t>
            </a:r>
            <a:r>
              <a:rPr lang="en-US" b="0" i="0" dirty="0">
                <a:solidFill>
                  <a:srgbClr val="333333"/>
                </a:solidFill>
                <a:effectLst/>
                <a:latin typeface="Fira Sans" panose="020B0503050000020004" pitchFamily="34" charset="0"/>
              </a:rPr>
              <a:t>C++</a:t>
            </a:r>
            <a:endParaRPr lang="ru-RU" dirty="0"/>
          </a:p>
        </p:txBody>
      </p:sp>
      <p:pic>
        <p:nvPicPr>
          <p:cNvPr id="3074" name="Picture 2">
            <a:extLst>
              <a:ext uri="{FF2B5EF4-FFF2-40B4-BE49-F238E27FC236}">
                <a16:creationId xmlns:a16="http://schemas.microsoft.com/office/drawing/2014/main" id="{FE7964CA-CA42-12B0-2D35-40991C5C2A5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91126" y="1690688"/>
            <a:ext cx="9809747" cy="4927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154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FDEA38-4FB1-AE50-40F9-D3A9C84DEF96}"/>
              </a:ext>
            </a:extLst>
          </p:cNvPr>
          <p:cNvSpPr>
            <a:spLocks noGrp="1"/>
          </p:cNvSpPr>
          <p:nvPr>
            <p:ph type="title"/>
          </p:nvPr>
        </p:nvSpPr>
        <p:spPr/>
        <p:txBody>
          <a:bodyPr/>
          <a:lstStyle/>
          <a:p>
            <a:r>
              <a:rPr lang="en-US" dirty="0"/>
              <a:t>std::thread – </a:t>
            </a:r>
            <a:r>
              <a:rPr lang="ru-RU" dirty="0"/>
              <a:t>Примеры </a:t>
            </a:r>
          </a:p>
        </p:txBody>
      </p:sp>
      <p:sp>
        <p:nvSpPr>
          <p:cNvPr id="3" name="Объект 2">
            <a:extLst>
              <a:ext uri="{FF2B5EF4-FFF2-40B4-BE49-F238E27FC236}">
                <a16:creationId xmlns:a16="http://schemas.microsoft.com/office/drawing/2014/main" id="{C8084DB3-3DD8-D13F-751D-1C1DBB12F15F}"/>
              </a:ext>
            </a:extLst>
          </p:cNvPr>
          <p:cNvSpPr>
            <a:spLocks noGrp="1"/>
          </p:cNvSpPr>
          <p:nvPr>
            <p:ph idx="1"/>
          </p:nvPr>
        </p:nvSpPr>
        <p:spPr/>
        <p:txBody>
          <a:bodyPr>
            <a:normAutofit/>
          </a:bodyPr>
          <a:lstStyle/>
          <a:p>
            <a:r>
              <a:rPr lang="en-US" sz="3200" dirty="0">
                <a:latin typeface="Consolas" panose="020B0609020204030204" pitchFamily="49" charset="0"/>
              </a:rPr>
              <a:t>void </a:t>
            </a:r>
            <a:r>
              <a:rPr lang="en-US" sz="3200" dirty="0" err="1">
                <a:latin typeface="Consolas" panose="020B0609020204030204" pitchFamily="49" charset="0"/>
              </a:rPr>
              <a:t>do_some_work</a:t>
            </a:r>
            <a:r>
              <a:rPr lang="en-US" sz="3200" dirty="0">
                <a:latin typeface="Consolas" panose="020B0609020204030204" pitchFamily="49" charset="0"/>
              </a:rPr>
              <a:t>();</a:t>
            </a:r>
          </a:p>
          <a:p>
            <a:r>
              <a:rPr lang="en-US" sz="3200" dirty="0">
                <a:latin typeface="Consolas" panose="020B0609020204030204" pitchFamily="49" charset="0"/>
              </a:rPr>
              <a:t>std::thread </a:t>
            </a:r>
            <a:r>
              <a:rPr lang="en-US" sz="3200" dirty="0" err="1">
                <a:latin typeface="Consolas" panose="020B0609020204030204" pitchFamily="49" charset="0"/>
              </a:rPr>
              <a:t>my_thread</a:t>
            </a:r>
            <a:r>
              <a:rPr lang="en-US" sz="3200" dirty="0">
                <a:latin typeface="Consolas" panose="020B0609020204030204" pitchFamily="49" charset="0"/>
              </a:rPr>
              <a:t>(</a:t>
            </a:r>
            <a:r>
              <a:rPr lang="en-US" sz="3200" dirty="0" err="1">
                <a:latin typeface="Consolas" panose="020B0609020204030204" pitchFamily="49" charset="0"/>
              </a:rPr>
              <a:t>do_some_work</a:t>
            </a:r>
            <a:r>
              <a:rPr lang="en-US" sz="3200" dirty="0">
                <a:latin typeface="Consolas" panose="020B0609020204030204" pitchFamily="49" charset="0"/>
              </a:rPr>
              <a:t>);</a:t>
            </a:r>
          </a:p>
        </p:txBody>
      </p:sp>
    </p:spTree>
    <p:extLst>
      <p:ext uri="{BB962C8B-B14F-4D97-AF65-F5344CB8AC3E}">
        <p14:creationId xmlns:p14="http://schemas.microsoft.com/office/powerpoint/2010/main" val="2726132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2E7D00-B4BA-333D-52BF-6A93568EA757}"/>
              </a:ext>
            </a:extLst>
          </p:cNvPr>
          <p:cNvSpPr>
            <a:spLocks noGrp="1"/>
          </p:cNvSpPr>
          <p:nvPr>
            <p:ph type="title"/>
          </p:nvPr>
        </p:nvSpPr>
        <p:spPr/>
        <p:txBody>
          <a:bodyPr/>
          <a:lstStyle/>
          <a:p>
            <a:r>
              <a:rPr lang="en-US" dirty="0"/>
              <a:t>std::thread – </a:t>
            </a:r>
            <a:r>
              <a:rPr lang="ru-RU" dirty="0"/>
              <a:t>Примеры </a:t>
            </a:r>
          </a:p>
        </p:txBody>
      </p:sp>
      <p:sp>
        <p:nvSpPr>
          <p:cNvPr id="3" name="Объект 2">
            <a:extLst>
              <a:ext uri="{FF2B5EF4-FFF2-40B4-BE49-F238E27FC236}">
                <a16:creationId xmlns:a16="http://schemas.microsoft.com/office/drawing/2014/main" id="{6FD18BD9-2FEB-9004-5237-4D4FFF7C0C6E}"/>
              </a:ext>
            </a:extLst>
          </p:cNvPr>
          <p:cNvSpPr>
            <a:spLocks noGrp="1"/>
          </p:cNvSpPr>
          <p:nvPr>
            <p:ph idx="1"/>
          </p:nvPr>
        </p:nvSpPr>
        <p:spPr/>
        <p:txBody>
          <a:bodyPr>
            <a:normAutofit/>
          </a:bodyPr>
          <a:lstStyle/>
          <a:p>
            <a:r>
              <a:rPr lang="en-US" sz="2800" dirty="0">
                <a:latin typeface="Consolas" panose="020B0609020204030204" pitchFamily="49" charset="0"/>
              </a:rPr>
              <a:t>class </a:t>
            </a:r>
            <a:r>
              <a:rPr lang="en-US" sz="2800" dirty="0" err="1">
                <a:latin typeface="Consolas" panose="020B0609020204030204" pitchFamily="49" charset="0"/>
              </a:rPr>
              <a:t>background_task</a:t>
            </a:r>
            <a:r>
              <a:rPr lang="en-US" sz="2800" dirty="0">
                <a:latin typeface="Consolas" panose="020B0609020204030204" pitchFamily="49" charset="0"/>
              </a:rPr>
              <a:t>{</a:t>
            </a:r>
          </a:p>
          <a:p>
            <a:r>
              <a:rPr lang="en-US" sz="2800" dirty="0">
                <a:latin typeface="Consolas" panose="020B0609020204030204" pitchFamily="49" charset="0"/>
              </a:rPr>
              <a:t>public:</a:t>
            </a:r>
          </a:p>
          <a:p>
            <a:r>
              <a:rPr lang="en-US" sz="2800" dirty="0">
                <a:latin typeface="Consolas" panose="020B0609020204030204" pitchFamily="49" charset="0"/>
              </a:rPr>
              <a:t>    void operator()() const {</a:t>
            </a:r>
          </a:p>
          <a:p>
            <a:r>
              <a:rPr lang="en-US" sz="2800" dirty="0">
                <a:latin typeface="Consolas" panose="020B0609020204030204" pitchFamily="49" charset="0"/>
              </a:rPr>
              <a:t>        </a:t>
            </a:r>
            <a:r>
              <a:rPr lang="en-US" sz="2800" dirty="0" err="1">
                <a:latin typeface="Consolas" panose="020B0609020204030204" pitchFamily="49" charset="0"/>
              </a:rPr>
              <a:t>do_something</a:t>
            </a:r>
            <a:r>
              <a:rPr lang="en-US" sz="2800" dirty="0">
                <a:latin typeface="Consolas" panose="020B0609020204030204" pitchFamily="49" charset="0"/>
              </a:rPr>
              <a:t>();</a:t>
            </a:r>
          </a:p>
          <a:p>
            <a:r>
              <a:rPr lang="en-US" sz="2800" dirty="0">
                <a:latin typeface="Consolas" panose="020B0609020204030204" pitchFamily="49" charset="0"/>
              </a:rPr>
              <a:t>        </a:t>
            </a:r>
            <a:r>
              <a:rPr lang="en-US" sz="2800" dirty="0" err="1">
                <a:latin typeface="Consolas" panose="020B0609020204030204" pitchFamily="49" charset="0"/>
              </a:rPr>
              <a:t>do_something_else</a:t>
            </a:r>
            <a:r>
              <a:rPr lang="en-US" sz="2800" dirty="0">
                <a:latin typeface="Consolas" panose="020B0609020204030204" pitchFamily="49" charset="0"/>
              </a:rPr>
              <a:t>();</a:t>
            </a:r>
          </a:p>
          <a:p>
            <a:r>
              <a:rPr lang="en-US" sz="2800" dirty="0">
                <a:latin typeface="Consolas" panose="020B0609020204030204" pitchFamily="49" charset="0"/>
              </a:rPr>
              <a:t>    }</a:t>
            </a:r>
          </a:p>
          <a:p>
            <a:r>
              <a:rPr lang="en-US" sz="2800" dirty="0">
                <a:latin typeface="Consolas" panose="020B0609020204030204" pitchFamily="49" charset="0"/>
              </a:rPr>
              <a:t>};</a:t>
            </a:r>
          </a:p>
          <a:p>
            <a:r>
              <a:rPr lang="en-US" sz="2800" dirty="0" err="1">
                <a:latin typeface="Consolas" panose="020B0609020204030204" pitchFamily="49" charset="0"/>
              </a:rPr>
              <a:t>background_task</a:t>
            </a:r>
            <a:r>
              <a:rPr lang="en-US" sz="2800" dirty="0">
                <a:latin typeface="Consolas" panose="020B0609020204030204" pitchFamily="49" charset="0"/>
              </a:rPr>
              <a:t> f;</a:t>
            </a:r>
          </a:p>
          <a:p>
            <a:r>
              <a:rPr lang="en-US" sz="2800" dirty="0">
                <a:latin typeface="Consolas" panose="020B0609020204030204" pitchFamily="49" charset="0"/>
              </a:rPr>
              <a:t>std::thread </a:t>
            </a:r>
            <a:r>
              <a:rPr lang="en-US" sz="2800" dirty="0" err="1">
                <a:latin typeface="Consolas" panose="020B0609020204030204" pitchFamily="49" charset="0"/>
              </a:rPr>
              <a:t>my_thread</a:t>
            </a:r>
            <a:r>
              <a:rPr lang="en-US" sz="2800" dirty="0">
                <a:latin typeface="Consolas" panose="020B0609020204030204" pitchFamily="49" charset="0"/>
              </a:rPr>
              <a:t>(f);</a:t>
            </a:r>
            <a:endParaRPr lang="ru-RU" sz="2800" dirty="0">
              <a:latin typeface="Consolas" panose="020B0609020204030204" pitchFamily="49" charset="0"/>
            </a:endParaRPr>
          </a:p>
          <a:p>
            <a:endParaRPr lang="ru-RU" dirty="0"/>
          </a:p>
        </p:txBody>
      </p:sp>
    </p:spTree>
    <p:extLst>
      <p:ext uri="{BB962C8B-B14F-4D97-AF65-F5344CB8AC3E}">
        <p14:creationId xmlns:p14="http://schemas.microsoft.com/office/powerpoint/2010/main" val="2236382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2E7D00-B4BA-333D-52BF-6A93568EA757}"/>
              </a:ext>
            </a:extLst>
          </p:cNvPr>
          <p:cNvSpPr>
            <a:spLocks noGrp="1"/>
          </p:cNvSpPr>
          <p:nvPr>
            <p:ph type="title"/>
          </p:nvPr>
        </p:nvSpPr>
        <p:spPr/>
        <p:txBody>
          <a:bodyPr/>
          <a:lstStyle/>
          <a:p>
            <a:r>
              <a:rPr lang="en-US" dirty="0"/>
              <a:t>std::thread – </a:t>
            </a:r>
            <a:r>
              <a:rPr lang="ru-RU" dirty="0"/>
              <a:t>Примеры </a:t>
            </a:r>
          </a:p>
        </p:txBody>
      </p:sp>
      <p:sp>
        <p:nvSpPr>
          <p:cNvPr id="3" name="Объект 2">
            <a:extLst>
              <a:ext uri="{FF2B5EF4-FFF2-40B4-BE49-F238E27FC236}">
                <a16:creationId xmlns:a16="http://schemas.microsoft.com/office/drawing/2014/main" id="{6FD18BD9-2FEB-9004-5237-4D4FFF7C0C6E}"/>
              </a:ext>
            </a:extLst>
          </p:cNvPr>
          <p:cNvSpPr>
            <a:spLocks noGrp="1"/>
          </p:cNvSpPr>
          <p:nvPr>
            <p:ph idx="1"/>
          </p:nvPr>
        </p:nvSpPr>
        <p:spPr/>
        <p:txBody>
          <a:bodyPr>
            <a:normAutofit/>
          </a:bodyPr>
          <a:lstStyle/>
          <a:p>
            <a:r>
              <a:rPr lang="en-US" dirty="0"/>
              <a:t>std::thread </a:t>
            </a:r>
            <a:r>
              <a:rPr lang="en-US" dirty="0" err="1"/>
              <a:t>my_thread</a:t>
            </a:r>
            <a:r>
              <a:rPr lang="en-US" dirty="0"/>
              <a:t>([]{</a:t>
            </a:r>
          </a:p>
          <a:p>
            <a:r>
              <a:rPr lang="en-US" dirty="0"/>
              <a:t>    </a:t>
            </a:r>
            <a:r>
              <a:rPr lang="en-US" dirty="0" err="1"/>
              <a:t>do_something</a:t>
            </a:r>
            <a:r>
              <a:rPr lang="en-US" dirty="0"/>
              <a:t>();</a:t>
            </a:r>
          </a:p>
          <a:p>
            <a:r>
              <a:rPr lang="en-US" dirty="0"/>
              <a:t>    </a:t>
            </a:r>
            <a:r>
              <a:rPr lang="en-US" dirty="0" err="1"/>
              <a:t>do_something_else</a:t>
            </a:r>
            <a:r>
              <a:rPr lang="en-US" dirty="0"/>
              <a:t>();</a:t>
            </a:r>
          </a:p>
          <a:p>
            <a:r>
              <a:rPr lang="en-US" dirty="0"/>
              <a:t>});</a:t>
            </a:r>
            <a:endParaRPr lang="ru-RU" dirty="0"/>
          </a:p>
        </p:txBody>
      </p:sp>
    </p:spTree>
    <p:extLst>
      <p:ext uri="{BB962C8B-B14F-4D97-AF65-F5344CB8AC3E}">
        <p14:creationId xmlns:p14="http://schemas.microsoft.com/office/powerpoint/2010/main" val="1926459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C10389-F558-DA68-34E2-AD752AC37623}"/>
              </a:ext>
            </a:extLst>
          </p:cNvPr>
          <p:cNvSpPr>
            <a:spLocks noGrp="1"/>
          </p:cNvSpPr>
          <p:nvPr>
            <p:ph type="title"/>
          </p:nvPr>
        </p:nvSpPr>
        <p:spPr/>
        <p:txBody>
          <a:bodyPr/>
          <a:lstStyle/>
          <a:p>
            <a:r>
              <a:rPr lang="en-US" dirty="0"/>
              <a:t>std::thread – join()</a:t>
            </a:r>
            <a:endParaRPr lang="ru-RU" dirty="0"/>
          </a:p>
        </p:txBody>
      </p:sp>
      <p:sp>
        <p:nvSpPr>
          <p:cNvPr id="3" name="Объект 2">
            <a:extLst>
              <a:ext uri="{FF2B5EF4-FFF2-40B4-BE49-F238E27FC236}">
                <a16:creationId xmlns:a16="http://schemas.microsoft.com/office/drawing/2014/main" id="{F5B17C82-1DE5-0BAC-5159-F8346398EC74}"/>
              </a:ext>
            </a:extLst>
          </p:cNvPr>
          <p:cNvSpPr>
            <a:spLocks noGrp="1"/>
          </p:cNvSpPr>
          <p:nvPr>
            <p:ph idx="1"/>
          </p:nvPr>
        </p:nvSpPr>
        <p:spPr/>
        <p:txBody>
          <a:bodyPr/>
          <a:lstStyle/>
          <a:p>
            <a:r>
              <a:rPr lang="ru-RU" dirty="0"/>
              <a:t>Ожидаем завершения потока выполнения</a:t>
            </a:r>
            <a:r>
              <a:rPr lang="en-US" dirty="0"/>
              <a:t>.</a:t>
            </a:r>
          </a:p>
          <a:p>
            <a:r>
              <a:rPr lang="ru-RU" dirty="0"/>
              <a:t>Используем тогда, когда нам необходимо дождаться завершения всех операций внутри данного потока.</a:t>
            </a:r>
          </a:p>
          <a:p>
            <a:endParaRPr lang="ru-RU" dirty="0"/>
          </a:p>
        </p:txBody>
      </p:sp>
    </p:spTree>
    <p:extLst>
      <p:ext uri="{BB962C8B-B14F-4D97-AF65-F5344CB8AC3E}">
        <p14:creationId xmlns:p14="http://schemas.microsoft.com/office/powerpoint/2010/main" val="659081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F53FCA-7205-7E89-B997-70CEE3586902}"/>
              </a:ext>
            </a:extLst>
          </p:cNvPr>
          <p:cNvSpPr>
            <a:spLocks noGrp="1"/>
          </p:cNvSpPr>
          <p:nvPr>
            <p:ph type="title"/>
          </p:nvPr>
        </p:nvSpPr>
        <p:spPr/>
        <p:txBody>
          <a:bodyPr/>
          <a:lstStyle/>
          <a:p>
            <a:r>
              <a:rPr lang="en-US" dirty="0"/>
              <a:t>std::thread – detach()</a:t>
            </a:r>
            <a:endParaRPr lang="ru-RU" dirty="0"/>
          </a:p>
        </p:txBody>
      </p:sp>
      <p:sp>
        <p:nvSpPr>
          <p:cNvPr id="3" name="Объект 2">
            <a:extLst>
              <a:ext uri="{FF2B5EF4-FFF2-40B4-BE49-F238E27FC236}">
                <a16:creationId xmlns:a16="http://schemas.microsoft.com/office/drawing/2014/main" id="{45B7C635-88CD-C682-E2DA-4AD6F643AC86}"/>
              </a:ext>
            </a:extLst>
          </p:cNvPr>
          <p:cNvSpPr>
            <a:spLocks noGrp="1"/>
          </p:cNvSpPr>
          <p:nvPr>
            <p:ph idx="1"/>
          </p:nvPr>
        </p:nvSpPr>
        <p:spPr/>
        <p:txBody>
          <a:bodyPr/>
          <a:lstStyle/>
          <a:p>
            <a:r>
              <a:rPr lang="ru-RU" dirty="0"/>
              <a:t>Позволяет потоку выполнять действия самостоятельно в фоновом режиме.</a:t>
            </a:r>
          </a:p>
          <a:p>
            <a:r>
              <a:rPr lang="ru-RU" dirty="0"/>
              <a:t>Дождаться завершения фонового потока невозможно (нельзя вызвать </a:t>
            </a:r>
            <a:r>
              <a:rPr lang="en-HK" dirty="0"/>
              <a:t>join).</a:t>
            </a:r>
          </a:p>
          <a:p>
            <a:endParaRPr lang="en-HK" dirty="0"/>
          </a:p>
          <a:p>
            <a:pPr algn="just"/>
            <a:r>
              <a:rPr lang="ru-RU" dirty="0">
                <a:solidFill>
                  <a:srgbClr val="333333"/>
                </a:solidFill>
              </a:rPr>
              <a:t>В</a:t>
            </a:r>
            <a:r>
              <a:rPr lang="ru-RU" b="0" i="0" dirty="0">
                <a:solidFill>
                  <a:srgbClr val="333333"/>
                </a:solidFill>
                <a:effectLst/>
              </a:rPr>
              <a:t>ладение и управление ими передаются в библиотеку среды выполнения C++, которая гарантирует правильное высвобождение ресурсов, связанных с потоком, при выходе из него.</a:t>
            </a:r>
            <a:endParaRPr lang="ru-RU" dirty="0"/>
          </a:p>
        </p:txBody>
      </p:sp>
    </p:spTree>
    <p:extLst>
      <p:ext uri="{BB962C8B-B14F-4D97-AF65-F5344CB8AC3E}">
        <p14:creationId xmlns:p14="http://schemas.microsoft.com/office/powerpoint/2010/main" val="3506367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9509CA-BCFD-2573-9614-1794A1D0F484}"/>
              </a:ext>
            </a:extLst>
          </p:cNvPr>
          <p:cNvSpPr>
            <a:spLocks noGrp="1"/>
          </p:cNvSpPr>
          <p:nvPr>
            <p:ph type="title"/>
          </p:nvPr>
        </p:nvSpPr>
        <p:spPr/>
        <p:txBody>
          <a:bodyPr/>
          <a:lstStyle/>
          <a:p>
            <a:r>
              <a:rPr lang="en-US" dirty="0"/>
              <a:t>std::thread – </a:t>
            </a:r>
            <a:r>
              <a:rPr lang="ru-RU" dirty="0"/>
              <a:t>Передача аргументов</a:t>
            </a:r>
          </a:p>
        </p:txBody>
      </p:sp>
      <p:sp>
        <p:nvSpPr>
          <p:cNvPr id="3" name="Объект 2">
            <a:extLst>
              <a:ext uri="{FF2B5EF4-FFF2-40B4-BE49-F238E27FC236}">
                <a16:creationId xmlns:a16="http://schemas.microsoft.com/office/drawing/2014/main" id="{4233D482-BB6B-2751-A2AD-D98CCA952CA3}"/>
              </a:ext>
            </a:extLst>
          </p:cNvPr>
          <p:cNvSpPr>
            <a:spLocks noGrp="1"/>
          </p:cNvSpPr>
          <p:nvPr>
            <p:ph idx="1"/>
          </p:nvPr>
        </p:nvSpPr>
        <p:spPr/>
        <p:txBody>
          <a:bodyPr>
            <a:normAutofit/>
          </a:bodyPr>
          <a:lstStyle/>
          <a:p>
            <a:endParaRPr lang="ru-RU" sz="4000" dirty="0">
              <a:latin typeface="Consolas" panose="020B0609020204030204" pitchFamily="49" charset="0"/>
            </a:endParaRPr>
          </a:p>
          <a:p>
            <a:endParaRPr lang="ru-RU" sz="4000" dirty="0">
              <a:latin typeface="Consolas" panose="020B0609020204030204" pitchFamily="49" charset="0"/>
            </a:endParaRPr>
          </a:p>
          <a:p>
            <a:endParaRPr lang="ru-RU" sz="4000" dirty="0">
              <a:latin typeface="Consolas" panose="020B0609020204030204" pitchFamily="49" charset="0"/>
            </a:endParaRPr>
          </a:p>
          <a:p>
            <a:r>
              <a:rPr lang="en-US" sz="4000" dirty="0">
                <a:latin typeface="Consolas" panose="020B0609020204030204" pitchFamily="49" charset="0"/>
              </a:rPr>
              <a:t>void f(int </a:t>
            </a:r>
            <a:r>
              <a:rPr lang="en-US" sz="4000" dirty="0" err="1">
                <a:latin typeface="Consolas" panose="020B0609020204030204" pitchFamily="49" charset="0"/>
              </a:rPr>
              <a:t>i</a:t>
            </a:r>
            <a:r>
              <a:rPr lang="en-US" sz="4000" dirty="0">
                <a:latin typeface="Consolas" panose="020B0609020204030204" pitchFamily="49" charset="0"/>
              </a:rPr>
              <a:t>,</a:t>
            </a:r>
            <a:r>
              <a:rPr lang="ru-RU" sz="4000" dirty="0">
                <a:latin typeface="Consolas" panose="020B0609020204030204" pitchFamily="49" charset="0"/>
              </a:rPr>
              <a:t> </a:t>
            </a:r>
            <a:r>
              <a:rPr lang="en-US" sz="4000" dirty="0">
                <a:latin typeface="Consolas" panose="020B0609020204030204" pitchFamily="49" charset="0"/>
              </a:rPr>
              <a:t>std::string const&amp; s);</a:t>
            </a:r>
          </a:p>
          <a:p>
            <a:r>
              <a:rPr lang="en-US" sz="4000" dirty="0">
                <a:latin typeface="Consolas" panose="020B0609020204030204" pitchFamily="49" charset="0"/>
              </a:rPr>
              <a:t>std::thread t(f,3,"hello");</a:t>
            </a:r>
            <a:endParaRPr lang="ru-RU" sz="4000" dirty="0">
              <a:latin typeface="Consolas" panose="020B0609020204030204" pitchFamily="49" charset="0"/>
            </a:endParaRPr>
          </a:p>
        </p:txBody>
      </p:sp>
    </p:spTree>
    <p:extLst>
      <p:ext uri="{BB962C8B-B14F-4D97-AF65-F5344CB8AC3E}">
        <p14:creationId xmlns:p14="http://schemas.microsoft.com/office/powerpoint/2010/main" val="1518957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9509CA-BCFD-2573-9614-1794A1D0F484}"/>
              </a:ext>
            </a:extLst>
          </p:cNvPr>
          <p:cNvSpPr>
            <a:spLocks noGrp="1"/>
          </p:cNvSpPr>
          <p:nvPr>
            <p:ph type="title"/>
          </p:nvPr>
        </p:nvSpPr>
        <p:spPr/>
        <p:txBody>
          <a:bodyPr/>
          <a:lstStyle/>
          <a:p>
            <a:r>
              <a:rPr lang="en-US" dirty="0"/>
              <a:t>std::thread – </a:t>
            </a:r>
            <a:r>
              <a:rPr lang="ru-RU" dirty="0"/>
              <a:t>Передача аргументов</a:t>
            </a:r>
          </a:p>
        </p:txBody>
      </p:sp>
      <p:sp>
        <p:nvSpPr>
          <p:cNvPr id="3" name="Объект 2">
            <a:extLst>
              <a:ext uri="{FF2B5EF4-FFF2-40B4-BE49-F238E27FC236}">
                <a16:creationId xmlns:a16="http://schemas.microsoft.com/office/drawing/2014/main" id="{4233D482-BB6B-2751-A2AD-D98CCA952CA3}"/>
              </a:ext>
            </a:extLst>
          </p:cNvPr>
          <p:cNvSpPr>
            <a:spLocks noGrp="1"/>
          </p:cNvSpPr>
          <p:nvPr>
            <p:ph idx="1"/>
          </p:nvPr>
        </p:nvSpPr>
        <p:spPr/>
        <p:txBody>
          <a:bodyPr>
            <a:normAutofit/>
          </a:bodyPr>
          <a:lstStyle/>
          <a:p>
            <a:r>
              <a:rPr lang="en-US" sz="3200" dirty="0">
                <a:latin typeface="Consolas" panose="020B0609020204030204" pitchFamily="49" charset="0"/>
              </a:rPr>
              <a:t>void f(int </a:t>
            </a:r>
            <a:r>
              <a:rPr lang="en-US" sz="3200" dirty="0" err="1">
                <a:latin typeface="Consolas" panose="020B0609020204030204" pitchFamily="49" charset="0"/>
              </a:rPr>
              <a:t>i,std</a:t>
            </a:r>
            <a:r>
              <a:rPr lang="en-US" sz="3200" dirty="0">
                <a:latin typeface="Consolas" panose="020B0609020204030204" pitchFamily="49" charset="0"/>
              </a:rPr>
              <a:t>::string const&amp; s);</a:t>
            </a:r>
          </a:p>
          <a:p>
            <a:r>
              <a:rPr lang="en-US" sz="3200" dirty="0">
                <a:latin typeface="Consolas" panose="020B0609020204030204" pitchFamily="49" charset="0"/>
              </a:rPr>
              <a:t>void oops(int </a:t>
            </a:r>
            <a:r>
              <a:rPr lang="en-US" sz="3200" dirty="0" err="1">
                <a:latin typeface="Consolas" panose="020B0609020204030204" pitchFamily="49" charset="0"/>
              </a:rPr>
              <a:t>some_param</a:t>
            </a:r>
            <a:r>
              <a:rPr lang="en-US" sz="3200" dirty="0">
                <a:latin typeface="Consolas" panose="020B0609020204030204" pitchFamily="49" charset="0"/>
              </a:rPr>
              <a:t>) {</a:t>
            </a:r>
          </a:p>
          <a:p>
            <a:r>
              <a:rPr lang="en-US" sz="3200" dirty="0">
                <a:latin typeface="Consolas" panose="020B0609020204030204" pitchFamily="49" charset="0"/>
              </a:rPr>
              <a:t>    char buffer[1024];</a:t>
            </a:r>
          </a:p>
          <a:p>
            <a:r>
              <a:rPr lang="en-US" sz="3200" dirty="0">
                <a:latin typeface="Consolas" panose="020B0609020204030204" pitchFamily="49" charset="0"/>
              </a:rPr>
              <a:t>    </a:t>
            </a:r>
            <a:r>
              <a:rPr lang="en-US" sz="3200" dirty="0" err="1">
                <a:latin typeface="Consolas" panose="020B0609020204030204" pitchFamily="49" charset="0"/>
              </a:rPr>
              <a:t>sprintf</a:t>
            </a:r>
            <a:r>
              <a:rPr lang="en-US" sz="3200" dirty="0">
                <a:latin typeface="Consolas" panose="020B0609020204030204" pitchFamily="49" charset="0"/>
              </a:rPr>
              <a:t>(buffer, "%</a:t>
            </a:r>
            <a:r>
              <a:rPr lang="en-US" sz="3200" dirty="0" err="1">
                <a:latin typeface="Consolas" panose="020B0609020204030204" pitchFamily="49" charset="0"/>
              </a:rPr>
              <a:t>i</a:t>
            </a:r>
            <a:r>
              <a:rPr lang="en-US" sz="3200" dirty="0">
                <a:latin typeface="Consolas" panose="020B0609020204030204" pitchFamily="49" charset="0"/>
              </a:rPr>
              <a:t>",</a:t>
            </a:r>
            <a:r>
              <a:rPr lang="en-US" sz="3200" dirty="0" err="1">
                <a:latin typeface="Consolas" panose="020B0609020204030204" pitchFamily="49" charset="0"/>
              </a:rPr>
              <a:t>some_param</a:t>
            </a:r>
            <a:r>
              <a:rPr lang="en-US" sz="3200" dirty="0">
                <a:latin typeface="Consolas" panose="020B0609020204030204" pitchFamily="49" charset="0"/>
              </a:rPr>
              <a:t>);</a:t>
            </a:r>
          </a:p>
          <a:p>
            <a:r>
              <a:rPr lang="en-US" sz="3200" dirty="0">
                <a:latin typeface="Consolas" panose="020B0609020204030204" pitchFamily="49" charset="0"/>
              </a:rPr>
              <a:t>    </a:t>
            </a:r>
            <a:r>
              <a:rPr lang="en-US" sz="3200" dirty="0">
                <a:solidFill>
                  <a:srgbClr val="FF0000"/>
                </a:solidFill>
                <a:latin typeface="Consolas" panose="020B0609020204030204" pitchFamily="49" charset="0"/>
              </a:rPr>
              <a:t>std::thread t(f,3,buffer);</a:t>
            </a:r>
          </a:p>
          <a:p>
            <a:r>
              <a:rPr lang="en-US" sz="3200" dirty="0">
                <a:latin typeface="Consolas" panose="020B0609020204030204" pitchFamily="49" charset="0"/>
              </a:rPr>
              <a:t>    </a:t>
            </a:r>
            <a:r>
              <a:rPr lang="en-US" sz="3200" dirty="0" err="1">
                <a:latin typeface="Consolas" panose="020B0609020204030204" pitchFamily="49" charset="0"/>
              </a:rPr>
              <a:t>t.detach</a:t>
            </a:r>
            <a:r>
              <a:rPr lang="en-US" sz="3200" dirty="0">
                <a:latin typeface="Consolas" panose="020B0609020204030204" pitchFamily="49" charset="0"/>
              </a:rPr>
              <a:t>();</a:t>
            </a:r>
          </a:p>
          <a:p>
            <a:r>
              <a:rPr lang="en-US" sz="3200" dirty="0">
                <a:latin typeface="Consolas" panose="020B0609020204030204" pitchFamily="49" charset="0"/>
              </a:rPr>
              <a:t>}</a:t>
            </a:r>
            <a:endParaRPr lang="ru-RU" sz="3200" dirty="0">
              <a:latin typeface="Consolas" panose="020B0609020204030204" pitchFamily="49" charset="0"/>
            </a:endParaRPr>
          </a:p>
        </p:txBody>
      </p:sp>
    </p:spTree>
    <p:extLst>
      <p:ext uri="{BB962C8B-B14F-4D97-AF65-F5344CB8AC3E}">
        <p14:creationId xmlns:p14="http://schemas.microsoft.com/office/powerpoint/2010/main" val="240982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9509CA-BCFD-2573-9614-1794A1D0F484}"/>
              </a:ext>
            </a:extLst>
          </p:cNvPr>
          <p:cNvSpPr>
            <a:spLocks noGrp="1"/>
          </p:cNvSpPr>
          <p:nvPr>
            <p:ph type="title"/>
          </p:nvPr>
        </p:nvSpPr>
        <p:spPr/>
        <p:txBody>
          <a:bodyPr/>
          <a:lstStyle/>
          <a:p>
            <a:r>
              <a:rPr lang="en-US" dirty="0"/>
              <a:t>std::thread – </a:t>
            </a:r>
            <a:r>
              <a:rPr lang="ru-RU" dirty="0"/>
              <a:t>Передача аргументов</a:t>
            </a:r>
          </a:p>
        </p:txBody>
      </p:sp>
      <p:sp>
        <p:nvSpPr>
          <p:cNvPr id="3" name="Объект 2">
            <a:extLst>
              <a:ext uri="{FF2B5EF4-FFF2-40B4-BE49-F238E27FC236}">
                <a16:creationId xmlns:a16="http://schemas.microsoft.com/office/drawing/2014/main" id="{4233D482-BB6B-2751-A2AD-D98CCA952CA3}"/>
              </a:ext>
            </a:extLst>
          </p:cNvPr>
          <p:cNvSpPr>
            <a:spLocks noGrp="1"/>
          </p:cNvSpPr>
          <p:nvPr>
            <p:ph idx="1"/>
          </p:nvPr>
        </p:nvSpPr>
        <p:spPr/>
        <p:txBody>
          <a:bodyPr>
            <a:normAutofit/>
          </a:bodyPr>
          <a:lstStyle/>
          <a:p>
            <a:r>
              <a:rPr lang="en-US" sz="3200" dirty="0">
                <a:latin typeface="Consolas" panose="020B0609020204030204" pitchFamily="49" charset="0"/>
              </a:rPr>
              <a:t>void f(int </a:t>
            </a:r>
            <a:r>
              <a:rPr lang="en-US" sz="3200" dirty="0" err="1">
                <a:latin typeface="Consolas" panose="020B0609020204030204" pitchFamily="49" charset="0"/>
              </a:rPr>
              <a:t>i,std</a:t>
            </a:r>
            <a:r>
              <a:rPr lang="en-US" sz="3200" dirty="0">
                <a:latin typeface="Consolas" panose="020B0609020204030204" pitchFamily="49" charset="0"/>
              </a:rPr>
              <a:t>::string const&amp; s);</a:t>
            </a:r>
          </a:p>
          <a:p>
            <a:r>
              <a:rPr lang="en-US" sz="3200" dirty="0">
                <a:latin typeface="Consolas" panose="020B0609020204030204" pitchFamily="49" charset="0"/>
              </a:rPr>
              <a:t>void oops(int </a:t>
            </a:r>
            <a:r>
              <a:rPr lang="en-US" sz="3200" dirty="0" err="1">
                <a:latin typeface="Consolas" panose="020B0609020204030204" pitchFamily="49" charset="0"/>
              </a:rPr>
              <a:t>some_param</a:t>
            </a:r>
            <a:r>
              <a:rPr lang="en-US" sz="3200" dirty="0">
                <a:latin typeface="Consolas" panose="020B0609020204030204" pitchFamily="49" charset="0"/>
              </a:rPr>
              <a:t>) {</a:t>
            </a:r>
          </a:p>
          <a:p>
            <a:r>
              <a:rPr lang="en-US" sz="3200" dirty="0">
                <a:latin typeface="Consolas" panose="020B0609020204030204" pitchFamily="49" charset="0"/>
              </a:rPr>
              <a:t>    char buffer[1024];</a:t>
            </a:r>
          </a:p>
          <a:p>
            <a:r>
              <a:rPr lang="en-US" sz="3200" dirty="0">
                <a:latin typeface="Consolas" panose="020B0609020204030204" pitchFamily="49" charset="0"/>
              </a:rPr>
              <a:t>    </a:t>
            </a:r>
            <a:r>
              <a:rPr lang="en-US" sz="3200" dirty="0" err="1">
                <a:latin typeface="Consolas" panose="020B0609020204030204" pitchFamily="49" charset="0"/>
              </a:rPr>
              <a:t>sprintf</a:t>
            </a:r>
            <a:r>
              <a:rPr lang="en-US" sz="3200" dirty="0">
                <a:latin typeface="Consolas" panose="020B0609020204030204" pitchFamily="49" charset="0"/>
              </a:rPr>
              <a:t>(buffer, "%</a:t>
            </a:r>
            <a:r>
              <a:rPr lang="en-US" sz="3200" dirty="0" err="1">
                <a:latin typeface="Consolas" panose="020B0609020204030204" pitchFamily="49" charset="0"/>
              </a:rPr>
              <a:t>i</a:t>
            </a:r>
            <a:r>
              <a:rPr lang="en-US" sz="3200" dirty="0">
                <a:latin typeface="Consolas" panose="020B0609020204030204" pitchFamily="49" charset="0"/>
              </a:rPr>
              <a:t>",</a:t>
            </a:r>
            <a:r>
              <a:rPr lang="en-US" sz="3200" dirty="0" err="1">
                <a:latin typeface="Consolas" panose="020B0609020204030204" pitchFamily="49" charset="0"/>
              </a:rPr>
              <a:t>some_param</a:t>
            </a:r>
            <a:r>
              <a:rPr lang="en-US" sz="3200" dirty="0">
                <a:latin typeface="Consolas" panose="020B0609020204030204" pitchFamily="49" charset="0"/>
              </a:rPr>
              <a:t>);</a:t>
            </a:r>
          </a:p>
          <a:p>
            <a:r>
              <a:rPr lang="en-US" sz="3200" dirty="0">
                <a:latin typeface="Consolas" panose="020B0609020204030204" pitchFamily="49" charset="0"/>
              </a:rPr>
              <a:t>    </a:t>
            </a:r>
            <a:r>
              <a:rPr lang="en-US" sz="3200" dirty="0">
                <a:solidFill>
                  <a:srgbClr val="00B050"/>
                </a:solidFill>
                <a:latin typeface="Consolas" panose="020B0609020204030204" pitchFamily="49" charset="0"/>
              </a:rPr>
              <a:t>std::thread t(f,3,std::string(buffer));</a:t>
            </a:r>
          </a:p>
          <a:p>
            <a:r>
              <a:rPr lang="en-US" sz="3200" dirty="0">
                <a:latin typeface="Consolas" panose="020B0609020204030204" pitchFamily="49" charset="0"/>
              </a:rPr>
              <a:t>    </a:t>
            </a:r>
            <a:r>
              <a:rPr lang="en-US" sz="3200" dirty="0" err="1">
                <a:latin typeface="Consolas" panose="020B0609020204030204" pitchFamily="49" charset="0"/>
              </a:rPr>
              <a:t>t.detach</a:t>
            </a:r>
            <a:r>
              <a:rPr lang="en-US" sz="3200" dirty="0">
                <a:latin typeface="Consolas" panose="020B0609020204030204" pitchFamily="49" charset="0"/>
              </a:rPr>
              <a:t>();</a:t>
            </a:r>
          </a:p>
          <a:p>
            <a:r>
              <a:rPr lang="en-US" sz="3200" dirty="0">
                <a:latin typeface="Consolas" panose="020B0609020204030204" pitchFamily="49" charset="0"/>
              </a:rPr>
              <a:t>}</a:t>
            </a:r>
            <a:endParaRPr lang="ru-RU" sz="3200" dirty="0">
              <a:latin typeface="Consolas" panose="020B0609020204030204" pitchFamily="49" charset="0"/>
            </a:endParaRPr>
          </a:p>
        </p:txBody>
      </p:sp>
    </p:spTree>
    <p:extLst>
      <p:ext uri="{BB962C8B-B14F-4D97-AF65-F5344CB8AC3E}">
        <p14:creationId xmlns:p14="http://schemas.microsoft.com/office/powerpoint/2010/main" val="3145910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BD9986-C3C2-F651-4614-100EA829197E}"/>
              </a:ext>
            </a:extLst>
          </p:cNvPr>
          <p:cNvSpPr>
            <a:spLocks noGrp="1"/>
          </p:cNvSpPr>
          <p:nvPr>
            <p:ph type="title"/>
          </p:nvPr>
        </p:nvSpPr>
        <p:spPr/>
        <p:txBody>
          <a:bodyPr/>
          <a:lstStyle/>
          <a:p>
            <a:r>
              <a:rPr lang="en-US" dirty="0"/>
              <a:t>std::thread – </a:t>
            </a:r>
            <a:r>
              <a:rPr lang="ru-RU" dirty="0"/>
              <a:t>Передача аргументов</a:t>
            </a:r>
          </a:p>
        </p:txBody>
      </p:sp>
      <p:sp>
        <p:nvSpPr>
          <p:cNvPr id="3" name="Объект 2">
            <a:extLst>
              <a:ext uri="{FF2B5EF4-FFF2-40B4-BE49-F238E27FC236}">
                <a16:creationId xmlns:a16="http://schemas.microsoft.com/office/drawing/2014/main" id="{EBE188C3-2B9A-6C96-C9C7-9AA7F99CE917}"/>
              </a:ext>
            </a:extLst>
          </p:cNvPr>
          <p:cNvSpPr>
            <a:spLocks noGrp="1"/>
          </p:cNvSpPr>
          <p:nvPr>
            <p:ph idx="1"/>
          </p:nvPr>
        </p:nvSpPr>
        <p:spPr/>
        <p:txBody>
          <a:bodyPr>
            <a:normAutofit/>
          </a:bodyPr>
          <a:lstStyle/>
          <a:p>
            <a:r>
              <a:rPr lang="en-US" sz="2400" dirty="0">
                <a:latin typeface="Consolas" panose="020B0609020204030204" pitchFamily="49" charset="0"/>
              </a:rPr>
              <a:t>void </a:t>
            </a:r>
            <a:r>
              <a:rPr lang="en-US" sz="2400" dirty="0" err="1">
                <a:latin typeface="Consolas" panose="020B0609020204030204" pitchFamily="49" charset="0"/>
              </a:rPr>
              <a:t>update_data_for_widget</a:t>
            </a:r>
            <a:r>
              <a:rPr lang="en-US" sz="2400" dirty="0">
                <a:latin typeface="Consolas" panose="020B0609020204030204" pitchFamily="49" charset="0"/>
              </a:rPr>
              <a:t>(</a:t>
            </a:r>
            <a:r>
              <a:rPr lang="en-US" sz="2400" dirty="0" err="1">
                <a:latin typeface="Consolas" panose="020B0609020204030204" pitchFamily="49" charset="0"/>
              </a:rPr>
              <a:t>widget_id</a:t>
            </a:r>
            <a:r>
              <a:rPr lang="en-US" sz="2400" dirty="0">
                <a:latin typeface="Consolas" panose="020B0609020204030204" pitchFamily="49" charset="0"/>
              </a:rPr>
              <a:t> w, </a:t>
            </a:r>
            <a:r>
              <a:rPr lang="en-US" sz="2400" dirty="0" err="1">
                <a:solidFill>
                  <a:srgbClr val="0070C0"/>
                </a:solidFill>
                <a:latin typeface="Consolas" panose="020B0609020204030204" pitchFamily="49" charset="0"/>
              </a:rPr>
              <a:t>widget_data</a:t>
            </a:r>
            <a:r>
              <a:rPr lang="en-US" sz="2400" dirty="0">
                <a:solidFill>
                  <a:srgbClr val="0070C0"/>
                </a:solidFill>
                <a:latin typeface="Consolas" panose="020B0609020204030204" pitchFamily="49" charset="0"/>
              </a:rPr>
              <a:t>&amp; data</a:t>
            </a:r>
            <a:r>
              <a:rPr lang="en-US" sz="2400" dirty="0">
                <a:latin typeface="Consolas" panose="020B0609020204030204" pitchFamily="49" charset="0"/>
              </a:rPr>
              <a:t>);</a:t>
            </a:r>
          </a:p>
          <a:p>
            <a:r>
              <a:rPr lang="en-US" sz="2400" dirty="0">
                <a:latin typeface="Consolas" panose="020B0609020204030204" pitchFamily="49" charset="0"/>
              </a:rPr>
              <a:t>void </a:t>
            </a:r>
            <a:r>
              <a:rPr lang="en-US" sz="2400" dirty="0" err="1">
                <a:latin typeface="Consolas" panose="020B0609020204030204" pitchFamily="49" charset="0"/>
              </a:rPr>
              <a:t>oops_again</a:t>
            </a:r>
            <a:r>
              <a:rPr lang="en-US" sz="2400" dirty="0">
                <a:latin typeface="Consolas" panose="020B0609020204030204" pitchFamily="49" charset="0"/>
              </a:rPr>
              <a:t>(</a:t>
            </a:r>
            <a:r>
              <a:rPr lang="en-US" sz="2400" dirty="0" err="1">
                <a:latin typeface="Consolas" panose="020B0609020204030204" pitchFamily="49" charset="0"/>
              </a:rPr>
              <a:t>widget_id</a:t>
            </a:r>
            <a:r>
              <a:rPr lang="en-US" sz="2400" dirty="0">
                <a:latin typeface="Consolas" panose="020B0609020204030204" pitchFamily="49" charset="0"/>
              </a:rPr>
              <a:t> w){    </a:t>
            </a:r>
          </a:p>
          <a:p>
            <a:r>
              <a:rPr lang="en-US" sz="2400" dirty="0">
                <a:latin typeface="Consolas" panose="020B0609020204030204" pitchFamily="49" charset="0"/>
              </a:rPr>
              <a:t>    </a:t>
            </a:r>
            <a:r>
              <a:rPr lang="en-US" sz="2400" dirty="0" err="1">
                <a:latin typeface="Consolas" panose="020B0609020204030204" pitchFamily="49" charset="0"/>
              </a:rPr>
              <a:t>widget_data</a:t>
            </a:r>
            <a:r>
              <a:rPr lang="en-US" sz="2400" dirty="0">
                <a:latin typeface="Consolas" panose="020B0609020204030204" pitchFamily="49" charset="0"/>
              </a:rPr>
              <a:t> data;</a:t>
            </a:r>
          </a:p>
          <a:p>
            <a:r>
              <a:rPr lang="en-US" sz="2400" dirty="0">
                <a:latin typeface="Consolas" panose="020B0609020204030204" pitchFamily="49" charset="0"/>
              </a:rPr>
              <a:t>    </a:t>
            </a:r>
            <a:r>
              <a:rPr lang="en-US" sz="2400" dirty="0">
                <a:solidFill>
                  <a:srgbClr val="FF0000"/>
                </a:solidFill>
                <a:latin typeface="Consolas" panose="020B0609020204030204" pitchFamily="49" charset="0"/>
              </a:rPr>
              <a:t>std::thread t(</a:t>
            </a:r>
            <a:r>
              <a:rPr lang="en-US" sz="2400" dirty="0" err="1">
                <a:solidFill>
                  <a:srgbClr val="FF0000"/>
                </a:solidFill>
                <a:latin typeface="Consolas" panose="020B0609020204030204" pitchFamily="49" charset="0"/>
              </a:rPr>
              <a:t>update_data_for_widget,w,data</a:t>
            </a:r>
            <a:r>
              <a:rPr lang="en-US" sz="2400" dirty="0">
                <a:solidFill>
                  <a:srgbClr val="FF0000"/>
                </a:solidFill>
                <a:latin typeface="Consolas" panose="020B0609020204030204" pitchFamily="49" charset="0"/>
              </a:rPr>
              <a:t>);</a:t>
            </a:r>
          </a:p>
          <a:p>
            <a:r>
              <a:rPr lang="en-US" sz="2400" dirty="0">
                <a:latin typeface="Consolas" panose="020B0609020204030204" pitchFamily="49" charset="0"/>
              </a:rPr>
              <a:t>    </a:t>
            </a:r>
            <a:r>
              <a:rPr lang="en-US" sz="2400" dirty="0" err="1">
                <a:latin typeface="Consolas" panose="020B0609020204030204" pitchFamily="49" charset="0"/>
              </a:rPr>
              <a:t>display_status</a:t>
            </a:r>
            <a:r>
              <a:rPr lang="en-US" sz="2400" dirty="0">
                <a:latin typeface="Consolas" panose="020B0609020204030204" pitchFamily="49" charset="0"/>
              </a:rPr>
              <a:t>();</a:t>
            </a:r>
          </a:p>
          <a:p>
            <a:r>
              <a:rPr lang="en-US" sz="2400" dirty="0">
                <a:latin typeface="Consolas" panose="020B0609020204030204" pitchFamily="49" charset="0"/>
              </a:rPr>
              <a:t>    </a:t>
            </a:r>
            <a:r>
              <a:rPr lang="en-US" sz="2400" dirty="0" err="1">
                <a:latin typeface="Consolas" panose="020B0609020204030204" pitchFamily="49" charset="0"/>
              </a:rPr>
              <a:t>t.join</a:t>
            </a:r>
            <a:r>
              <a:rPr lang="en-US" sz="2400" dirty="0">
                <a:latin typeface="Consolas" panose="020B0609020204030204" pitchFamily="49" charset="0"/>
              </a:rPr>
              <a:t>();</a:t>
            </a:r>
          </a:p>
          <a:p>
            <a:r>
              <a:rPr lang="en-US" sz="2400" dirty="0">
                <a:latin typeface="Consolas" panose="020B0609020204030204" pitchFamily="49" charset="0"/>
              </a:rPr>
              <a:t>    </a:t>
            </a:r>
            <a:r>
              <a:rPr lang="en-US" sz="2400" dirty="0" err="1">
                <a:latin typeface="Consolas" panose="020B0609020204030204" pitchFamily="49" charset="0"/>
              </a:rPr>
              <a:t>process_widget_data</a:t>
            </a:r>
            <a:r>
              <a:rPr lang="en-US" sz="2400" dirty="0">
                <a:latin typeface="Consolas" panose="020B0609020204030204" pitchFamily="49" charset="0"/>
              </a:rPr>
              <a:t>(data);</a:t>
            </a:r>
          </a:p>
          <a:p>
            <a:r>
              <a:rPr lang="en-US" sz="2400" dirty="0">
                <a:latin typeface="Consolas" panose="020B0609020204030204" pitchFamily="49" charset="0"/>
              </a:rPr>
              <a:t>}</a:t>
            </a:r>
            <a:endParaRPr lang="ru-RU" sz="2400" dirty="0">
              <a:latin typeface="Consolas" panose="020B0609020204030204" pitchFamily="49" charset="0"/>
            </a:endParaRPr>
          </a:p>
        </p:txBody>
      </p:sp>
    </p:spTree>
    <p:extLst>
      <p:ext uri="{BB962C8B-B14F-4D97-AF65-F5344CB8AC3E}">
        <p14:creationId xmlns:p14="http://schemas.microsoft.com/office/powerpoint/2010/main" val="604682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BD9986-C3C2-F651-4614-100EA829197E}"/>
              </a:ext>
            </a:extLst>
          </p:cNvPr>
          <p:cNvSpPr>
            <a:spLocks noGrp="1"/>
          </p:cNvSpPr>
          <p:nvPr>
            <p:ph type="title"/>
          </p:nvPr>
        </p:nvSpPr>
        <p:spPr/>
        <p:txBody>
          <a:bodyPr/>
          <a:lstStyle/>
          <a:p>
            <a:r>
              <a:rPr lang="en-US" dirty="0"/>
              <a:t>std::thread – </a:t>
            </a:r>
            <a:r>
              <a:rPr lang="ru-RU" dirty="0"/>
              <a:t>Передача аргументов</a:t>
            </a:r>
          </a:p>
        </p:txBody>
      </p:sp>
      <p:sp>
        <p:nvSpPr>
          <p:cNvPr id="3" name="Объект 2">
            <a:extLst>
              <a:ext uri="{FF2B5EF4-FFF2-40B4-BE49-F238E27FC236}">
                <a16:creationId xmlns:a16="http://schemas.microsoft.com/office/drawing/2014/main" id="{EBE188C3-2B9A-6C96-C9C7-9AA7F99CE917}"/>
              </a:ext>
            </a:extLst>
          </p:cNvPr>
          <p:cNvSpPr>
            <a:spLocks noGrp="1"/>
          </p:cNvSpPr>
          <p:nvPr>
            <p:ph idx="1"/>
          </p:nvPr>
        </p:nvSpPr>
        <p:spPr/>
        <p:txBody>
          <a:bodyPr>
            <a:normAutofit/>
          </a:bodyPr>
          <a:lstStyle/>
          <a:p>
            <a:r>
              <a:rPr lang="en-US" sz="2400" dirty="0">
                <a:latin typeface="Consolas" panose="020B0609020204030204" pitchFamily="49" charset="0"/>
              </a:rPr>
              <a:t>void </a:t>
            </a:r>
            <a:r>
              <a:rPr lang="en-US" sz="2400" dirty="0" err="1">
                <a:latin typeface="Consolas" panose="020B0609020204030204" pitchFamily="49" charset="0"/>
              </a:rPr>
              <a:t>update_data_for_widget</a:t>
            </a:r>
            <a:r>
              <a:rPr lang="en-US" sz="2400" dirty="0">
                <a:latin typeface="Consolas" panose="020B0609020204030204" pitchFamily="49" charset="0"/>
              </a:rPr>
              <a:t>(</a:t>
            </a:r>
            <a:r>
              <a:rPr lang="en-US" sz="2400" dirty="0" err="1">
                <a:latin typeface="Consolas" panose="020B0609020204030204" pitchFamily="49" charset="0"/>
              </a:rPr>
              <a:t>widget_id</a:t>
            </a:r>
            <a:r>
              <a:rPr lang="en-US" sz="2400" dirty="0">
                <a:latin typeface="Consolas" panose="020B0609020204030204" pitchFamily="49" charset="0"/>
              </a:rPr>
              <a:t> w, </a:t>
            </a:r>
            <a:r>
              <a:rPr lang="en-US" sz="2400" dirty="0" err="1">
                <a:solidFill>
                  <a:srgbClr val="0070C0"/>
                </a:solidFill>
                <a:latin typeface="Consolas" panose="020B0609020204030204" pitchFamily="49" charset="0"/>
              </a:rPr>
              <a:t>widget_data</a:t>
            </a:r>
            <a:r>
              <a:rPr lang="en-US" sz="2400" dirty="0">
                <a:solidFill>
                  <a:srgbClr val="0070C0"/>
                </a:solidFill>
                <a:latin typeface="Consolas" panose="020B0609020204030204" pitchFamily="49" charset="0"/>
              </a:rPr>
              <a:t>&amp; data</a:t>
            </a:r>
            <a:r>
              <a:rPr lang="en-US" sz="2400" dirty="0">
                <a:latin typeface="Consolas" panose="020B0609020204030204" pitchFamily="49" charset="0"/>
              </a:rPr>
              <a:t>);</a:t>
            </a:r>
          </a:p>
          <a:p>
            <a:r>
              <a:rPr lang="en-US" sz="2400" dirty="0">
                <a:latin typeface="Consolas" panose="020B0609020204030204" pitchFamily="49" charset="0"/>
              </a:rPr>
              <a:t>void </a:t>
            </a:r>
            <a:r>
              <a:rPr lang="en-US" sz="2400" dirty="0" err="1">
                <a:latin typeface="Consolas" panose="020B0609020204030204" pitchFamily="49" charset="0"/>
              </a:rPr>
              <a:t>oops_again</a:t>
            </a:r>
            <a:r>
              <a:rPr lang="en-US" sz="2400" dirty="0">
                <a:latin typeface="Consolas" panose="020B0609020204030204" pitchFamily="49" charset="0"/>
              </a:rPr>
              <a:t>(</a:t>
            </a:r>
            <a:r>
              <a:rPr lang="en-US" sz="2400" dirty="0" err="1">
                <a:latin typeface="Consolas" panose="020B0609020204030204" pitchFamily="49" charset="0"/>
              </a:rPr>
              <a:t>widget_id</a:t>
            </a:r>
            <a:r>
              <a:rPr lang="en-US" sz="2400" dirty="0">
                <a:latin typeface="Consolas" panose="020B0609020204030204" pitchFamily="49" charset="0"/>
              </a:rPr>
              <a:t> w){    </a:t>
            </a:r>
          </a:p>
          <a:p>
            <a:r>
              <a:rPr lang="en-US" sz="2400" dirty="0">
                <a:latin typeface="Consolas" panose="020B0609020204030204" pitchFamily="49" charset="0"/>
              </a:rPr>
              <a:t>    </a:t>
            </a:r>
            <a:r>
              <a:rPr lang="en-US" sz="2400" dirty="0" err="1">
                <a:latin typeface="Consolas" panose="020B0609020204030204" pitchFamily="49" charset="0"/>
              </a:rPr>
              <a:t>widget_data</a:t>
            </a:r>
            <a:r>
              <a:rPr lang="en-US" sz="2400" dirty="0">
                <a:latin typeface="Consolas" panose="020B0609020204030204" pitchFamily="49" charset="0"/>
              </a:rPr>
              <a:t> data;</a:t>
            </a:r>
          </a:p>
          <a:p>
            <a:r>
              <a:rPr lang="en-US" sz="2400" dirty="0">
                <a:latin typeface="Consolas" panose="020B0609020204030204" pitchFamily="49" charset="0"/>
              </a:rPr>
              <a:t>    </a:t>
            </a:r>
            <a:r>
              <a:rPr lang="en-US" sz="2400" dirty="0">
                <a:solidFill>
                  <a:srgbClr val="00B050"/>
                </a:solidFill>
                <a:latin typeface="Consolas" panose="020B0609020204030204" pitchFamily="49" charset="0"/>
              </a:rPr>
              <a:t>std::thread t(</a:t>
            </a:r>
            <a:r>
              <a:rPr lang="en-US" sz="2400" dirty="0" err="1">
                <a:solidFill>
                  <a:srgbClr val="00B050"/>
                </a:solidFill>
                <a:latin typeface="Consolas" panose="020B0609020204030204" pitchFamily="49" charset="0"/>
              </a:rPr>
              <a:t>update_data_for_widget,w,std</a:t>
            </a:r>
            <a:r>
              <a:rPr lang="en-US" sz="2400" dirty="0">
                <a:solidFill>
                  <a:srgbClr val="00B050"/>
                </a:solidFill>
                <a:latin typeface="Consolas" panose="020B0609020204030204" pitchFamily="49" charset="0"/>
              </a:rPr>
              <a:t>::ref(data));</a:t>
            </a:r>
          </a:p>
          <a:p>
            <a:r>
              <a:rPr lang="en-US" sz="2400" dirty="0">
                <a:latin typeface="Consolas" panose="020B0609020204030204" pitchFamily="49" charset="0"/>
              </a:rPr>
              <a:t>    </a:t>
            </a:r>
            <a:r>
              <a:rPr lang="en-US" sz="2400" dirty="0" err="1">
                <a:latin typeface="Consolas" panose="020B0609020204030204" pitchFamily="49" charset="0"/>
              </a:rPr>
              <a:t>display_status</a:t>
            </a:r>
            <a:r>
              <a:rPr lang="en-US" sz="2400" dirty="0">
                <a:latin typeface="Consolas" panose="020B0609020204030204" pitchFamily="49" charset="0"/>
              </a:rPr>
              <a:t>();</a:t>
            </a:r>
          </a:p>
          <a:p>
            <a:r>
              <a:rPr lang="en-US" sz="2400" dirty="0">
                <a:latin typeface="Consolas" panose="020B0609020204030204" pitchFamily="49" charset="0"/>
              </a:rPr>
              <a:t>    </a:t>
            </a:r>
            <a:r>
              <a:rPr lang="en-US" sz="2400" dirty="0" err="1">
                <a:latin typeface="Consolas" panose="020B0609020204030204" pitchFamily="49" charset="0"/>
              </a:rPr>
              <a:t>t.join</a:t>
            </a:r>
            <a:r>
              <a:rPr lang="en-US" sz="2400" dirty="0">
                <a:latin typeface="Consolas" panose="020B0609020204030204" pitchFamily="49" charset="0"/>
              </a:rPr>
              <a:t>();</a:t>
            </a:r>
          </a:p>
          <a:p>
            <a:r>
              <a:rPr lang="en-US" sz="2400" dirty="0">
                <a:latin typeface="Consolas" panose="020B0609020204030204" pitchFamily="49" charset="0"/>
              </a:rPr>
              <a:t>    </a:t>
            </a:r>
            <a:r>
              <a:rPr lang="en-US" sz="2400" dirty="0" err="1">
                <a:latin typeface="Consolas" panose="020B0609020204030204" pitchFamily="49" charset="0"/>
              </a:rPr>
              <a:t>process_widget_data</a:t>
            </a:r>
            <a:r>
              <a:rPr lang="en-US" sz="2400" dirty="0">
                <a:latin typeface="Consolas" panose="020B0609020204030204" pitchFamily="49" charset="0"/>
              </a:rPr>
              <a:t>(data);</a:t>
            </a:r>
          </a:p>
          <a:p>
            <a:r>
              <a:rPr lang="en-US" sz="2400" dirty="0">
                <a:latin typeface="Consolas" panose="020B0609020204030204" pitchFamily="49" charset="0"/>
              </a:rPr>
              <a:t>}</a:t>
            </a:r>
            <a:endParaRPr lang="ru-RU" sz="2400" dirty="0">
              <a:latin typeface="Consolas" panose="020B0609020204030204" pitchFamily="49" charset="0"/>
            </a:endParaRPr>
          </a:p>
        </p:txBody>
      </p:sp>
    </p:spTree>
    <p:extLst>
      <p:ext uri="{BB962C8B-B14F-4D97-AF65-F5344CB8AC3E}">
        <p14:creationId xmlns:p14="http://schemas.microsoft.com/office/powerpoint/2010/main" val="854668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882A57-F03B-8692-2B7E-01C1B36A59E5}"/>
              </a:ext>
            </a:extLst>
          </p:cNvPr>
          <p:cNvSpPr>
            <a:spLocks noGrp="1"/>
          </p:cNvSpPr>
          <p:nvPr>
            <p:ph type="title"/>
          </p:nvPr>
        </p:nvSpPr>
        <p:spPr/>
        <p:txBody>
          <a:bodyPr/>
          <a:lstStyle/>
          <a:p>
            <a:r>
              <a:rPr lang="en-US" dirty="0"/>
              <a:t>std::thread – </a:t>
            </a:r>
            <a:r>
              <a:rPr lang="ru-RU" dirty="0"/>
              <a:t>Вызов методов объектов</a:t>
            </a:r>
          </a:p>
        </p:txBody>
      </p:sp>
      <p:sp>
        <p:nvSpPr>
          <p:cNvPr id="3" name="Объект 2">
            <a:extLst>
              <a:ext uri="{FF2B5EF4-FFF2-40B4-BE49-F238E27FC236}">
                <a16:creationId xmlns:a16="http://schemas.microsoft.com/office/drawing/2014/main" id="{9D0736DF-ED8E-1A1D-D519-53431A563DA0}"/>
              </a:ext>
            </a:extLst>
          </p:cNvPr>
          <p:cNvSpPr>
            <a:spLocks noGrp="1"/>
          </p:cNvSpPr>
          <p:nvPr>
            <p:ph idx="1"/>
          </p:nvPr>
        </p:nvSpPr>
        <p:spPr/>
        <p:txBody>
          <a:bodyPr/>
          <a:lstStyle/>
          <a:p>
            <a:r>
              <a:rPr lang="en-US" dirty="0">
                <a:latin typeface="Consolas" panose="020B0609020204030204" pitchFamily="49" charset="0"/>
              </a:rPr>
              <a:t>class X {</a:t>
            </a:r>
          </a:p>
          <a:p>
            <a:r>
              <a:rPr lang="en-US" dirty="0">
                <a:latin typeface="Consolas" panose="020B0609020204030204" pitchFamily="49" charset="0"/>
              </a:rPr>
              <a:t>public:</a:t>
            </a:r>
          </a:p>
          <a:p>
            <a:r>
              <a:rPr lang="en-US" dirty="0">
                <a:latin typeface="Consolas" panose="020B0609020204030204" pitchFamily="49" charset="0"/>
              </a:rPr>
              <a:t>    void </a:t>
            </a:r>
            <a:r>
              <a:rPr lang="en-US" dirty="0" err="1">
                <a:latin typeface="Consolas" panose="020B0609020204030204" pitchFamily="49" charset="0"/>
              </a:rPr>
              <a:t>do_lengthy_work</a:t>
            </a:r>
            <a:r>
              <a:rPr lang="en-US" dirty="0">
                <a:latin typeface="Consolas" panose="020B0609020204030204" pitchFamily="49" charset="0"/>
              </a:rPr>
              <a:t>();</a:t>
            </a:r>
          </a:p>
          <a:p>
            <a:r>
              <a:rPr lang="en-US" dirty="0">
                <a:latin typeface="Consolas" panose="020B0609020204030204" pitchFamily="49" charset="0"/>
              </a:rPr>
              <a:t>};</a:t>
            </a:r>
            <a:endParaRPr lang="ru-RU" dirty="0">
              <a:latin typeface="Consolas" panose="020B0609020204030204" pitchFamily="49" charset="0"/>
            </a:endParaRPr>
          </a:p>
          <a:p>
            <a:endParaRPr lang="en-US" dirty="0">
              <a:latin typeface="Consolas" panose="020B0609020204030204" pitchFamily="49" charset="0"/>
            </a:endParaRPr>
          </a:p>
          <a:p>
            <a:r>
              <a:rPr lang="en-US" dirty="0">
                <a:latin typeface="Consolas" panose="020B0609020204030204" pitchFamily="49" charset="0"/>
              </a:rPr>
              <a:t>X </a:t>
            </a:r>
            <a:r>
              <a:rPr lang="en-US" dirty="0" err="1">
                <a:latin typeface="Consolas" panose="020B0609020204030204" pitchFamily="49" charset="0"/>
              </a:rPr>
              <a:t>my_x</a:t>
            </a:r>
            <a:r>
              <a:rPr lang="en-US" dirty="0">
                <a:latin typeface="Consolas" panose="020B0609020204030204" pitchFamily="49" charset="0"/>
              </a:rPr>
              <a:t>;</a:t>
            </a:r>
          </a:p>
          <a:p>
            <a:r>
              <a:rPr lang="en-US" dirty="0">
                <a:latin typeface="Consolas" panose="020B0609020204030204" pitchFamily="49" charset="0"/>
              </a:rPr>
              <a:t>std::thread t(</a:t>
            </a:r>
            <a:r>
              <a:rPr lang="en-US" dirty="0">
                <a:solidFill>
                  <a:srgbClr val="00B050"/>
                </a:solidFill>
                <a:latin typeface="Consolas" panose="020B0609020204030204" pitchFamily="49" charset="0"/>
              </a:rPr>
              <a:t>&amp;X::</a:t>
            </a:r>
            <a:r>
              <a:rPr lang="en-US" dirty="0" err="1">
                <a:solidFill>
                  <a:srgbClr val="00B050"/>
                </a:solidFill>
                <a:latin typeface="Consolas" panose="020B0609020204030204" pitchFamily="49" charset="0"/>
              </a:rPr>
              <a:t>do_lengthy_work</a:t>
            </a:r>
            <a:r>
              <a:rPr lang="en-US" dirty="0">
                <a:solidFill>
                  <a:srgbClr val="00B050"/>
                </a:solidFill>
                <a:latin typeface="Consolas" panose="020B0609020204030204" pitchFamily="49" charset="0"/>
              </a:rPr>
              <a:t>, &amp;</a:t>
            </a:r>
            <a:r>
              <a:rPr lang="en-US" dirty="0" err="1">
                <a:solidFill>
                  <a:srgbClr val="00B050"/>
                </a:solidFill>
                <a:latin typeface="Consolas" panose="020B0609020204030204" pitchFamily="49" charset="0"/>
              </a:rPr>
              <a:t>my_x</a:t>
            </a:r>
            <a:r>
              <a:rPr lang="en-US" dirty="0">
                <a:latin typeface="Consolas" panose="020B0609020204030204" pitchFamily="49" charset="0"/>
              </a:rPr>
              <a:t>);</a:t>
            </a:r>
            <a:endParaRPr lang="ru-RU" dirty="0">
              <a:latin typeface="Consolas" panose="020B0609020204030204" pitchFamily="49" charset="0"/>
            </a:endParaRPr>
          </a:p>
        </p:txBody>
      </p:sp>
    </p:spTree>
    <p:extLst>
      <p:ext uri="{BB962C8B-B14F-4D97-AF65-F5344CB8AC3E}">
        <p14:creationId xmlns:p14="http://schemas.microsoft.com/office/powerpoint/2010/main" val="1691957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A07364-5DB7-43E6-DE3D-DBFF5210DCDF}"/>
              </a:ext>
            </a:extLst>
          </p:cNvPr>
          <p:cNvSpPr>
            <a:spLocks noGrp="1"/>
          </p:cNvSpPr>
          <p:nvPr>
            <p:ph type="title"/>
          </p:nvPr>
        </p:nvSpPr>
        <p:spPr/>
        <p:txBody>
          <a:bodyPr/>
          <a:lstStyle/>
          <a:p>
            <a:r>
              <a:rPr lang="en-US" dirty="0"/>
              <a:t>std::thread – </a:t>
            </a:r>
            <a:r>
              <a:rPr lang="ru-RU" dirty="0"/>
              <a:t>передача права владения объектом</a:t>
            </a:r>
          </a:p>
        </p:txBody>
      </p:sp>
      <p:sp>
        <p:nvSpPr>
          <p:cNvPr id="3" name="Объект 2">
            <a:extLst>
              <a:ext uri="{FF2B5EF4-FFF2-40B4-BE49-F238E27FC236}">
                <a16:creationId xmlns:a16="http://schemas.microsoft.com/office/drawing/2014/main" id="{90B164A3-6544-AEA8-A8FB-127E4E9D40EF}"/>
              </a:ext>
            </a:extLst>
          </p:cNvPr>
          <p:cNvSpPr>
            <a:spLocks noGrp="1"/>
          </p:cNvSpPr>
          <p:nvPr>
            <p:ph idx="1"/>
          </p:nvPr>
        </p:nvSpPr>
        <p:spPr/>
        <p:txBody>
          <a:bodyPr>
            <a:normAutofit/>
          </a:bodyPr>
          <a:lstStyle/>
          <a:p>
            <a:r>
              <a:rPr lang="en-US" sz="2400" dirty="0">
                <a:latin typeface="Consolas" panose="020B0609020204030204" pitchFamily="49" charset="0"/>
              </a:rPr>
              <a:t>void </a:t>
            </a:r>
            <a:r>
              <a:rPr lang="en-US" sz="2400" dirty="0" err="1">
                <a:latin typeface="Consolas" panose="020B0609020204030204" pitchFamily="49" charset="0"/>
              </a:rPr>
              <a:t>process_big_object</a:t>
            </a:r>
            <a:r>
              <a:rPr lang="en-US" sz="2400" dirty="0">
                <a:latin typeface="Consolas" panose="020B0609020204030204" pitchFamily="49" charset="0"/>
              </a:rPr>
              <a:t>(std::</a:t>
            </a:r>
            <a:r>
              <a:rPr lang="en-US" sz="2400" dirty="0" err="1">
                <a:latin typeface="Consolas" panose="020B0609020204030204" pitchFamily="49" charset="0"/>
              </a:rPr>
              <a:t>unique_ptr</a:t>
            </a:r>
            <a:r>
              <a:rPr lang="en-US" sz="2400" dirty="0">
                <a:latin typeface="Consolas" panose="020B0609020204030204" pitchFamily="49" charset="0"/>
              </a:rPr>
              <a:t>&lt;</a:t>
            </a:r>
            <a:r>
              <a:rPr lang="en-US" sz="2400" dirty="0" err="1">
                <a:latin typeface="Consolas" panose="020B0609020204030204" pitchFamily="49" charset="0"/>
              </a:rPr>
              <a:t>big_object</a:t>
            </a:r>
            <a:r>
              <a:rPr lang="en-US" sz="2400" dirty="0">
                <a:latin typeface="Consolas" panose="020B0609020204030204" pitchFamily="49" charset="0"/>
              </a:rPr>
              <a:t>&gt;);</a:t>
            </a:r>
          </a:p>
          <a:p>
            <a:r>
              <a:rPr lang="en-US" sz="2400" dirty="0">
                <a:latin typeface="Consolas" panose="020B0609020204030204" pitchFamily="49" charset="0"/>
              </a:rPr>
              <a:t>std::</a:t>
            </a:r>
            <a:r>
              <a:rPr lang="en-US" sz="2400" dirty="0" err="1">
                <a:latin typeface="Consolas" panose="020B0609020204030204" pitchFamily="49" charset="0"/>
              </a:rPr>
              <a:t>unique_ptr</a:t>
            </a:r>
            <a:r>
              <a:rPr lang="en-US" sz="2400" dirty="0">
                <a:latin typeface="Consolas" panose="020B0609020204030204" pitchFamily="49" charset="0"/>
              </a:rPr>
              <a:t>&lt;</a:t>
            </a:r>
            <a:r>
              <a:rPr lang="en-US" sz="2400" dirty="0" err="1">
                <a:latin typeface="Consolas" panose="020B0609020204030204" pitchFamily="49" charset="0"/>
              </a:rPr>
              <a:t>big_object</a:t>
            </a:r>
            <a:r>
              <a:rPr lang="en-US" sz="2400" dirty="0">
                <a:latin typeface="Consolas" panose="020B0609020204030204" pitchFamily="49" charset="0"/>
              </a:rPr>
              <a:t>&gt; p(new </a:t>
            </a:r>
            <a:r>
              <a:rPr lang="en-US" sz="2400" dirty="0" err="1">
                <a:latin typeface="Consolas" panose="020B0609020204030204" pitchFamily="49" charset="0"/>
              </a:rPr>
              <a:t>big_object</a:t>
            </a:r>
            <a:r>
              <a:rPr lang="en-US" sz="2400" dirty="0">
                <a:latin typeface="Consolas" panose="020B0609020204030204" pitchFamily="49" charset="0"/>
              </a:rPr>
              <a:t>);</a:t>
            </a:r>
          </a:p>
          <a:p>
            <a:r>
              <a:rPr lang="en-US" sz="2400" dirty="0">
                <a:latin typeface="Consolas" panose="020B0609020204030204" pitchFamily="49" charset="0"/>
              </a:rPr>
              <a:t>p-&gt;</a:t>
            </a:r>
            <a:r>
              <a:rPr lang="en-US" sz="2400" dirty="0" err="1">
                <a:latin typeface="Consolas" panose="020B0609020204030204" pitchFamily="49" charset="0"/>
              </a:rPr>
              <a:t>prepare_data</a:t>
            </a:r>
            <a:r>
              <a:rPr lang="en-US" sz="2400" dirty="0">
                <a:latin typeface="Consolas" panose="020B0609020204030204" pitchFamily="49" charset="0"/>
              </a:rPr>
              <a:t>(42);</a:t>
            </a:r>
          </a:p>
          <a:p>
            <a:r>
              <a:rPr lang="en-US" sz="2400" dirty="0">
                <a:latin typeface="Consolas" panose="020B0609020204030204" pitchFamily="49" charset="0"/>
              </a:rPr>
              <a:t>std::thread t(</a:t>
            </a:r>
            <a:r>
              <a:rPr lang="en-US" sz="2400" dirty="0" err="1">
                <a:latin typeface="Consolas" panose="020B0609020204030204" pitchFamily="49" charset="0"/>
              </a:rPr>
              <a:t>process_big_object,</a:t>
            </a:r>
            <a:r>
              <a:rPr lang="en-US" sz="2400" dirty="0" err="1">
                <a:solidFill>
                  <a:srgbClr val="00B050"/>
                </a:solidFill>
                <a:latin typeface="Consolas" panose="020B0609020204030204" pitchFamily="49" charset="0"/>
              </a:rPr>
              <a:t>std</a:t>
            </a:r>
            <a:r>
              <a:rPr lang="en-US" sz="2400" dirty="0">
                <a:solidFill>
                  <a:srgbClr val="00B050"/>
                </a:solidFill>
                <a:latin typeface="Consolas" panose="020B0609020204030204" pitchFamily="49" charset="0"/>
              </a:rPr>
              <a:t>::move(p));</a:t>
            </a:r>
            <a:endParaRPr lang="ru-RU" sz="2400" dirty="0">
              <a:solidFill>
                <a:srgbClr val="00B050"/>
              </a:solidFill>
              <a:latin typeface="Consolas" panose="020B0609020204030204" pitchFamily="49" charset="0"/>
            </a:endParaRPr>
          </a:p>
        </p:txBody>
      </p:sp>
    </p:spTree>
    <p:extLst>
      <p:ext uri="{BB962C8B-B14F-4D97-AF65-F5344CB8AC3E}">
        <p14:creationId xmlns:p14="http://schemas.microsoft.com/office/powerpoint/2010/main" val="26345856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A3DDB3-EE8E-C901-9463-30E0452B318F}"/>
              </a:ext>
            </a:extLst>
          </p:cNvPr>
          <p:cNvSpPr>
            <a:spLocks noGrp="1"/>
          </p:cNvSpPr>
          <p:nvPr>
            <p:ph type="title"/>
          </p:nvPr>
        </p:nvSpPr>
        <p:spPr/>
        <p:txBody>
          <a:bodyPr/>
          <a:lstStyle/>
          <a:p>
            <a:r>
              <a:rPr lang="en-US" dirty="0"/>
              <a:t>std::thread – </a:t>
            </a:r>
            <a:r>
              <a:rPr lang="ru-RU" dirty="0"/>
              <a:t>полезные функции</a:t>
            </a:r>
          </a:p>
        </p:txBody>
      </p:sp>
      <p:sp>
        <p:nvSpPr>
          <p:cNvPr id="3" name="Объект 2">
            <a:extLst>
              <a:ext uri="{FF2B5EF4-FFF2-40B4-BE49-F238E27FC236}">
                <a16:creationId xmlns:a16="http://schemas.microsoft.com/office/drawing/2014/main" id="{D517F4AF-B5F0-C83D-DA3A-32430041411C}"/>
              </a:ext>
            </a:extLst>
          </p:cNvPr>
          <p:cNvSpPr>
            <a:spLocks noGrp="1"/>
          </p:cNvSpPr>
          <p:nvPr>
            <p:ph idx="1"/>
          </p:nvPr>
        </p:nvSpPr>
        <p:spPr/>
        <p:txBody>
          <a:bodyPr/>
          <a:lstStyle/>
          <a:p>
            <a:pPr algn="just"/>
            <a:r>
              <a:rPr lang="ru-RU" dirty="0"/>
              <a:t>Одна из функций стандартной библиотеки C++, помогающая решить данную задачу, — </a:t>
            </a:r>
            <a:r>
              <a:rPr lang="ru-RU" dirty="0" err="1">
                <a:solidFill>
                  <a:srgbClr val="00B050"/>
                </a:solidFill>
              </a:rPr>
              <a:t>std</a:t>
            </a:r>
            <a:r>
              <a:rPr lang="ru-RU" dirty="0">
                <a:solidFill>
                  <a:srgbClr val="00B050"/>
                </a:solidFill>
              </a:rPr>
              <a:t>::</a:t>
            </a:r>
            <a:r>
              <a:rPr lang="ru-RU" dirty="0" err="1">
                <a:solidFill>
                  <a:srgbClr val="00B050"/>
                </a:solidFill>
              </a:rPr>
              <a:t>thread</a:t>
            </a:r>
            <a:r>
              <a:rPr lang="ru-RU" dirty="0">
                <a:solidFill>
                  <a:srgbClr val="00B050"/>
                </a:solidFill>
              </a:rPr>
              <a:t>::</a:t>
            </a:r>
            <a:r>
              <a:rPr lang="ru-RU" dirty="0" err="1">
                <a:solidFill>
                  <a:srgbClr val="00B050"/>
                </a:solidFill>
              </a:rPr>
              <a:t>hardware_concurrency</a:t>
            </a:r>
            <a:r>
              <a:rPr lang="ru-RU" dirty="0">
                <a:solidFill>
                  <a:srgbClr val="00B050"/>
                </a:solidFill>
              </a:rPr>
              <a:t>()</a:t>
            </a:r>
            <a:r>
              <a:rPr lang="ru-RU" dirty="0"/>
              <a:t>. Она возвращает то количество потоков, которые действительно могут работать одновременно в ходе выполнения программы. Например, в многоядерной системе оно может быть увязано с числом ядер центрального процессора.</a:t>
            </a:r>
          </a:p>
        </p:txBody>
      </p:sp>
    </p:spTree>
    <p:extLst>
      <p:ext uri="{BB962C8B-B14F-4D97-AF65-F5344CB8AC3E}">
        <p14:creationId xmlns:p14="http://schemas.microsoft.com/office/powerpoint/2010/main" val="1463253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A3DDB3-EE8E-C901-9463-30E0452B318F}"/>
              </a:ext>
            </a:extLst>
          </p:cNvPr>
          <p:cNvSpPr>
            <a:spLocks noGrp="1"/>
          </p:cNvSpPr>
          <p:nvPr>
            <p:ph type="title"/>
          </p:nvPr>
        </p:nvSpPr>
        <p:spPr/>
        <p:txBody>
          <a:bodyPr/>
          <a:lstStyle/>
          <a:p>
            <a:r>
              <a:rPr lang="en-US" dirty="0"/>
              <a:t>std::thread – </a:t>
            </a:r>
            <a:r>
              <a:rPr lang="ru-RU" dirty="0"/>
              <a:t>полезные функции</a:t>
            </a:r>
          </a:p>
        </p:txBody>
      </p:sp>
      <p:sp>
        <p:nvSpPr>
          <p:cNvPr id="3" name="Объект 2">
            <a:extLst>
              <a:ext uri="{FF2B5EF4-FFF2-40B4-BE49-F238E27FC236}">
                <a16:creationId xmlns:a16="http://schemas.microsoft.com/office/drawing/2014/main" id="{D517F4AF-B5F0-C83D-DA3A-32430041411C}"/>
              </a:ext>
            </a:extLst>
          </p:cNvPr>
          <p:cNvSpPr>
            <a:spLocks noGrp="1"/>
          </p:cNvSpPr>
          <p:nvPr>
            <p:ph idx="1"/>
          </p:nvPr>
        </p:nvSpPr>
        <p:spPr/>
        <p:txBody>
          <a:bodyPr/>
          <a:lstStyle/>
          <a:p>
            <a:pPr algn="just"/>
            <a:r>
              <a:rPr lang="en-US" dirty="0">
                <a:latin typeface="Consolas" panose="020B0609020204030204" pitchFamily="49" charset="0"/>
              </a:rPr>
              <a:t>std::</a:t>
            </a:r>
            <a:r>
              <a:rPr lang="en-US" dirty="0" err="1">
                <a:latin typeface="Consolas" panose="020B0609020204030204" pitchFamily="49" charset="0"/>
              </a:rPr>
              <a:t>this_thread</a:t>
            </a:r>
            <a:r>
              <a:rPr lang="en-US" dirty="0">
                <a:latin typeface="Consolas" panose="020B0609020204030204" pitchFamily="49" charset="0"/>
              </a:rPr>
              <a:t>::</a:t>
            </a:r>
            <a:r>
              <a:rPr lang="en-US" dirty="0" err="1">
                <a:latin typeface="Consolas" panose="020B0609020204030204" pitchFamily="49" charset="0"/>
              </a:rPr>
              <a:t>sleep_for</a:t>
            </a:r>
            <a:r>
              <a:rPr lang="en-US" dirty="0">
                <a:latin typeface="Consolas" panose="020B0609020204030204" pitchFamily="49" charset="0"/>
              </a:rPr>
              <a:t>(</a:t>
            </a:r>
            <a:r>
              <a:rPr lang="en-US" dirty="0" err="1">
                <a:latin typeface="Consolas" panose="020B0609020204030204" pitchFamily="49" charset="0"/>
              </a:rPr>
              <a:t>sleep_duration</a:t>
            </a:r>
            <a:r>
              <a:rPr lang="en-US" dirty="0">
                <a:latin typeface="Consolas" panose="020B0609020204030204" pitchFamily="49" charset="0"/>
              </a:rPr>
              <a:t>) </a:t>
            </a:r>
            <a:r>
              <a:rPr lang="ru-RU" dirty="0"/>
              <a:t>блокирует выполнение текущего потока на время </a:t>
            </a:r>
            <a:r>
              <a:rPr lang="en-US" dirty="0" err="1"/>
              <a:t>sleep_duration</a:t>
            </a:r>
            <a:r>
              <a:rPr lang="en-US" dirty="0"/>
              <a:t>.</a:t>
            </a:r>
          </a:p>
          <a:p>
            <a:pPr algn="just"/>
            <a:endParaRPr lang="en-US" dirty="0"/>
          </a:p>
          <a:p>
            <a:pPr algn="just"/>
            <a:r>
              <a:rPr lang="en-US" dirty="0">
                <a:latin typeface="Consolas" panose="020B0609020204030204" pitchFamily="49" charset="0"/>
              </a:rPr>
              <a:t>std::</a:t>
            </a:r>
            <a:r>
              <a:rPr lang="en-US" dirty="0" err="1">
                <a:latin typeface="Consolas" panose="020B0609020204030204" pitchFamily="49" charset="0"/>
              </a:rPr>
              <a:t>this_thread</a:t>
            </a:r>
            <a:r>
              <a:rPr lang="en-US" dirty="0">
                <a:latin typeface="Consolas" panose="020B0609020204030204" pitchFamily="49" charset="0"/>
              </a:rPr>
              <a:t>::</a:t>
            </a:r>
            <a:r>
              <a:rPr lang="en-US" dirty="0" err="1">
                <a:latin typeface="Consolas" panose="020B0609020204030204" pitchFamily="49" charset="0"/>
              </a:rPr>
              <a:t>sleep_until</a:t>
            </a:r>
            <a:r>
              <a:rPr lang="en-US" dirty="0">
                <a:latin typeface="Consolas" panose="020B0609020204030204" pitchFamily="49" charset="0"/>
              </a:rPr>
              <a:t>(</a:t>
            </a:r>
            <a:r>
              <a:rPr lang="en-US" dirty="0" err="1">
                <a:latin typeface="Consolas" panose="020B0609020204030204" pitchFamily="49" charset="0"/>
              </a:rPr>
              <a:t>sleep_time</a:t>
            </a:r>
            <a:r>
              <a:rPr lang="en-US" dirty="0">
                <a:latin typeface="Consolas" panose="020B0609020204030204" pitchFamily="49" charset="0"/>
              </a:rPr>
              <a:t>)</a:t>
            </a:r>
            <a:r>
              <a:rPr lang="ru-RU" dirty="0">
                <a:latin typeface="Consolas" panose="020B0609020204030204" pitchFamily="49" charset="0"/>
              </a:rPr>
              <a:t> </a:t>
            </a:r>
            <a:r>
              <a:rPr lang="ru-RU" dirty="0"/>
              <a:t>блокирует выполнение текущего потока до наступления момента времени </a:t>
            </a:r>
            <a:r>
              <a:rPr lang="en-US" dirty="0" err="1"/>
              <a:t>sleep_time</a:t>
            </a:r>
            <a:r>
              <a:rPr lang="en-US" dirty="0"/>
              <a:t>.</a:t>
            </a:r>
            <a:endParaRPr lang="ru-RU" dirty="0"/>
          </a:p>
        </p:txBody>
      </p:sp>
    </p:spTree>
    <p:extLst>
      <p:ext uri="{BB962C8B-B14F-4D97-AF65-F5344CB8AC3E}">
        <p14:creationId xmlns:p14="http://schemas.microsoft.com/office/powerpoint/2010/main" val="3325499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01C500-C9CF-4DB7-9449-89D1C19C80A2}"/>
              </a:ext>
            </a:extLst>
          </p:cNvPr>
          <p:cNvSpPr>
            <a:spLocks noGrp="1"/>
          </p:cNvSpPr>
          <p:nvPr>
            <p:ph type="title"/>
          </p:nvPr>
        </p:nvSpPr>
        <p:spPr/>
        <p:txBody>
          <a:bodyPr/>
          <a:lstStyle/>
          <a:p>
            <a:r>
              <a:rPr lang="ru-RU" dirty="0"/>
              <a:t>Виды параллелизма</a:t>
            </a:r>
          </a:p>
        </p:txBody>
      </p:sp>
      <p:sp>
        <p:nvSpPr>
          <p:cNvPr id="3" name="Объект 2">
            <a:extLst>
              <a:ext uri="{FF2B5EF4-FFF2-40B4-BE49-F238E27FC236}">
                <a16:creationId xmlns:a16="http://schemas.microsoft.com/office/drawing/2014/main" id="{FE4F3EBC-C5FE-6911-E2E8-EB19A8737561}"/>
              </a:ext>
            </a:extLst>
          </p:cNvPr>
          <p:cNvSpPr>
            <a:spLocks noGrp="1"/>
          </p:cNvSpPr>
          <p:nvPr>
            <p:ph idx="1"/>
          </p:nvPr>
        </p:nvSpPr>
        <p:spPr/>
        <p:txBody>
          <a:bodyPr/>
          <a:lstStyle/>
          <a:p>
            <a:pPr algn="just"/>
            <a:r>
              <a:rPr lang="ru-RU" dirty="0"/>
              <a:t>Параллелизм данных – одна и та же операция применяется к данным</a:t>
            </a:r>
          </a:p>
          <a:p>
            <a:pPr algn="just"/>
            <a:r>
              <a:rPr lang="ru-RU" dirty="0"/>
              <a:t>Параллелизм задач – несколько задач решаются параллельно</a:t>
            </a:r>
          </a:p>
        </p:txBody>
      </p:sp>
    </p:spTree>
    <p:extLst>
      <p:ext uri="{BB962C8B-B14F-4D97-AF65-F5344CB8AC3E}">
        <p14:creationId xmlns:p14="http://schemas.microsoft.com/office/powerpoint/2010/main" val="11231587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B97C69-7CE6-04C3-E174-7AD6BA1D4A82}"/>
              </a:ext>
            </a:extLst>
          </p:cNvPr>
          <p:cNvSpPr>
            <a:spLocks noGrp="1"/>
          </p:cNvSpPr>
          <p:nvPr>
            <p:ph type="title"/>
          </p:nvPr>
        </p:nvSpPr>
        <p:spPr/>
        <p:txBody>
          <a:bodyPr/>
          <a:lstStyle/>
          <a:p>
            <a:r>
              <a:rPr lang="ru-RU" dirty="0"/>
              <a:t>Работа с общими данными</a:t>
            </a:r>
          </a:p>
        </p:txBody>
      </p:sp>
      <p:pic>
        <p:nvPicPr>
          <p:cNvPr id="2052" name="Picture 4" descr="Picture background">
            <a:extLst>
              <a:ext uri="{FF2B5EF4-FFF2-40B4-BE49-F238E27FC236}">
                <a16:creationId xmlns:a16="http://schemas.microsoft.com/office/drawing/2014/main" id="{BEB58278-3066-1D16-3011-0D5FE80E343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53916" y="1496614"/>
            <a:ext cx="8058484" cy="4996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4263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91F646-C225-4A0F-5758-BCB27EBF11BA}"/>
              </a:ext>
            </a:extLst>
          </p:cNvPr>
          <p:cNvSpPr>
            <a:spLocks noGrp="1"/>
          </p:cNvSpPr>
          <p:nvPr>
            <p:ph type="title"/>
          </p:nvPr>
        </p:nvSpPr>
        <p:spPr/>
        <p:txBody>
          <a:bodyPr/>
          <a:lstStyle/>
          <a:p>
            <a:r>
              <a:rPr lang="en-US" dirty="0"/>
              <a:t>std::mutex</a:t>
            </a:r>
            <a:endParaRPr lang="ru-RU" dirty="0"/>
          </a:p>
        </p:txBody>
      </p:sp>
      <p:sp>
        <p:nvSpPr>
          <p:cNvPr id="3" name="Объект 2">
            <a:extLst>
              <a:ext uri="{FF2B5EF4-FFF2-40B4-BE49-F238E27FC236}">
                <a16:creationId xmlns:a16="http://schemas.microsoft.com/office/drawing/2014/main" id="{1ACE008C-2C44-BBE5-08D8-498620DC64B7}"/>
              </a:ext>
            </a:extLst>
          </p:cNvPr>
          <p:cNvSpPr>
            <a:spLocks noGrp="1"/>
          </p:cNvSpPr>
          <p:nvPr>
            <p:ph idx="1"/>
          </p:nvPr>
        </p:nvSpPr>
        <p:spPr/>
        <p:txBody>
          <a:bodyPr>
            <a:normAutofit fontScale="92500"/>
          </a:bodyPr>
          <a:lstStyle/>
          <a:p>
            <a:pPr algn="just"/>
            <a:r>
              <a:rPr lang="ru-RU" dirty="0"/>
              <a:t>Основной механизм защиты совместно используемых данных</a:t>
            </a:r>
          </a:p>
          <a:p>
            <a:pPr algn="just"/>
            <a:r>
              <a:rPr lang="ru-RU" b="1" dirty="0" err="1"/>
              <a:t>std</a:t>
            </a:r>
            <a:r>
              <a:rPr lang="ru-RU" b="1" dirty="0"/>
              <a:t>::</a:t>
            </a:r>
            <a:r>
              <a:rPr lang="ru-RU" b="1" dirty="0" err="1"/>
              <a:t>mutex</a:t>
            </a:r>
            <a:r>
              <a:rPr lang="ru-RU" b="1" dirty="0"/>
              <a:t> </a:t>
            </a:r>
            <a:r>
              <a:rPr lang="ru-RU" dirty="0"/>
              <a:t>предлагает эксклюзивную, </a:t>
            </a:r>
            <a:r>
              <a:rPr lang="ru-RU" dirty="0" err="1"/>
              <a:t>нерекурсивную</a:t>
            </a:r>
            <a:r>
              <a:rPr lang="ru-RU" dirty="0"/>
              <a:t> семантику владения:</a:t>
            </a:r>
          </a:p>
          <a:p>
            <a:pPr marL="457200" indent="-457200" algn="just">
              <a:buFont typeface="Arial" panose="020B0604020202020204" pitchFamily="34" charset="0"/>
              <a:buChar char="•"/>
            </a:pPr>
            <a:r>
              <a:rPr lang="ru-RU" dirty="0"/>
              <a:t>Вызывающий поток владеет мьютексом с момента успешного вызова методов </a:t>
            </a:r>
            <a:r>
              <a:rPr lang="ru-RU" dirty="0" err="1"/>
              <a:t>lock</a:t>
            </a:r>
            <a:r>
              <a:rPr lang="ru-RU" dirty="0"/>
              <a:t> или </a:t>
            </a:r>
            <a:r>
              <a:rPr lang="ru-RU" dirty="0" err="1"/>
              <a:t>try_lock</a:t>
            </a:r>
            <a:r>
              <a:rPr lang="ru-RU" dirty="0"/>
              <a:t> до вызова </a:t>
            </a:r>
            <a:r>
              <a:rPr lang="ru-RU" dirty="0" err="1"/>
              <a:t>unlock</a:t>
            </a:r>
            <a:r>
              <a:rPr lang="ru-RU" dirty="0"/>
              <a:t>.</a:t>
            </a:r>
          </a:p>
          <a:p>
            <a:pPr marL="457200" indent="-457200" algn="just">
              <a:buFont typeface="Arial" panose="020B0604020202020204" pitchFamily="34" charset="0"/>
              <a:buChar char="•"/>
            </a:pPr>
            <a:r>
              <a:rPr lang="ru-RU" dirty="0"/>
              <a:t>Когда поток владеет мьютексом, все остальные потоки блокируются (при вызове </a:t>
            </a:r>
            <a:r>
              <a:rPr lang="ru-RU" dirty="0" err="1"/>
              <a:t>lock</a:t>
            </a:r>
            <a:r>
              <a:rPr lang="ru-RU" dirty="0"/>
              <a:t>) или получают </a:t>
            </a:r>
            <a:r>
              <a:rPr lang="ru-RU" dirty="0" err="1"/>
              <a:t>false</a:t>
            </a:r>
            <a:r>
              <a:rPr lang="ru-RU" dirty="0"/>
              <a:t> (при вызове </a:t>
            </a:r>
            <a:r>
              <a:rPr lang="ru-RU" dirty="0" err="1"/>
              <a:t>try_lock</a:t>
            </a:r>
            <a:r>
              <a:rPr lang="ru-RU" dirty="0"/>
              <a:t>), если они пытаются претендовать на владение мьютексом.</a:t>
            </a:r>
          </a:p>
          <a:p>
            <a:pPr marL="457200" indent="-457200" algn="just">
              <a:buFont typeface="Arial" panose="020B0604020202020204" pitchFamily="34" charset="0"/>
              <a:buChar char="•"/>
            </a:pPr>
            <a:r>
              <a:rPr lang="ru-RU" dirty="0"/>
              <a:t>Вызывающий поток не должен владеть мьютексом до вызова </a:t>
            </a:r>
            <a:r>
              <a:rPr lang="ru-RU" dirty="0" err="1"/>
              <a:t>lock</a:t>
            </a:r>
            <a:r>
              <a:rPr lang="ru-RU" dirty="0"/>
              <a:t> или </a:t>
            </a:r>
            <a:r>
              <a:rPr lang="ru-RU" dirty="0" err="1"/>
              <a:t>try_lock</a:t>
            </a:r>
            <a:r>
              <a:rPr lang="ru-RU" dirty="0"/>
              <a:t>.</a:t>
            </a:r>
          </a:p>
        </p:txBody>
      </p:sp>
    </p:spTree>
    <p:extLst>
      <p:ext uri="{BB962C8B-B14F-4D97-AF65-F5344CB8AC3E}">
        <p14:creationId xmlns:p14="http://schemas.microsoft.com/office/powerpoint/2010/main" val="37599728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F2A154-5D8A-C287-C568-035224FF08E3}"/>
              </a:ext>
            </a:extLst>
          </p:cNvPr>
          <p:cNvSpPr>
            <a:spLocks noGrp="1"/>
          </p:cNvSpPr>
          <p:nvPr>
            <p:ph type="title"/>
          </p:nvPr>
        </p:nvSpPr>
        <p:spPr/>
        <p:txBody>
          <a:bodyPr/>
          <a:lstStyle/>
          <a:p>
            <a:r>
              <a:rPr lang="ru-RU" dirty="0"/>
              <a:t>Пример</a:t>
            </a:r>
          </a:p>
        </p:txBody>
      </p:sp>
      <p:sp>
        <p:nvSpPr>
          <p:cNvPr id="3" name="Объект 2">
            <a:extLst>
              <a:ext uri="{FF2B5EF4-FFF2-40B4-BE49-F238E27FC236}">
                <a16:creationId xmlns:a16="http://schemas.microsoft.com/office/drawing/2014/main" id="{390FACD4-C764-5292-CA40-1D8C20D3409B}"/>
              </a:ext>
            </a:extLst>
          </p:cNvPr>
          <p:cNvSpPr>
            <a:spLocks noGrp="1"/>
          </p:cNvSpPr>
          <p:nvPr>
            <p:ph idx="1"/>
          </p:nvPr>
        </p:nvSpPr>
        <p:spPr>
          <a:xfrm>
            <a:off x="838200" y="1359568"/>
            <a:ext cx="10515600" cy="5361907"/>
          </a:xfrm>
        </p:spPr>
        <p:txBody>
          <a:bodyPr>
            <a:normAutofit/>
          </a:bodyPr>
          <a:lstStyle/>
          <a:p>
            <a:r>
              <a:rPr lang="en-US" sz="1800" dirty="0">
                <a:latin typeface="Consolas" panose="020B0609020204030204" pitchFamily="49" charset="0"/>
              </a:rPr>
              <a:t>void </a:t>
            </a:r>
            <a:r>
              <a:rPr lang="en-US" sz="1800" dirty="0" err="1">
                <a:latin typeface="Consolas" panose="020B0609020204030204" pitchFamily="49" charset="0"/>
              </a:rPr>
              <a:t>threadFunction</a:t>
            </a:r>
            <a:r>
              <a:rPr lang="en-US" sz="1800" dirty="0">
                <a:latin typeface="Consolas" panose="020B0609020204030204" pitchFamily="49" charset="0"/>
              </a:rPr>
              <a:t>(){</a:t>
            </a:r>
          </a:p>
          <a:p>
            <a:r>
              <a:rPr lang="en-US" sz="1800" dirty="0">
                <a:latin typeface="Consolas" panose="020B0609020204030204" pitchFamily="49" charset="0"/>
              </a:rPr>
              <a:t>     </a:t>
            </a:r>
            <a:r>
              <a:rPr lang="en-US" sz="1800" dirty="0" err="1">
                <a:latin typeface="Consolas" panose="020B0609020204030204" pitchFamily="49" charset="0"/>
              </a:rPr>
              <a:t>g_lock.lock</a:t>
            </a:r>
            <a:r>
              <a:rPr lang="en-US" sz="1800" dirty="0">
                <a:latin typeface="Consolas" panose="020B0609020204030204" pitchFamily="49" charset="0"/>
              </a:rPr>
              <a:t>();</a:t>
            </a:r>
          </a:p>
          <a:p>
            <a:r>
              <a:rPr lang="en-US" sz="1800" dirty="0">
                <a:latin typeface="Consolas" panose="020B0609020204030204" pitchFamily="49" charset="0"/>
              </a:rPr>
              <a:t>     std::</a:t>
            </a:r>
            <a:r>
              <a:rPr lang="en-US" sz="1800" dirty="0" err="1">
                <a:latin typeface="Consolas" panose="020B0609020204030204" pitchFamily="49" charset="0"/>
              </a:rPr>
              <a:t>cout</a:t>
            </a:r>
            <a:r>
              <a:rPr lang="en-US" sz="1800" dirty="0">
                <a:latin typeface="Consolas" panose="020B0609020204030204" pitchFamily="49" charset="0"/>
              </a:rPr>
              <a:t> &lt;&lt; "entered thread " &lt;&lt; std::</a:t>
            </a:r>
            <a:r>
              <a:rPr lang="en-US" sz="1800" dirty="0" err="1">
                <a:latin typeface="Consolas" panose="020B0609020204030204" pitchFamily="49" charset="0"/>
              </a:rPr>
              <a:t>this_thread</a:t>
            </a:r>
            <a:r>
              <a:rPr lang="en-US" sz="1800" dirty="0">
                <a:latin typeface="Consolas" panose="020B0609020204030204" pitchFamily="49" charset="0"/>
              </a:rPr>
              <a:t>::</a:t>
            </a:r>
            <a:r>
              <a:rPr lang="en-US" sz="1800" dirty="0" err="1">
                <a:latin typeface="Consolas" panose="020B0609020204030204" pitchFamily="49" charset="0"/>
              </a:rPr>
              <a:t>get_id</a:t>
            </a:r>
            <a:r>
              <a:rPr lang="en-US" sz="1800" dirty="0">
                <a:latin typeface="Consolas" panose="020B0609020204030204" pitchFamily="49" charset="0"/>
              </a:rPr>
              <a:t>() &lt;&lt; std::</a:t>
            </a:r>
            <a:r>
              <a:rPr lang="en-US" sz="1800" dirty="0" err="1">
                <a:latin typeface="Consolas" panose="020B0609020204030204" pitchFamily="49" charset="0"/>
              </a:rPr>
              <a:t>endl</a:t>
            </a:r>
            <a:r>
              <a:rPr lang="en-US" sz="1800" dirty="0">
                <a:latin typeface="Consolas" panose="020B0609020204030204" pitchFamily="49" charset="0"/>
              </a:rPr>
              <a:t>;</a:t>
            </a:r>
          </a:p>
          <a:p>
            <a:r>
              <a:rPr lang="en-US" sz="1800" dirty="0">
                <a:latin typeface="Consolas" panose="020B0609020204030204" pitchFamily="49" charset="0"/>
              </a:rPr>
              <a:t>     std::</a:t>
            </a:r>
            <a:r>
              <a:rPr lang="en-US" sz="1800" dirty="0" err="1">
                <a:latin typeface="Consolas" panose="020B0609020204030204" pitchFamily="49" charset="0"/>
              </a:rPr>
              <a:t>this_thread</a:t>
            </a:r>
            <a:r>
              <a:rPr lang="en-US" sz="1800" dirty="0">
                <a:latin typeface="Consolas" panose="020B0609020204030204" pitchFamily="49" charset="0"/>
              </a:rPr>
              <a:t>::</a:t>
            </a:r>
            <a:r>
              <a:rPr lang="en-US" sz="1800" dirty="0" err="1">
                <a:latin typeface="Consolas" panose="020B0609020204030204" pitchFamily="49" charset="0"/>
              </a:rPr>
              <a:t>sleep_for</a:t>
            </a:r>
            <a:r>
              <a:rPr lang="en-US" sz="1800" dirty="0">
                <a:latin typeface="Consolas" panose="020B0609020204030204" pitchFamily="49" charset="0"/>
              </a:rPr>
              <a:t>(std::chrono::seconds(rand()%10));</a:t>
            </a:r>
          </a:p>
          <a:p>
            <a:r>
              <a:rPr lang="en-US" sz="1800" dirty="0">
                <a:latin typeface="Consolas" panose="020B0609020204030204" pitchFamily="49" charset="0"/>
              </a:rPr>
              <a:t>     std::</a:t>
            </a:r>
            <a:r>
              <a:rPr lang="en-US" sz="1800" dirty="0" err="1">
                <a:latin typeface="Consolas" panose="020B0609020204030204" pitchFamily="49" charset="0"/>
              </a:rPr>
              <a:t>cout</a:t>
            </a:r>
            <a:r>
              <a:rPr lang="en-US" sz="1800" dirty="0">
                <a:latin typeface="Consolas" panose="020B0609020204030204" pitchFamily="49" charset="0"/>
              </a:rPr>
              <a:t> &lt;&lt; "leaving thread " &lt;&lt; std::</a:t>
            </a:r>
            <a:r>
              <a:rPr lang="en-US" sz="1800" dirty="0" err="1">
                <a:latin typeface="Consolas" panose="020B0609020204030204" pitchFamily="49" charset="0"/>
              </a:rPr>
              <a:t>this_thread</a:t>
            </a:r>
            <a:r>
              <a:rPr lang="en-US" sz="1800" dirty="0">
                <a:latin typeface="Consolas" panose="020B0609020204030204" pitchFamily="49" charset="0"/>
              </a:rPr>
              <a:t>::</a:t>
            </a:r>
            <a:r>
              <a:rPr lang="en-US" sz="1800" dirty="0" err="1">
                <a:latin typeface="Consolas" panose="020B0609020204030204" pitchFamily="49" charset="0"/>
              </a:rPr>
              <a:t>get_id</a:t>
            </a:r>
            <a:r>
              <a:rPr lang="en-US" sz="1800" dirty="0">
                <a:latin typeface="Consolas" panose="020B0609020204030204" pitchFamily="49" charset="0"/>
              </a:rPr>
              <a:t>() &lt;&lt; std::</a:t>
            </a:r>
            <a:r>
              <a:rPr lang="en-US" sz="1800" dirty="0" err="1">
                <a:latin typeface="Consolas" panose="020B0609020204030204" pitchFamily="49" charset="0"/>
              </a:rPr>
              <a:t>endl</a:t>
            </a:r>
            <a:r>
              <a:rPr lang="en-US" sz="1800" dirty="0">
                <a:latin typeface="Consolas" panose="020B0609020204030204" pitchFamily="49" charset="0"/>
              </a:rPr>
              <a:t>;</a:t>
            </a:r>
          </a:p>
          <a:p>
            <a:r>
              <a:rPr lang="en-US" sz="1800" dirty="0">
                <a:latin typeface="Consolas" panose="020B0609020204030204" pitchFamily="49" charset="0"/>
              </a:rPr>
              <a:t>     </a:t>
            </a:r>
            <a:r>
              <a:rPr lang="en-US" sz="1800" dirty="0" err="1">
                <a:latin typeface="Consolas" panose="020B0609020204030204" pitchFamily="49" charset="0"/>
              </a:rPr>
              <a:t>g_lock.unlock</a:t>
            </a:r>
            <a:r>
              <a:rPr lang="en-US" sz="1800" dirty="0">
                <a:latin typeface="Consolas" panose="020B0609020204030204" pitchFamily="49" charset="0"/>
              </a:rPr>
              <a:t>();</a:t>
            </a:r>
          </a:p>
          <a:p>
            <a:r>
              <a:rPr lang="en-US" sz="1800" dirty="0">
                <a:latin typeface="Consolas" panose="020B0609020204030204" pitchFamily="49" charset="0"/>
              </a:rPr>
              <a:t>}</a:t>
            </a:r>
          </a:p>
          <a:p>
            <a:r>
              <a:rPr lang="en-US" sz="1800" dirty="0">
                <a:latin typeface="Consolas" panose="020B0609020204030204" pitchFamily="49" charset="0"/>
              </a:rPr>
              <a:t>int main(){</a:t>
            </a:r>
          </a:p>
          <a:p>
            <a:r>
              <a:rPr lang="en-US" sz="1800" dirty="0">
                <a:latin typeface="Consolas" panose="020B0609020204030204" pitchFamily="49" charset="0"/>
              </a:rPr>
              <a:t>     </a:t>
            </a:r>
            <a:r>
              <a:rPr lang="en-US" sz="1800" dirty="0" err="1">
                <a:latin typeface="Consolas" panose="020B0609020204030204" pitchFamily="49" charset="0"/>
              </a:rPr>
              <a:t>srand</a:t>
            </a:r>
            <a:r>
              <a:rPr lang="en-US" sz="1800" dirty="0">
                <a:latin typeface="Consolas" panose="020B0609020204030204" pitchFamily="49" charset="0"/>
              </a:rPr>
              <a:t>((unsigned int)time(0));</a:t>
            </a:r>
          </a:p>
          <a:p>
            <a:r>
              <a:rPr lang="en-US" sz="1800" dirty="0">
                <a:latin typeface="Consolas" panose="020B0609020204030204" pitchFamily="49" charset="0"/>
              </a:rPr>
              <a:t>     std::thread t1(</a:t>
            </a:r>
            <a:r>
              <a:rPr lang="en-US" sz="1800" dirty="0" err="1">
                <a:latin typeface="Consolas" panose="020B0609020204030204" pitchFamily="49" charset="0"/>
              </a:rPr>
              <a:t>threadFunction</a:t>
            </a:r>
            <a:r>
              <a:rPr lang="en-US" sz="1800" dirty="0">
                <a:latin typeface="Consolas" panose="020B0609020204030204" pitchFamily="49" charset="0"/>
              </a:rPr>
              <a:t>); std::thread t2(</a:t>
            </a:r>
            <a:r>
              <a:rPr lang="en-US" sz="1800" dirty="0" err="1">
                <a:latin typeface="Consolas" panose="020B0609020204030204" pitchFamily="49" charset="0"/>
              </a:rPr>
              <a:t>threadFunction</a:t>
            </a:r>
            <a:r>
              <a:rPr lang="en-US" sz="1800" dirty="0">
                <a:latin typeface="Consolas" panose="020B0609020204030204" pitchFamily="49" charset="0"/>
              </a:rPr>
              <a:t>);</a:t>
            </a:r>
          </a:p>
          <a:p>
            <a:r>
              <a:rPr lang="en-US" sz="1800" dirty="0">
                <a:latin typeface="Consolas" panose="020B0609020204030204" pitchFamily="49" charset="0"/>
              </a:rPr>
              <a:t>     t1.join(); t2.join();</a:t>
            </a:r>
          </a:p>
          <a:p>
            <a:r>
              <a:rPr lang="en-US" sz="1800" dirty="0">
                <a:latin typeface="Consolas" panose="020B0609020204030204" pitchFamily="49" charset="0"/>
              </a:rPr>
              <a:t>     return 0;</a:t>
            </a:r>
          </a:p>
          <a:p>
            <a:r>
              <a:rPr lang="en-US" sz="1800" dirty="0">
                <a:latin typeface="Consolas" panose="020B0609020204030204" pitchFamily="49" charset="0"/>
              </a:rPr>
              <a:t>}</a:t>
            </a:r>
            <a:endParaRPr lang="ru-RU" sz="1800" dirty="0">
              <a:latin typeface="Consolas" panose="020B0609020204030204" pitchFamily="49" charset="0"/>
            </a:endParaRPr>
          </a:p>
        </p:txBody>
      </p:sp>
    </p:spTree>
    <p:extLst>
      <p:ext uri="{BB962C8B-B14F-4D97-AF65-F5344CB8AC3E}">
        <p14:creationId xmlns:p14="http://schemas.microsoft.com/office/powerpoint/2010/main" val="4215740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C6F384-6C40-9B0E-6918-3FD8A19A6773}"/>
              </a:ext>
            </a:extLst>
          </p:cNvPr>
          <p:cNvSpPr>
            <a:spLocks noGrp="1"/>
          </p:cNvSpPr>
          <p:nvPr>
            <p:ph type="title"/>
          </p:nvPr>
        </p:nvSpPr>
        <p:spPr/>
        <p:txBody>
          <a:bodyPr/>
          <a:lstStyle/>
          <a:p>
            <a:r>
              <a:rPr lang="ru-RU" dirty="0"/>
              <a:t>Блокировки</a:t>
            </a:r>
          </a:p>
        </p:txBody>
      </p:sp>
      <p:pic>
        <p:nvPicPr>
          <p:cNvPr id="1026" name="Picture 2" descr="Picture background">
            <a:extLst>
              <a:ext uri="{FF2B5EF4-FFF2-40B4-BE49-F238E27FC236}">
                <a16:creationId xmlns:a16="http://schemas.microsoft.com/office/drawing/2014/main" id="{C70A7F42-AD9B-A9DB-A8C0-D7F022E0E1C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59427" y="1485863"/>
            <a:ext cx="8752974" cy="5372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7047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E158B7-2F39-8660-9760-86262B3E2A4E}"/>
              </a:ext>
            </a:extLst>
          </p:cNvPr>
          <p:cNvSpPr>
            <a:spLocks noGrp="1"/>
          </p:cNvSpPr>
          <p:nvPr>
            <p:ph type="title"/>
          </p:nvPr>
        </p:nvSpPr>
        <p:spPr/>
        <p:txBody>
          <a:bodyPr/>
          <a:lstStyle/>
          <a:p>
            <a:r>
              <a:rPr lang="ru-RU" dirty="0"/>
              <a:t>Блокировки</a:t>
            </a:r>
          </a:p>
        </p:txBody>
      </p:sp>
      <p:sp>
        <p:nvSpPr>
          <p:cNvPr id="3" name="Объект 2">
            <a:extLst>
              <a:ext uri="{FF2B5EF4-FFF2-40B4-BE49-F238E27FC236}">
                <a16:creationId xmlns:a16="http://schemas.microsoft.com/office/drawing/2014/main" id="{BC1767BC-A417-3E0C-F70E-08228DF44E32}"/>
              </a:ext>
            </a:extLst>
          </p:cNvPr>
          <p:cNvSpPr>
            <a:spLocks noGrp="1"/>
          </p:cNvSpPr>
          <p:nvPr>
            <p:ph idx="1"/>
          </p:nvPr>
        </p:nvSpPr>
        <p:spPr/>
        <p:txBody>
          <a:bodyPr/>
          <a:lstStyle/>
          <a:p>
            <a:pPr algn="just"/>
            <a:r>
              <a:rPr lang="ru-RU" b="1" i="0" dirty="0">
                <a:solidFill>
                  <a:srgbClr val="333333"/>
                </a:solidFill>
                <a:effectLst/>
              </a:rPr>
              <a:t>Видимость данных</a:t>
            </a:r>
            <a:r>
              <a:rPr lang="ru-RU" b="0" i="0" dirty="0">
                <a:solidFill>
                  <a:srgbClr val="333333"/>
                </a:solidFill>
                <a:effectLst/>
              </a:rPr>
              <a:t>. Если два потока работают с одной переменной, каждый из них хранит её копию в кэше процессора, на котором запущен. Изменения в одной копии не отражаются мгновенно в основной памяти и других копиях. Это ведёт к путанице: одни потоки работают с актуальным значением, другие — с устаревшим.</a:t>
            </a:r>
            <a:endParaRPr lang="ru-RU" dirty="0"/>
          </a:p>
        </p:txBody>
      </p:sp>
    </p:spTree>
    <p:extLst>
      <p:ext uri="{BB962C8B-B14F-4D97-AF65-F5344CB8AC3E}">
        <p14:creationId xmlns:p14="http://schemas.microsoft.com/office/powerpoint/2010/main" val="1995541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B3A02-34DE-636B-ED79-66C63623F9D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774FF8-B040-9A56-FC64-DA6400CB79EC}"/>
              </a:ext>
            </a:extLst>
          </p:cNvPr>
          <p:cNvSpPr>
            <a:spLocks noGrp="1"/>
          </p:cNvSpPr>
          <p:nvPr>
            <p:ph type="title"/>
          </p:nvPr>
        </p:nvSpPr>
        <p:spPr/>
        <p:txBody>
          <a:bodyPr/>
          <a:lstStyle/>
          <a:p>
            <a:r>
              <a:rPr lang="ru-RU" dirty="0"/>
              <a:t>Блокировки</a:t>
            </a:r>
          </a:p>
        </p:txBody>
      </p:sp>
      <p:sp>
        <p:nvSpPr>
          <p:cNvPr id="3" name="Объект 2">
            <a:extLst>
              <a:ext uri="{FF2B5EF4-FFF2-40B4-BE49-F238E27FC236}">
                <a16:creationId xmlns:a16="http://schemas.microsoft.com/office/drawing/2014/main" id="{DDFC8E44-2E40-398D-B89A-C891EDDD812C}"/>
              </a:ext>
            </a:extLst>
          </p:cNvPr>
          <p:cNvSpPr>
            <a:spLocks noGrp="1"/>
          </p:cNvSpPr>
          <p:nvPr>
            <p:ph idx="1"/>
          </p:nvPr>
        </p:nvSpPr>
        <p:spPr/>
        <p:txBody>
          <a:bodyPr/>
          <a:lstStyle/>
          <a:p>
            <a:pPr algn="just"/>
            <a:r>
              <a:rPr lang="ru-RU" b="1" i="0" dirty="0">
                <a:solidFill>
                  <a:srgbClr val="333333"/>
                </a:solidFill>
                <a:effectLst/>
              </a:rPr>
              <a:t>Взаимоблокировка</a:t>
            </a:r>
            <a:r>
              <a:rPr lang="ru-RU" b="0" i="0" dirty="0">
                <a:solidFill>
                  <a:srgbClr val="333333"/>
                </a:solidFill>
                <a:effectLst/>
              </a:rPr>
              <a:t>.</a:t>
            </a:r>
            <a:r>
              <a:rPr lang="en-US" b="0" i="0" dirty="0">
                <a:solidFill>
                  <a:srgbClr val="333333"/>
                </a:solidFill>
                <a:effectLst/>
              </a:rPr>
              <a:t> </a:t>
            </a:r>
            <a:r>
              <a:rPr lang="ru-RU" b="0" i="0" dirty="0">
                <a:solidFill>
                  <a:srgbClr val="333333"/>
                </a:solidFill>
                <a:effectLst/>
              </a:rPr>
              <a:t>Происходит, когда каждый из двух потоков пытается заблокировать ресурс, уже заблокированный другим потоком. Ни один из потоков не может продолжить работу.</a:t>
            </a:r>
          </a:p>
        </p:txBody>
      </p:sp>
    </p:spTree>
    <p:extLst>
      <p:ext uri="{BB962C8B-B14F-4D97-AF65-F5344CB8AC3E}">
        <p14:creationId xmlns:p14="http://schemas.microsoft.com/office/powerpoint/2010/main" val="2252768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741E0-0F25-92D9-8C98-2F1B138C924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C4167E-AB26-A27A-157C-BF08142542FD}"/>
              </a:ext>
            </a:extLst>
          </p:cNvPr>
          <p:cNvSpPr>
            <a:spLocks noGrp="1"/>
          </p:cNvSpPr>
          <p:nvPr>
            <p:ph type="title"/>
          </p:nvPr>
        </p:nvSpPr>
        <p:spPr/>
        <p:txBody>
          <a:bodyPr/>
          <a:lstStyle/>
          <a:p>
            <a:r>
              <a:rPr lang="ru-RU" dirty="0"/>
              <a:t>Блокировки</a:t>
            </a:r>
          </a:p>
        </p:txBody>
      </p:sp>
      <p:sp>
        <p:nvSpPr>
          <p:cNvPr id="3" name="Объект 2">
            <a:extLst>
              <a:ext uri="{FF2B5EF4-FFF2-40B4-BE49-F238E27FC236}">
                <a16:creationId xmlns:a16="http://schemas.microsoft.com/office/drawing/2014/main" id="{9807B37C-857D-B9CC-2153-656B39B8889F}"/>
              </a:ext>
            </a:extLst>
          </p:cNvPr>
          <p:cNvSpPr>
            <a:spLocks noGrp="1"/>
          </p:cNvSpPr>
          <p:nvPr>
            <p:ph idx="1"/>
          </p:nvPr>
        </p:nvSpPr>
        <p:spPr/>
        <p:txBody>
          <a:bodyPr/>
          <a:lstStyle/>
          <a:p>
            <a:pPr algn="just"/>
            <a:r>
              <a:rPr lang="ru-RU" b="1" i="0" dirty="0">
                <a:solidFill>
                  <a:srgbClr val="333333"/>
                </a:solidFill>
                <a:effectLst/>
              </a:rPr>
              <a:t>Ожидание на блокировках (Lock </a:t>
            </a:r>
            <a:r>
              <a:rPr lang="ru-RU" b="1" i="0" dirty="0" err="1">
                <a:solidFill>
                  <a:srgbClr val="333333"/>
                </a:solidFill>
                <a:effectLst/>
              </a:rPr>
              <a:t>Contention</a:t>
            </a:r>
            <a:r>
              <a:rPr lang="ru-RU" b="1" i="0" dirty="0">
                <a:solidFill>
                  <a:srgbClr val="333333"/>
                </a:solidFill>
                <a:effectLst/>
              </a:rPr>
              <a:t>)</a:t>
            </a:r>
            <a:r>
              <a:rPr lang="ru-RU" b="0" i="0" dirty="0">
                <a:solidFill>
                  <a:srgbClr val="333333"/>
                </a:solidFill>
                <a:effectLst/>
              </a:rPr>
              <a:t>. Основное время потока проводится не в исполнении полезной работы, а в ожидании блокированного другим потоком ресурса.</a:t>
            </a:r>
            <a:endParaRPr lang="ru-RU" dirty="0"/>
          </a:p>
        </p:txBody>
      </p:sp>
    </p:spTree>
    <p:extLst>
      <p:ext uri="{BB962C8B-B14F-4D97-AF65-F5344CB8AC3E}">
        <p14:creationId xmlns:p14="http://schemas.microsoft.com/office/powerpoint/2010/main" val="17742953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4A0CB-BE72-5374-33B0-381BDD78747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9E4FF9-B121-2A18-4E5E-80A1369B7941}"/>
              </a:ext>
            </a:extLst>
          </p:cNvPr>
          <p:cNvSpPr>
            <a:spLocks noGrp="1"/>
          </p:cNvSpPr>
          <p:nvPr>
            <p:ph type="title"/>
          </p:nvPr>
        </p:nvSpPr>
        <p:spPr/>
        <p:txBody>
          <a:bodyPr/>
          <a:lstStyle/>
          <a:p>
            <a:r>
              <a:rPr lang="ru-RU" dirty="0"/>
              <a:t>Блокировки</a:t>
            </a:r>
          </a:p>
        </p:txBody>
      </p:sp>
      <p:sp>
        <p:nvSpPr>
          <p:cNvPr id="3" name="Объект 2">
            <a:extLst>
              <a:ext uri="{FF2B5EF4-FFF2-40B4-BE49-F238E27FC236}">
                <a16:creationId xmlns:a16="http://schemas.microsoft.com/office/drawing/2014/main" id="{118D9CCF-AB0E-6BA2-A1F0-D0A9055F456F}"/>
              </a:ext>
            </a:extLst>
          </p:cNvPr>
          <p:cNvSpPr>
            <a:spLocks noGrp="1"/>
          </p:cNvSpPr>
          <p:nvPr>
            <p:ph idx="1"/>
          </p:nvPr>
        </p:nvSpPr>
        <p:spPr/>
        <p:txBody>
          <a:bodyPr/>
          <a:lstStyle/>
          <a:p>
            <a:pPr algn="just"/>
            <a:r>
              <a:rPr lang="ru-RU" b="1" i="0" dirty="0">
                <a:solidFill>
                  <a:srgbClr val="333333"/>
                </a:solidFill>
                <a:effectLst/>
              </a:rPr>
              <a:t>Активная блокировка (Live Lock)</a:t>
            </a:r>
            <a:r>
              <a:rPr lang="ru-RU" dirty="0">
                <a:solidFill>
                  <a:srgbClr val="333333"/>
                </a:solidFill>
              </a:rPr>
              <a:t> - </a:t>
            </a:r>
            <a:r>
              <a:rPr lang="ru-RU" b="0" i="0" dirty="0">
                <a:solidFill>
                  <a:srgbClr val="222222"/>
                </a:solidFill>
                <a:effectLst/>
              </a:rPr>
              <a:t>тип взаимной блокировки, при котором несколько потоков выполняют бесполезную работу, попадая в зацикленность при попытке получения каких-либо ресурсов. При этом их состояния постоянно изменяются в зависимости друг от друга. Фактической ошибки не возникает, но КПД системы падает до 0. Часто возникает в результате попыток предотвращения </a:t>
            </a:r>
            <a:r>
              <a:rPr lang="ru-RU" b="0" i="0" dirty="0" err="1">
                <a:solidFill>
                  <a:srgbClr val="222222"/>
                </a:solidFill>
                <a:effectLst/>
              </a:rPr>
              <a:t>deadlock</a:t>
            </a:r>
            <a:r>
              <a:rPr lang="ru-RU" b="0" i="0" dirty="0">
                <a:solidFill>
                  <a:srgbClr val="222222"/>
                </a:solidFill>
                <a:effectLst/>
              </a:rPr>
              <a:t>.</a:t>
            </a:r>
            <a:endParaRPr lang="ru-RU" dirty="0"/>
          </a:p>
        </p:txBody>
      </p:sp>
    </p:spTree>
    <p:extLst>
      <p:ext uri="{BB962C8B-B14F-4D97-AF65-F5344CB8AC3E}">
        <p14:creationId xmlns:p14="http://schemas.microsoft.com/office/powerpoint/2010/main" val="25566386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Классические потоки</a:t>
            </a:r>
          </a:p>
        </p:txBody>
      </p:sp>
      <p:pic>
        <p:nvPicPr>
          <p:cNvPr id="5" name="Объект 4"/>
          <p:cNvPicPr>
            <a:picLocks noGrp="1" noChangeAspect="1"/>
          </p:cNvPicPr>
          <p:nvPr>
            <p:ph idx="1"/>
          </p:nvPr>
        </p:nvPicPr>
        <p:blipFill>
          <a:blip r:embed="rId2"/>
          <a:stretch>
            <a:fillRect/>
          </a:stretch>
        </p:blipFill>
        <p:spPr>
          <a:xfrm>
            <a:off x="838200" y="2170430"/>
            <a:ext cx="10515600" cy="4206240"/>
          </a:xfrm>
          <a:prstGeom prst="rect">
            <a:avLst/>
          </a:prstGeom>
        </p:spPr>
      </p:pic>
    </p:spTree>
    <p:extLst>
      <p:ext uri="{BB962C8B-B14F-4D97-AF65-F5344CB8AC3E}">
        <p14:creationId xmlns:p14="http://schemas.microsoft.com/office/powerpoint/2010/main" val="36440586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Классические потоки</a:t>
            </a:r>
          </a:p>
        </p:txBody>
      </p:sp>
      <p:pic>
        <p:nvPicPr>
          <p:cNvPr id="4" name="Объект 3"/>
          <p:cNvPicPr>
            <a:picLocks noGrp="1" noChangeAspect="1"/>
          </p:cNvPicPr>
          <p:nvPr>
            <p:ph idx="1"/>
          </p:nvPr>
        </p:nvPicPr>
        <p:blipFill>
          <a:blip r:embed="rId2"/>
          <a:stretch>
            <a:fillRect/>
          </a:stretch>
        </p:blipFill>
        <p:spPr>
          <a:xfrm>
            <a:off x="1304256" y="1958652"/>
            <a:ext cx="9583487" cy="4629796"/>
          </a:xfrm>
          <a:prstGeom prst="rect">
            <a:avLst/>
          </a:prstGeom>
        </p:spPr>
      </p:pic>
    </p:spTree>
    <p:extLst>
      <p:ext uri="{BB962C8B-B14F-4D97-AF65-F5344CB8AC3E}">
        <p14:creationId xmlns:p14="http://schemas.microsoft.com/office/powerpoint/2010/main" val="6456531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Классические потоки</a:t>
            </a:r>
          </a:p>
        </p:txBody>
      </p:sp>
      <p:sp>
        <p:nvSpPr>
          <p:cNvPr id="3" name="Объект 2"/>
          <p:cNvSpPr>
            <a:spLocks noGrp="1"/>
          </p:cNvSpPr>
          <p:nvPr>
            <p:ph idx="1"/>
          </p:nvPr>
        </p:nvSpPr>
        <p:spPr/>
        <p:txBody>
          <a:bodyPr/>
          <a:lstStyle/>
          <a:p>
            <a:r>
              <a:rPr lang="en-US" dirty="0" err="1"/>
              <a:t>std</a:t>
            </a:r>
            <a:r>
              <a:rPr lang="en-US" dirty="0"/>
              <a:t>::thread::join()</a:t>
            </a:r>
          </a:p>
          <a:p>
            <a:pPr marL="457200" indent="-457200">
              <a:buFont typeface="Arial" panose="020B0604020202020204" pitchFamily="34" charset="0"/>
              <a:buChar char="•"/>
            </a:pPr>
            <a:r>
              <a:rPr lang="ru-RU" dirty="0"/>
              <a:t>Блокирует текущий поток до тех пор, пока</a:t>
            </a:r>
            <a:r>
              <a:rPr lang="en-US" dirty="0"/>
              <a:t> </a:t>
            </a:r>
            <a:r>
              <a:rPr lang="ru-RU" dirty="0"/>
              <a:t>созданный поток не завершит выполнение.</a:t>
            </a:r>
          </a:p>
          <a:p>
            <a:pPr marL="457200" indent="-457200">
              <a:buFont typeface="Arial" panose="020B0604020202020204" pitchFamily="34" charset="0"/>
              <a:buChar char="•"/>
            </a:pPr>
            <a:r>
              <a:rPr lang="ru-RU" dirty="0"/>
              <a:t>Не возвращает значения</a:t>
            </a:r>
          </a:p>
          <a:p>
            <a:pPr marL="457200" indent="-457200">
              <a:buFont typeface="Arial" panose="020B0604020202020204" pitchFamily="34" charset="0"/>
              <a:buChar char="•"/>
            </a:pPr>
            <a:endParaRPr lang="ru-RU" dirty="0"/>
          </a:p>
        </p:txBody>
      </p:sp>
    </p:spTree>
    <p:extLst>
      <p:ext uri="{BB962C8B-B14F-4D97-AF65-F5344CB8AC3E}">
        <p14:creationId xmlns:p14="http://schemas.microsoft.com/office/powerpoint/2010/main" val="428861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Типичный пример возврата значения</a:t>
            </a:r>
          </a:p>
        </p:txBody>
      </p:sp>
      <p:pic>
        <p:nvPicPr>
          <p:cNvPr id="5" name="Объект 4"/>
          <p:cNvPicPr>
            <a:picLocks noGrp="1" noChangeAspect="1"/>
          </p:cNvPicPr>
          <p:nvPr>
            <p:ph idx="1"/>
          </p:nvPr>
        </p:nvPicPr>
        <p:blipFill>
          <a:blip r:embed="rId3"/>
          <a:stretch>
            <a:fillRect/>
          </a:stretch>
        </p:blipFill>
        <p:spPr>
          <a:xfrm>
            <a:off x="1990152" y="2106310"/>
            <a:ext cx="8211696" cy="4334480"/>
          </a:xfrm>
          <a:prstGeom prst="rect">
            <a:avLst/>
          </a:prstGeom>
        </p:spPr>
      </p:pic>
    </p:spTree>
    <p:extLst>
      <p:ext uri="{BB962C8B-B14F-4D97-AF65-F5344CB8AC3E}">
        <p14:creationId xmlns:p14="http://schemas.microsoft.com/office/powerpoint/2010/main" val="31474790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 </a:t>
            </a:r>
            <a:r>
              <a:rPr lang="en-US" dirty="0" err="1"/>
              <a:t>async</a:t>
            </a:r>
            <a:r>
              <a:rPr lang="en-US" dirty="0"/>
              <a:t>/await</a:t>
            </a:r>
            <a:endParaRPr lang="ru-RU" dirty="0"/>
          </a:p>
        </p:txBody>
      </p:sp>
      <p:sp>
        <p:nvSpPr>
          <p:cNvPr id="3" name="Объект 2"/>
          <p:cNvSpPr>
            <a:spLocks noGrp="1"/>
          </p:cNvSpPr>
          <p:nvPr>
            <p:ph idx="1"/>
          </p:nvPr>
        </p:nvSpPr>
        <p:spPr/>
        <p:txBody>
          <a:bodyPr>
            <a:normAutofit/>
          </a:bodyPr>
          <a:lstStyle/>
          <a:p>
            <a:pPr algn="just"/>
            <a:r>
              <a:rPr lang="ru-RU" dirty="0"/>
              <a:t>Асинхронность/ожидание в компьютерных программах — это синтаксическая особенность многих языков программирования, которая позволяет организовать асинхронный и неблокирующий метод так же, как обычный синхронный метод.</a:t>
            </a:r>
            <a:endParaRPr lang="en-US" dirty="0"/>
          </a:p>
          <a:p>
            <a:pPr algn="just"/>
            <a:r>
              <a:rPr lang="ru-RU" dirty="0"/>
              <a:t>Асинхронность – не совпадение с чем-либо во времени, неодновременность, несинхронность.</a:t>
            </a:r>
            <a:endParaRPr lang="en-US" dirty="0"/>
          </a:p>
        </p:txBody>
      </p:sp>
    </p:spTree>
    <p:extLst>
      <p:ext uri="{BB962C8B-B14F-4D97-AF65-F5344CB8AC3E}">
        <p14:creationId xmlns:p14="http://schemas.microsoft.com/office/powerpoint/2010/main" val="6942301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 </a:t>
            </a:r>
            <a:r>
              <a:rPr lang="en-US" dirty="0" err="1"/>
              <a:t>async</a:t>
            </a:r>
            <a:r>
              <a:rPr lang="en-US" dirty="0"/>
              <a:t>/await</a:t>
            </a:r>
            <a:endParaRPr lang="ru-RU" dirty="0"/>
          </a:p>
        </p:txBody>
      </p:sp>
      <p:sp>
        <p:nvSpPr>
          <p:cNvPr id="3" name="Объект 2"/>
          <p:cNvSpPr>
            <a:spLocks noGrp="1"/>
          </p:cNvSpPr>
          <p:nvPr>
            <p:ph idx="1"/>
          </p:nvPr>
        </p:nvSpPr>
        <p:spPr/>
        <p:txBody>
          <a:bodyPr/>
          <a:lstStyle/>
          <a:p>
            <a:pPr algn="just"/>
            <a:r>
              <a:rPr lang="ru-RU" dirty="0"/>
              <a:t>В компьютерном программировании, асинхронными событиями являются те, которые возникают независимо от основного потока выполнения программы. Асинхронные действия — действия, выполненные в неблокирующем режиме, что позволяет основному потоку программы продолжить обработку.</a:t>
            </a:r>
          </a:p>
          <a:p>
            <a:endParaRPr lang="ru-RU" dirty="0"/>
          </a:p>
        </p:txBody>
      </p:sp>
    </p:spTree>
    <p:extLst>
      <p:ext uri="{BB962C8B-B14F-4D97-AF65-F5344CB8AC3E}">
        <p14:creationId xmlns:p14="http://schemas.microsoft.com/office/powerpoint/2010/main" val="10043968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C++ </a:t>
            </a:r>
            <a:r>
              <a:rPr lang="en-US" dirty="0" err="1"/>
              <a:t>async</a:t>
            </a:r>
            <a:r>
              <a:rPr lang="en-US" dirty="0"/>
              <a:t>/await</a:t>
            </a:r>
            <a:endParaRPr lang="ru-RU" dirty="0"/>
          </a:p>
        </p:txBody>
      </p:sp>
      <p:pic>
        <p:nvPicPr>
          <p:cNvPr id="1026" name="Picture 2" descr="Picture backgroun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20256" y="1825625"/>
            <a:ext cx="6751487"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73863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 </a:t>
            </a:r>
            <a:r>
              <a:rPr lang="en-US" dirty="0" err="1"/>
              <a:t>async</a:t>
            </a:r>
            <a:r>
              <a:rPr lang="en-US" dirty="0"/>
              <a:t>/await</a:t>
            </a:r>
            <a:endParaRPr lang="ru-RU" dirty="0"/>
          </a:p>
        </p:txBody>
      </p:sp>
      <p:sp>
        <p:nvSpPr>
          <p:cNvPr id="3" name="Объект 2"/>
          <p:cNvSpPr>
            <a:spLocks noGrp="1"/>
          </p:cNvSpPr>
          <p:nvPr>
            <p:ph idx="1"/>
          </p:nvPr>
        </p:nvSpPr>
        <p:spPr/>
        <p:txBody>
          <a:bodyPr>
            <a:normAutofit lnSpcReduction="10000"/>
          </a:bodyPr>
          <a:lstStyle/>
          <a:p>
            <a:pPr algn="just"/>
            <a:r>
              <a:rPr lang="en-US" b="1" dirty="0" err="1"/>
              <a:t>std</a:t>
            </a:r>
            <a:r>
              <a:rPr lang="en-US" b="1" dirty="0"/>
              <a:t>::promise&lt;T&gt;</a:t>
            </a:r>
            <a:r>
              <a:rPr lang="ru-RU" b="1" dirty="0"/>
              <a:t> </a:t>
            </a:r>
            <a:r>
              <a:rPr lang="ru-RU" dirty="0"/>
              <a:t>– Шаблон класса позволяет сохранять значение или исключение, которые впоследствии извлекаются асинхронно с помощью объекта </a:t>
            </a:r>
            <a:r>
              <a:rPr lang="ru-RU" b="1" dirty="0" err="1"/>
              <a:t>std</a:t>
            </a:r>
            <a:r>
              <a:rPr lang="ru-RU" b="1" dirty="0"/>
              <a:t>::</a:t>
            </a:r>
            <a:r>
              <a:rPr lang="ru-RU" b="1" dirty="0" err="1"/>
              <a:t>future</a:t>
            </a:r>
            <a:r>
              <a:rPr lang="ru-RU" dirty="0"/>
              <a:t>, созданного объектом </a:t>
            </a:r>
            <a:r>
              <a:rPr lang="ru-RU" b="1" dirty="0" err="1"/>
              <a:t>std</a:t>
            </a:r>
            <a:r>
              <a:rPr lang="ru-RU" b="1" dirty="0"/>
              <a:t>::</a:t>
            </a:r>
            <a:r>
              <a:rPr lang="ru-RU" b="1" dirty="0" err="1"/>
              <a:t>promise</a:t>
            </a:r>
            <a:r>
              <a:rPr lang="ru-RU" dirty="0"/>
              <a:t>. Обратите внимание, что объект </a:t>
            </a:r>
            <a:r>
              <a:rPr lang="ru-RU" b="1" dirty="0" err="1"/>
              <a:t>std</a:t>
            </a:r>
            <a:r>
              <a:rPr lang="ru-RU" b="1" dirty="0"/>
              <a:t>::</a:t>
            </a:r>
            <a:r>
              <a:rPr lang="ru-RU" b="1" dirty="0" err="1"/>
              <a:t>promise</a:t>
            </a:r>
            <a:r>
              <a:rPr lang="ru-RU" b="1" dirty="0"/>
              <a:t> </a:t>
            </a:r>
            <a:r>
              <a:rPr lang="ru-RU" dirty="0"/>
              <a:t>предназначен для использования только один раз.</a:t>
            </a:r>
            <a:endParaRPr lang="en-US" dirty="0"/>
          </a:p>
          <a:p>
            <a:pPr algn="just"/>
            <a:r>
              <a:rPr lang="en-US" b="1" dirty="0" err="1"/>
              <a:t>std</a:t>
            </a:r>
            <a:r>
              <a:rPr lang="en-US" b="1" dirty="0"/>
              <a:t>::future</a:t>
            </a:r>
            <a:r>
              <a:rPr lang="ru-RU" b="1" dirty="0"/>
              <a:t> </a:t>
            </a:r>
            <a:r>
              <a:rPr lang="ru-RU" dirty="0"/>
              <a:t>– предоставляет механизм доступа к результату асинхронных операций.</a:t>
            </a:r>
            <a:endParaRPr lang="en-US" dirty="0"/>
          </a:p>
          <a:p>
            <a:pPr algn="just"/>
            <a:r>
              <a:rPr lang="en-US" b="1" dirty="0" err="1"/>
              <a:t>std</a:t>
            </a:r>
            <a:r>
              <a:rPr lang="en-US" b="1" dirty="0"/>
              <a:t>::</a:t>
            </a:r>
            <a:r>
              <a:rPr lang="en-US" b="1" dirty="0" err="1"/>
              <a:t>async</a:t>
            </a:r>
            <a:r>
              <a:rPr lang="ru-RU" b="1" dirty="0"/>
              <a:t> </a:t>
            </a:r>
            <a:r>
              <a:rPr lang="ru-RU" dirty="0"/>
              <a:t>– Шаблон функции запускает функцию f асинхронно (возможно, в отдельном потоке, который может быть частью пула потоков) и возвращает </a:t>
            </a:r>
            <a:r>
              <a:rPr lang="ru-RU" dirty="0" err="1"/>
              <a:t>std</a:t>
            </a:r>
            <a:r>
              <a:rPr lang="ru-RU" dirty="0"/>
              <a:t>::</a:t>
            </a:r>
            <a:r>
              <a:rPr lang="ru-RU" dirty="0" err="1"/>
              <a:t>future</a:t>
            </a:r>
            <a:r>
              <a:rPr lang="ru-RU" dirty="0"/>
              <a:t>, который в конечном итоге будет содержать результат вызова этой функции.</a:t>
            </a:r>
          </a:p>
        </p:txBody>
      </p:sp>
    </p:spTree>
    <p:extLst>
      <p:ext uri="{BB962C8B-B14F-4D97-AF65-F5344CB8AC3E}">
        <p14:creationId xmlns:p14="http://schemas.microsoft.com/office/powerpoint/2010/main" val="11849355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 пример возвращаемого значения из </a:t>
            </a:r>
            <a:r>
              <a:rPr lang="en-US" dirty="0" err="1"/>
              <a:t>async</a:t>
            </a:r>
            <a:r>
              <a:rPr lang="en-US" dirty="0"/>
              <a:t>/await</a:t>
            </a:r>
            <a:endParaRPr lang="ru-RU" dirty="0"/>
          </a:p>
        </p:txBody>
      </p:sp>
      <p:pic>
        <p:nvPicPr>
          <p:cNvPr id="4" name="Объект 3"/>
          <p:cNvPicPr>
            <a:picLocks noGrp="1" noChangeAspect="1"/>
          </p:cNvPicPr>
          <p:nvPr>
            <p:ph idx="1"/>
          </p:nvPr>
        </p:nvPicPr>
        <p:blipFill>
          <a:blip r:embed="rId2"/>
          <a:stretch>
            <a:fillRect/>
          </a:stretch>
        </p:blipFill>
        <p:spPr>
          <a:xfrm>
            <a:off x="2147336" y="1853862"/>
            <a:ext cx="7897327" cy="4839375"/>
          </a:xfrm>
          <a:prstGeom prst="rect">
            <a:avLst/>
          </a:prstGeom>
        </p:spPr>
      </p:pic>
    </p:spTree>
    <p:extLst>
      <p:ext uri="{BB962C8B-B14F-4D97-AF65-F5344CB8AC3E}">
        <p14:creationId xmlns:p14="http://schemas.microsoft.com/office/powerpoint/2010/main" val="30992223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C++ </a:t>
            </a:r>
            <a:r>
              <a:rPr lang="en-US" dirty="0" err="1"/>
              <a:t>std</a:t>
            </a:r>
            <a:r>
              <a:rPr lang="en-US" dirty="0"/>
              <a:t>::</a:t>
            </a:r>
            <a:r>
              <a:rPr lang="en-US" dirty="0" err="1"/>
              <a:t>async</a:t>
            </a:r>
            <a:r>
              <a:rPr lang="en-US" dirty="0"/>
              <a:t>()</a:t>
            </a:r>
            <a:endParaRPr lang="ru-RU" dirty="0"/>
          </a:p>
        </p:txBody>
      </p:sp>
      <p:sp>
        <p:nvSpPr>
          <p:cNvPr id="3" name="Объект 2"/>
          <p:cNvSpPr>
            <a:spLocks noGrp="1"/>
          </p:cNvSpPr>
          <p:nvPr>
            <p:ph idx="1"/>
          </p:nvPr>
        </p:nvSpPr>
        <p:spPr/>
        <p:txBody>
          <a:bodyPr>
            <a:normAutofit/>
          </a:bodyPr>
          <a:lstStyle/>
          <a:p>
            <a:r>
              <a:rPr lang="ru-RU" dirty="0"/>
              <a:t>Параметры:</a:t>
            </a:r>
          </a:p>
          <a:p>
            <a:pPr marL="514350" indent="-514350">
              <a:buFont typeface="+mj-lt"/>
              <a:buAutoNum type="arabicPeriod"/>
            </a:pPr>
            <a:r>
              <a:rPr lang="ru-RU" dirty="0"/>
              <a:t>Политика запуска</a:t>
            </a:r>
          </a:p>
          <a:p>
            <a:pPr marL="514350" indent="-514350">
              <a:buFont typeface="+mj-lt"/>
              <a:buAutoNum type="arabicPeriod"/>
            </a:pPr>
            <a:r>
              <a:rPr lang="ru-RU" dirty="0"/>
              <a:t>Указатель на функцию</a:t>
            </a:r>
          </a:p>
          <a:p>
            <a:pPr marL="514350" indent="-514350">
              <a:buFont typeface="+mj-lt"/>
              <a:buAutoNum type="arabicPeriod"/>
            </a:pPr>
            <a:r>
              <a:rPr lang="ru-RU" dirty="0"/>
              <a:t>Аргументы функции</a:t>
            </a:r>
          </a:p>
        </p:txBody>
      </p:sp>
    </p:spTree>
    <p:extLst>
      <p:ext uri="{BB962C8B-B14F-4D97-AF65-F5344CB8AC3E}">
        <p14:creationId xmlns:p14="http://schemas.microsoft.com/office/powerpoint/2010/main" val="39862981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C++ </a:t>
            </a:r>
            <a:r>
              <a:rPr lang="en-US" dirty="0" err="1"/>
              <a:t>std</a:t>
            </a:r>
            <a:r>
              <a:rPr lang="en-US" dirty="0"/>
              <a:t>::</a:t>
            </a:r>
            <a:r>
              <a:rPr lang="en-US" dirty="0" err="1"/>
              <a:t>async</a:t>
            </a:r>
            <a:r>
              <a:rPr lang="en-US" dirty="0"/>
              <a:t>()</a:t>
            </a:r>
            <a:endParaRPr lang="ru-RU" dirty="0"/>
          </a:p>
        </p:txBody>
      </p:sp>
      <p:sp>
        <p:nvSpPr>
          <p:cNvPr id="3" name="Объект 2"/>
          <p:cNvSpPr>
            <a:spLocks noGrp="1"/>
          </p:cNvSpPr>
          <p:nvPr>
            <p:ph idx="1"/>
          </p:nvPr>
        </p:nvSpPr>
        <p:spPr/>
        <p:txBody>
          <a:bodyPr>
            <a:normAutofit/>
          </a:bodyPr>
          <a:lstStyle/>
          <a:p>
            <a:r>
              <a:rPr lang="ru-RU" dirty="0"/>
              <a:t>Политика:</a:t>
            </a:r>
          </a:p>
          <a:p>
            <a:pPr marL="342900" indent="-342900" algn="just">
              <a:buFont typeface="Arial" panose="020B0604020202020204" pitchFamily="34" charset="0"/>
              <a:buChar char="•"/>
            </a:pPr>
            <a:r>
              <a:rPr lang="ru-RU" sz="2200" dirty="0" err="1"/>
              <a:t>launch</a:t>
            </a:r>
            <a:r>
              <a:rPr lang="ru-RU" sz="2200" dirty="0"/>
              <a:t>::</a:t>
            </a:r>
            <a:r>
              <a:rPr lang="ru-RU" sz="2200" dirty="0" err="1"/>
              <a:t>async</a:t>
            </a:r>
            <a:r>
              <a:rPr lang="ru-RU" sz="2200" dirty="0"/>
              <a:t> – это асинхронный метод, который запускает новый поток для вызова функции, как если бы объект потока создавался с функциями и аргументами и получал доступ к общему состоянию из возвращаемого будущего</a:t>
            </a:r>
          </a:p>
          <a:p>
            <a:pPr marL="342900" indent="-342900" algn="just">
              <a:buFont typeface="Arial" panose="020B0604020202020204" pitchFamily="34" charset="0"/>
              <a:buChar char="•"/>
            </a:pPr>
            <a:r>
              <a:rPr lang="ru-RU" sz="2200" dirty="0" err="1"/>
              <a:t>launch</a:t>
            </a:r>
            <a:r>
              <a:rPr lang="ru-RU" sz="2200" dirty="0"/>
              <a:t>::</a:t>
            </a:r>
            <a:r>
              <a:rPr lang="ru-RU" sz="2200" dirty="0" err="1"/>
              <a:t>deferred</a:t>
            </a:r>
            <a:r>
              <a:rPr lang="ru-RU" sz="2200" dirty="0"/>
              <a:t> - это отложенная функция, и вызов функции откладывается до тех пор, пока к общему состоянию возвращаемого будущего не будет получен доступ с помощью </a:t>
            </a:r>
            <a:r>
              <a:rPr lang="ru-RU" sz="2200" dirty="0" err="1"/>
              <a:t>get</a:t>
            </a:r>
            <a:r>
              <a:rPr lang="ru-RU" sz="2200" dirty="0"/>
              <a:t> или </a:t>
            </a:r>
            <a:r>
              <a:rPr lang="ru-RU" sz="2200" dirty="0" err="1"/>
              <a:t>wait</a:t>
            </a:r>
            <a:r>
              <a:rPr lang="ru-RU" sz="2200" dirty="0"/>
              <a:t>. В этом случае функция вызывается и больше не считается отложенной. В момент возврата этого конкретного вызова общее состояние возвращаемого будущего становится готовым.</a:t>
            </a:r>
          </a:p>
          <a:p>
            <a:pPr marL="342900" indent="-342900" algn="just">
              <a:buFont typeface="Arial" panose="020B0604020202020204" pitchFamily="34" charset="0"/>
              <a:buChar char="•"/>
            </a:pPr>
            <a:r>
              <a:rPr lang="ru-RU" sz="2200" dirty="0" err="1"/>
              <a:t>launch</a:t>
            </a:r>
            <a:r>
              <a:rPr lang="ru-RU" sz="2200" dirty="0"/>
              <a:t>::</a:t>
            </a:r>
            <a:r>
              <a:rPr lang="ru-RU" sz="2200" dirty="0" err="1"/>
              <a:t>async|launch</a:t>
            </a:r>
            <a:r>
              <a:rPr lang="ru-RU" sz="2200" dirty="0"/>
              <a:t>::</a:t>
            </a:r>
            <a:r>
              <a:rPr lang="ru-RU" sz="2200" dirty="0" err="1"/>
              <a:t>deferred</a:t>
            </a:r>
            <a:r>
              <a:rPr lang="ru-RU" sz="2200" dirty="0"/>
              <a:t> - Это происходит автоматически, и функция выбирает политику автоматически в определённый момент. Это зависит от системы, а также от реализации библиотеки, которая обычно оптимизирована для текущего уровня параллелизма в системе</a:t>
            </a:r>
          </a:p>
          <a:p>
            <a:pPr marL="342900" indent="-342900" algn="just"/>
            <a:endParaRPr lang="ru-RU" sz="2200" dirty="0">
              <a:latin typeface="Arial" panose="020B0604020202020204" pitchFamily="34" charset="0"/>
              <a:cs typeface="Arial" panose="020B0604020202020204" pitchFamily="34" charset="0"/>
            </a:endParaRPr>
          </a:p>
          <a:p>
            <a:endParaRPr lang="ru-RU" dirty="0"/>
          </a:p>
        </p:txBody>
      </p:sp>
    </p:spTree>
    <p:extLst>
      <p:ext uri="{BB962C8B-B14F-4D97-AF65-F5344CB8AC3E}">
        <p14:creationId xmlns:p14="http://schemas.microsoft.com/office/powerpoint/2010/main" val="26218520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 </a:t>
            </a:r>
            <a:r>
              <a:rPr lang="en-US" dirty="0" err="1"/>
              <a:t>std</a:t>
            </a:r>
            <a:r>
              <a:rPr lang="en-US" dirty="0"/>
              <a:t>::</a:t>
            </a:r>
            <a:r>
              <a:rPr lang="en-US" dirty="0" err="1"/>
              <a:t>async</a:t>
            </a:r>
            <a:r>
              <a:rPr lang="en-US" dirty="0"/>
              <a:t>()</a:t>
            </a:r>
            <a:endParaRPr lang="ru-RU" dirty="0"/>
          </a:p>
        </p:txBody>
      </p:sp>
      <p:sp>
        <p:nvSpPr>
          <p:cNvPr id="3" name="Объект 2"/>
          <p:cNvSpPr>
            <a:spLocks noGrp="1"/>
          </p:cNvSpPr>
          <p:nvPr>
            <p:ph idx="1"/>
          </p:nvPr>
        </p:nvSpPr>
        <p:spPr/>
        <p:txBody>
          <a:bodyPr/>
          <a:lstStyle/>
          <a:p>
            <a:r>
              <a:rPr lang="ru-RU" dirty="0"/>
              <a:t>Указатель на функцию:</a:t>
            </a:r>
          </a:p>
          <a:p>
            <a:pPr marL="457200" indent="-457200" algn="just">
              <a:buFont typeface="Arial" panose="020B0604020202020204" pitchFamily="34" charset="0"/>
              <a:buChar char="•"/>
            </a:pPr>
            <a:r>
              <a:rPr lang="ru-RU" dirty="0"/>
              <a:t>Указатель на функцию, член или любой тип перемещаемого функционального объекта, класс которого определяет оператор(), состоящий из замыканий, а также функциональных объектов. Здесь функция использует копию параметра с истекшим сроком действия. Возвращаемое значение </a:t>
            </a:r>
            <a:r>
              <a:rPr lang="ru-RU" dirty="0" err="1"/>
              <a:t>fn</a:t>
            </a:r>
            <a:r>
              <a:rPr lang="ru-RU" dirty="0"/>
              <a:t> сохраняется в качестве общего состояния для получения будущего объекта, возвращаемого </a:t>
            </a:r>
            <a:r>
              <a:rPr lang="ru-RU" dirty="0" err="1"/>
              <a:t>async</a:t>
            </a:r>
            <a:r>
              <a:rPr lang="ru-RU" dirty="0"/>
              <a:t>. Если </a:t>
            </a:r>
            <a:r>
              <a:rPr lang="ru-RU" dirty="0" err="1"/>
              <a:t>fn</a:t>
            </a:r>
            <a:r>
              <a:rPr lang="ru-RU" dirty="0"/>
              <a:t> генерирует исключение, оно сохраняется в общем состоянии для получения будущим объектом.</a:t>
            </a:r>
          </a:p>
        </p:txBody>
      </p:sp>
    </p:spTree>
    <p:extLst>
      <p:ext uri="{BB962C8B-B14F-4D97-AF65-F5344CB8AC3E}">
        <p14:creationId xmlns:p14="http://schemas.microsoft.com/office/powerpoint/2010/main" val="22147727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C2910A-C3F6-4430-9605-CB825AC40295}"/>
              </a:ext>
            </a:extLst>
          </p:cNvPr>
          <p:cNvSpPr>
            <a:spLocks noGrp="1"/>
          </p:cNvSpPr>
          <p:nvPr>
            <p:ph type="title"/>
          </p:nvPr>
        </p:nvSpPr>
        <p:spPr/>
        <p:txBody>
          <a:bodyPr/>
          <a:lstStyle/>
          <a:p>
            <a:r>
              <a:rPr lang="ru-RU" dirty="0"/>
              <a:t>Примеры</a:t>
            </a:r>
            <a:br>
              <a:rPr lang="ru-RU" dirty="0"/>
            </a:br>
            <a:r>
              <a:rPr lang="ru-RU" dirty="0"/>
              <a:t>Последовательный вывод</a:t>
            </a:r>
          </a:p>
        </p:txBody>
      </p:sp>
      <p:pic>
        <p:nvPicPr>
          <p:cNvPr id="5" name="Объект 4">
            <a:extLst>
              <a:ext uri="{FF2B5EF4-FFF2-40B4-BE49-F238E27FC236}">
                <a16:creationId xmlns:a16="http://schemas.microsoft.com/office/drawing/2014/main" id="{9233B325-C1E9-C482-2F22-232DD80C4478}"/>
              </a:ext>
            </a:extLst>
          </p:cNvPr>
          <p:cNvPicPr>
            <a:picLocks noGrp="1" noChangeAspect="1"/>
          </p:cNvPicPr>
          <p:nvPr>
            <p:ph idx="1"/>
          </p:nvPr>
        </p:nvPicPr>
        <p:blipFill>
          <a:blip r:embed="rId2"/>
          <a:stretch>
            <a:fillRect/>
          </a:stretch>
        </p:blipFill>
        <p:spPr>
          <a:xfrm>
            <a:off x="2057388" y="1825625"/>
            <a:ext cx="8077224" cy="4895850"/>
          </a:xfrm>
        </p:spPr>
      </p:pic>
      <p:sp>
        <p:nvSpPr>
          <p:cNvPr id="7" name="TextBox 6">
            <a:extLst>
              <a:ext uri="{FF2B5EF4-FFF2-40B4-BE49-F238E27FC236}">
                <a16:creationId xmlns:a16="http://schemas.microsoft.com/office/drawing/2014/main" id="{9843E51E-746E-0C8C-BEBC-CE25DE14151E}"/>
              </a:ext>
            </a:extLst>
          </p:cNvPr>
          <p:cNvSpPr txBox="1"/>
          <p:nvPr/>
        </p:nvSpPr>
        <p:spPr>
          <a:xfrm>
            <a:off x="6096000" y="6123543"/>
            <a:ext cx="6093994" cy="369332"/>
          </a:xfrm>
          <a:prstGeom prst="rect">
            <a:avLst/>
          </a:prstGeom>
          <a:noFill/>
        </p:spPr>
        <p:txBody>
          <a:bodyPr wrap="square">
            <a:spAutoFit/>
          </a:bodyPr>
          <a:lstStyle/>
          <a:p>
            <a:r>
              <a:rPr lang="ru-RU" dirty="0">
                <a:solidFill>
                  <a:srgbClr val="FF0000"/>
                </a:solidFill>
              </a:rPr>
              <a:t>Вывод: 11111111112222222222</a:t>
            </a:r>
          </a:p>
        </p:txBody>
      </p:sp>
    </p:spTree>
    <p:extLst>
      <p:ext uri="{BB962C8B-B14F-4D97-AF65-F5344CB8AC3E}">
        <p14:creationId xmlns:p14="http://schemas.microsoft.com/office/powerpoint/2010/main" val="17685575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ACB2D7-1CAD-ECB5-4141-56F3BF449E67}"/>
              </a:ext>
            </a:extLst>
          </p:cNvPr>
          <p:cNvSpPr>
            <a:spLocks noGrp="1"/>
          </p:cNvSpPr>
          <p:nvPr>
            <p:ph type="title"/>
          </p:nvPr>
        </p:nvSpPr>
        <p:spPr/>
        <p:txBody>
          <a:bodyPr/>
          <a:lstStyle/>
          <a:p>
            <a:r>
              <a:rPr lang="ru-RU" dirty="0"/>
              <a:t>Пример</a:t>
            </a:r>
            <a:br>
              <a:rPr lang="ru-RU" dirty="0"/>
            </a:br>
            <a:r>
              <a:rPr lang="ru-RU" dirty="0"/>
              <a:t>Последовательный вывод</a:t>
            </a:r>
          </a:p>
        </p:txBody>
      </p:sp>
      <p:sp>
        <p:nvSpPr>
          <p:cNvPr id="3" name="Объект 2">
            <a:extLst>
              <a:ext uri="{FF2B5EF4-FFF2-40B4-BE49-F238E27FC236}">
                <a16:creationId xmlns:a16="http://schemas.microsoft.com/office/drawing/2014/main" id="{EA6D93BC-0FA8-BD85-A332-6C73495919EC}"/>
              </a:ext>
            </a:extLst>
          </p:cNvPr>
          <p:cNvSpPr>
            <a:spLocks noGrp="1"/>
          </p:cNvSpPr>
          <p:nvPr>
            <p:ph idx="1"/>
          </p:nvPr>
        </p:nvSpPr>
        <p:spPr/>
        <p:txBody>
          <a:bodyPr/>
          <a:lstStyle/>
          <a:p>
            <a:pPr algn="just"/>
            <a:r>
              <a:rPr lang="en-US" sz="3200" dirty="0"/>
              <a:t>C4858	</a:t>
            </a:r>
            <a:r>
              <a:rPr lang="ru-RU" sz="3200" dirty="0"/>
              <a:t>Отбрасывание возвращаемого значения: </a:t>
            </a:r>
            <a:r>
              <a:rPr lang="en-US" sz="3200" dirty="0"/>
              <a:t>The result of 'std::async' should be stored in a variable. If the return value is discarded, the temporary 'std::future' is destroyed, waiting for an async result or evaluating a deferred result, thus defeating the purpose of 'std::async'..</a:t>
            </a:r>
            <a:r>
              <a:rPr lang="en-US" sz="1800" dirty="0">
                <a:latin typeface="Segoe UI" panose="020B0502040204020203" pitchFamily="34" charset="0"/>
              </a:rPr>
              <a:t>	</a:t>
            </a:r>
          </a:p>
          <a:p>
            <a:endParaRPr lang="ru-RU" dirty="0"/>
          </a:p>
        </p:txBody>
      </p:sp>
    </p:spTree>
    <p:extLst>
      <p:ext uri="{BB962C8B-B14F-4D97-AF65-F5344CB8AC3E}">
        <p14:creationId xmlns:p14="http://schemas.microsoft.com/office/powerpoint/2010/main" val="34329233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74519A-F228-743B-8080-3FEA13E8D867}"/>
              </a:ext>
            </a:extLst>
          </p:cNvPr>
          <p:cNvSpPr>
            <a:spLocks noGrp="1"/>
          </p:cNvSpPr>
          <p:nvPr>
            <p:ph type="title"/>
          </p:nvPr>
        </p:nvSpPr>
        <p:spPr/>
        <p:txBody>
          <a:bodyPr/>
          <a:lstStyle/>
          <a:p>
            <a:r>
              <a:rPr lang="ru-RU" dirty="0"/>
              <a:t>Пример</a:t>
            </a:r>
            <a:br>
              <a:rPr lang="ru-RU" dirty="0"/>
            </a:br>
            <a:r>
              <a:rPr lang="ru-RU" dirty="0"/>
              <a:t>Параллельный вывод</a:t>
            </a:r>
          </a:p>
        </p:txBody>
      </p:sp>
      <p:pic>
        <p:nvPicPr>
          <p:cNvPr id="11" name="Объект 10">
            <a:extLst>
              <a:ext uri="{FF2B5EF4-FFF2-40B4-BE49-F238E27FC236}">
                <a16:creationId xmlns:a16="http://schemas.microsoft.com/office/drawing/2014/main" id="{219AA8FA-44B8-ECC4-3C53-79ADA0F334D7}"/>
              </a:ext>
            </a:extLst>
          </p:cNvPr>
          <p:cNvPicPr>
            <a:picLocks noGrp="1" noChangeAspect="1"/>
          </p:cNvPicPr>
          <p:nvPr>
            <p:ph idx="1"/>
          </p:nvPr>
        </p:nvPicPr>
        <p:blipFill>
          <a:blip r:embed="rId2"/>
          <a:stretch>
            <a:fillRect/>
          </a:stretch>
        </p:blipFill>
        <p:spPr>
          <a:xfrm>
            <a:off x="2156563" y="1777498"/>
            <a:ext cx="7878874" cy="4895850"/>
          </a:xfrm>
        </p:spPr>
      </p:pic>
      <p:sp>
        <p:nvSpPr>
          <p:cNvPr id="15" name="TextBox 14">
            <a:extLst>
              <a:ext uri="{FF2B5EF4-FFF2-40B4-BE49-F238E27FC236}">
                <a16:creationId xmlns:a16="http://schemas.microsoft.com/office/drawing/2014/main" id="{EF777D0F-3B88-BE14-CCA7-9EC8B92141AC}"/>
              </a:ext>
            </a:extLst>
          </p:cNvPr>
          <p:cNvSpPr txBox="1"/>
          <p:nvPr/>
        </p:nvSpPr>
        <p:spPr>
          <a:xfrm>
            <a:off x="6096000" y="6003227"/>
            <a:ext cx="6093994" cy="369332"/>
          </a:xfrm>
          <a:prstGeom prst="rect">
            <a:avLst/>
          </a:prstGeom>
          <a:noFill/>
        </p:spPr>
        <p:txBody>
          <a:bodyPr wrap="square">
            <a:spAutoFit/>
          </a:bodyPr>
          <a:lstStyle/>
          <a:p>
            <a:r>
              <a:rPr lang="ru-RU" dirty="0">
                <a:solidFill>
                  <a:srgbClr val="FF0000"/>
                </a:solidFill>
              </a:rPr>
              <a:t>Вывод: 12212121122112212121</a:t>
            </a:r>
          </a:p>
        </p:txBody>
      </p:sp>
    </p:spTree>
    <p:extLst>
      <p:ext uri="{BB962C8B-B14F-4D97-AF65-F5344CB8AC3E}">
        <p14:creationId xmlns:p14="http://schemas.microsoft.com/office/powerpoint/2010/main" val="29287988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42F6F5-CF5D-6373-5B64-244DE4249C84}"/>
              </a:ext>
            </a:extLst>
          </p:cNvPr>
          <p:cNvSpPr>
            <a:spLocks noGrp="1"/>
          </p:cNvSpPr>
          <p:nvPr>
            <p:ph type="title"/>
          </p:nvPr>
        </p:nvSpPr>
        <p:spPr/>
        <p:txBody>
          <a:bodyPr/>
          <a:lstStyle/>
          <a:p>
            <a:r>
              <a:rPr lang="ru-RU" dirty="0"/>
              <a:t>Пример</a:t>
            </a:r>
            <a:br>
              <a:rPr lang="ru-RU" dirty="0"/>
            </a:br>
            <a:r>
              <a:rPr lang="ru-RU" dirty="0"/>
              <a:t>Параллельный обход массива</a:t>
            </a:r>
          </a:p>
        </p:txBody>
      </p:sp>
      <p:pic>
        <p:nvPicPr>
          <p:cNvPr id="9" name="Объект 8">
            <a:extLst>
              <a:ext uri="{FF2B5EF4-FFF2-40B4-BE49-F238E27FC236}">
                <a16:creationId xmlns:a16="http://schemas.microsoft.com/office/drawing/2014/main" id="{BA802781-68F6-664A-77BD-B3C89D915A9F}"/>
              </a:ext>
            </a:extLst>
          </p:cNvPr>
          <p:cNvPicPr>
            <a:picLocks noGrp="1" noChangeAspect="1"/>
          </p:cNvPicPr>
          <p:nvPr>
            <p:ph idx="1"/>
          </p:nvPr>
        </p:nvPicPr>
        <p:blipFill>
          <a:blip r:embed="rId2"/>
          <a:stretch>
            <a:fillRect/>
          </a:stretch>
        </p:blipFill>
        <p:spPr>
          <a:xfrm>
            <a:off x="937257" y="1825625"/>
            <a:ext cx="10317486" cy="4895850"/>
          </a:xfrm>
        </p:spPr>
      </p:pic>
      <p:sp>
        <p:nvSpPr>
          <p:cNvPr id="11" name="TextBox 10">
            <a:extLst>
              <a:ext uri="{FF2B5EF4-FFF2-40B4-BE49-F238E27FC236}">
                <a16:creationId xmlns:a16="http://schemas.microsoft.com/office/drawing/2014/main" id="{9501ED02-0324-2C48-8E74-DBCB03725177}"/>
              </a:ext>
            </a:extLst>
          </p:cNvPr>
          <p:cNvSpPr txBox="1"/>
          <p:nvPr/>
        </p:nvSpPr>
        <p:spPr>
          <a:xfrm>
            <a:off x="6764754" y="5292546"/>
            <a:ext cx="6093994" cy="1200329"/>
          </a:xfrm>
          <a:prstGeom prst="rect">
            <a:avLst/>
          </a:prstGeom>
          <a:noFill/>
        </p:spPr>
        <p:txBody>
          <a:bodyPr wrap="square">
            <a:spAutoFit/>
          </a:bodyPr>
          <a:lstStyle/>
          <a:p>
            <a:r>
              <a:rPr lang="ru-RU" sz="3600" dirty="0">
                <a:solidFill>
                  <a:srgbClr val="FF0000"/>
                </a:solidFill>
              </a:rPr>
              <a:t>Вывод: </a:t>
            </a:r>
            <a:r>
              <a:rPr lang="ru-RU" sz="3600" dirty="0" err="1">
                <a:solidFill>
                  <a:srgbClr val="FF0000"/>
                </a:solidFill>
              </a:rPr>
              <a:t>Sum</a:t>
            </a:r>
            <a:r>
              <a:rPr lang="ru-RU" sz="3600" dirty="0">
                <a:solidFill>
                  <a:srgbClr val="FF0000"/>
                </a:solidFill>
              </a:rPr>
              <a:t>: </a:t>
            </a:r>
            <a:r>
              <a:rPr lang="ru-RU" sz="3600" dirty="0" err="1">
                <a:solidFill>
                  <a:srgbClr val="FF0000"/>
                </a:solidFill>
              </a:rPr>
              <a:t>Sum</a:t>
            </a:r>
            <a:r>
              <a:rPr lang="ru-RU" sz="3600" dirty="0">
                <a:solidFill>
                  <a:srgbClr val="FF0000"/>
                </a:solidFill>
              </a:rPr>
              <a:t>: 30</a:t>
            </a:r>
          </a:p>
          <a:p>
            <a:r>
              <a:rPr lang="ru-RU" sz="3600" dirty="0">
                <a:solidFill>
                  <a:srgbClr val="FF0000"/>
                </a:solidFill>
              </a:rPr>
              <a:t>25</a:t>
            </a:r>
          </a:p>
        </p:txBody>
      </p:sp>
    </p:spTree>
    <p:extLst>
      <p:ext uri="{BB962C8B-B14F-4D97-AF65-F5344CB8AC3E}">
        <p14:creationId xmlns:p14="http://schemas.microsoft.com/office/powerpoint/2010/main" val="22325624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A1A034-E62D-0455-88F6-77D2601AACC3}"/>
              </a:ext>
            </a:extLst>
          </p:cNvPr>
          <p:cNvSpPr>
            <a:spLocks noGrp="1"/>
          </p:cNvSpPr>
          <p:nvPr>
            <p:ph type="title"/>
          </p:nvPr>
        </p:nvSpPr>
        <p:spPr/>
        <p:txBody>
          <a:bodyPr/>
          <a:lstStyle/>
          <a:p>
            <a:r>
              <a:rPr lang="ru-RU" dirty="0"/>
              <a:t>Пример</a:t>
            </a:r>
            <a:br>
              <a:rPr lang="ru-RU" dirty="0"/>
            </a:br>
            <a:r>
              <a:rPr lang="ru-RU" dirty="0"/>
              <a:t>Агрегирование результатов</a:t>
            </a:r>
          </a:p>
        </p:txBody>
      </p:sp>
      <p:pic>
        <p:nvPicPr>
          <p:cNvPr id="5" name="Объект 4">
            <a:extLst>
              <a:ext uri="{FF2B5EF4-FFF2-40B4-BE49-F238E27FC236}">
                <a16:creationId xmlns:a16="http://schemas.microsoft.com/office/drawing/2014/main" id="{0BD9E185-5774-FF21-A364-2FDEC723C1DC}"/>
              </a:ext>
            </a:extLst>
          </p:cNvPr>
          <p:cNvPicPr>
            <a:picLocks noGrp="1" noChangeAspect="1"/>
          </p:cNvPicPr>
          <p:nvPr>
            <p:ph idx="1"/>
          </p:nvPr>
        </p:nvPicPr>
        <p:blipFill>
          <a:blip r:embed="rId2"/>
          <a:stretch>
            <a:fillRect/>
          </a:stretch>
        </p:blipFill>
        <p:spPr>
          <a:xfrm>
            <a:off x="1213102" y="1825625"/>
            <a:ext cx="9765796" cy="4895850"/>
          </a:xfrm>
        </p:spPr>
      </p:pic>
    </p:spTree>
    <p:extLst>
      <p:ext uri="{BB962C8B-B14F-4D97-AF65-F5344CB8AC3E}">
        <p14:creationId xmlns:p14="http://schemas.microsoft.com/office/powerpoint/2010/main" val="32225500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86D4C5-BFE9-DF68-EF21-1B7AE6809E7C}"/>
              </a:ext>
            </a:extLst>
          </p:cNvPr>
          <p:cNvSpPr>
            <a:spLocks noGrp="1"/>
          </p:cNvSpPr>
          <p:nvPr>
            <p:ph type="title"/>
          </p:nvPr>
        </p:nvSpPr>
        <p:spPr/>
        <p:txBody>
          <a:bodyPr/>
          <a:lstStyle/>
          <a:p>
            <a:r>
              <a:rPr lang="ru-RU" dirty="0"/>
              <a:t>Пример</a:t>
            </a:r>
            <a:br>
              <a:rPr lang="ru-RU" dirty="0"/>
            </a:br>
            <a:r>
              <a:rPr lang="ru-RU" dirty="0"/>
              <a:t>Агрегирование результатов</a:t>
            </a:r>
          </a:p>
        </p:txBody>
      </p:sp>
      <p:pic>
        <p:nvPicPr>
          <p:cNvPr id="5" name="Объект 4">
            <a:extLst>
              <a:ext uri="{FF2B5EF4-FFF2-40B4-BE49-F238E27FC236}">
                <a16:creationId xmlns:a16="http://schemas.microsoft.com/office/drawing/2014/main" id="{7E351017-D648-6CB5-9702-4B581D19DEB4}"/>
              </a:ext>
            </a:extLst>
          </p:cNvPr>
          <p:cNvPicPr>
            <a:picLocks noGrp="1" noChangeAspect="1"/>
          </p:cNvPicPr>
          <p:nvPr>
            <p:ph idx="1"/>
          </p:nvPr>
        </p:nvPicPr>
        <p:blipFill>
          <a:blip r:embed="rId2"/>
          <a:stretch>
            <a:fillRect/>
          </a:stretch>
        </p:blipFill>
        <p:spPr>
          <a:xfrm>
            <a:off x="838200" y="1876548"/>
            <a:ext cx="10515600" cy="4794003"/>
          </a:xfrm>
        </p:spPr>
      </p:pic>
    </p:spTree>
    <p:extLst>
      <p:ext uri="{BB962C8B-B14F-4D97-AF65-F5344CB8AC3E}">
        <p14:creationId xmlns:p14="http://schemas.microsoft.com/office/powerpoint/2010/main" val="6077933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FA37-0D11-5AFB-10B1-E9294349F4B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BC74ED-749F-F2F1-A652-B9F9E2A32DFF}"/>
              </a:ext>
            </a:extLst>
          </p:cNvPr>
          <p:cNvSpPr>
            <a:spLocks noGrp="1"/>
          </p:cNvSpPr>
          <p:nvPr>
            <p:ph type="title"/>
          </p:nvPr>
        </p:nvSpPr>
        <p:spPr/>
        <p:txBody>
          <a:bodyPr/>
          <a:lstStyle/>
          <a:p>
            <a:r>
              <a:rPr lang="ru-RU" dirty="0"/>
              <a:t>Пример</a:t>
            </a:r>
            <a:br>
              <a:rPr lang="ru-RU" dirty="0"/>
            </a:br>
            <a:r>
              <a:rPr lang="ru-RU" dirty="0"/>
              <a:t>Параллельное выполнение</a:t>
            </a:r>
          </a:p>
        </p:txBody>
      </p:sp>
      <p:pic>
        <p:nvPicPr>
          <p:cNvPr id="5" name="Объект 4">
            <a:extLst>
              <a:ext uri="{FF2B5EF4-FFF2-40B4-BE49-F238E27FC236}">
                <a16:creationId xmlns:a16="http://schemas.microsoft.com/office/drawing/2014/main" id="{766A3F2C-4BA2-F223-0236-F9A7023AAC3C}"/>
              </a:ext>
            </a:extLst>
          </p:cNvPr>
          <p:cNvPicPr>
            <a:picLocks noGrp="1" noChangeAspect="1"/>
          </p:cNvPicPr>
          <p:nvPr>
            <p:ph idx="1"/>
          </p:nvPr>
        </p:nvPicPr>
        <p:blipFill>
          <a:blip r:embed="rId2"/>
          <a:stretch>
            <a:fillRect/>
          </a:stretch>
        </p:blipFill>
        <p:spPr>
          <a:xfrm>
            <a:off x="887740" y="1825625"/>
            <a:ext cx="10416520" cy="4895850"/>
          </a:xfrm>
        </p:spPr>
      </p:pic>
      <p:sp>
        <p:nvSpPr>
          <p:cNvPr id="4" name="TextBox 3">
            <a:extLst>
              <a:ext uri="{FF2B5EF4-FFF2-40B4-BE49-F238E27FC236}">
                <a16:creationId xmlns:a16="http://schemas.microsoft.com/office/drawing/2014/main" id="{A18473CC-E756-411D-8C2E-3540CA77DC98}"/>
              </a:ext>
            </a:extLst>
          </p:cNvPr>
          <p:cNvSpPr txBox="1"/>
          <p:nvPr/>
        </p:nvSpPr>
        <p:spPr>
          <a:xfrm>
            <a:off x="5575300" y="3586553"/>
            <a:ext cx="6093994" cy="1754326"/>
          </a:xfrm>
          <a:prstGeom prst="rect">
            <a:avLst/>
          </a:prstGeom>
          <a:noFill/>
        </p:spPr>
        <p:txBody>
          <a:bodyPr wrap="square">
            <a:spAutoFit/>
          </a:bodyPr>
          <a:lstStyle/>
          <a:p>
            <a:r>
              <a:rPr lang="ru-RU" dirty="0">
                <a:solidFill>
                  <a:srgbClr val="FF0000"/>
                </a:solidFill>
              </a:rPr>
              <a:t>The </a:t>
            </a:r>
            <a:r>
              <a:rPr lang="ru-RU" dirty="0" err="1">
                <a:solidFill>
                  <a:srgbClr val="FF0000"/>
                </a:solidFill>
              </a:rPr>
              <a:t>number</a:t>
            </a:r>
            <a:r>
              <a:rPr lang="ru-RU" dirty="0">
                <a:solidFill>
                  <a:srgbClr val="FF0000"/>
                </a:solidFill>
              </a:rPr>
              <a:t> </a:t>
            </a:r>
            <a:r>
              <a:rPr lang="ru-RU" dirty="0" err="1">
                <a:solidFill>
                  <a:srgbClr val="FF0000"/>
                </a:solidFill>
              </a:rPr>
              <a:t>of</a:t>
            </a:r>
            <a:r>
              <a:rPr lang="ru-RU" dirty="0">
                <a:solidFill>
                  <a:srgbClr val="FF0000"/>
                </a:solidFill>
              </a:rPr>
              <a:t> </a:t>
            </a:r>
            <a:r>
              <a:rPr lang="ru-RU" dirty="0" err="1">
                <a:solidFill>
                  <a:srgbClr val="FF0000"/>
                </a:solidFill>
              </a:rPr>
              <a:t>numbers</a:t>
            </a:r>
            <a:r>
              <a:rPr lang="ru-RU" dirty="0">
                <a:solidFill>
                  <a:srgbClr val="FF0000"/>
                </a:solidFill>
              </a:rPr>
              <a:t> </a:t>
            </a:r>
            <a:r>
              <a:rPr lang="ru-RU" dirty="0" err="1">
                <a:solidFill>
                  <a:srgbClr val="FF0000"/>
                </a:solidFill>
              </a:rPr>
              <a:t>divisible</a:t>
            </a:r>
            <a:r>
              <a:rPr lang="ru-RU" dirty="0">
                <a:solidFill>
                  <a:srgbClr val="FF0000"/>
                </a:solidFill>
              </a:rPr>
              <a:t> </a:t>
            </a:r>
            <a:r>
              <a:rPr lang="ru-RU" dirty="0" err="1">
                <a:solidFill>
                  <a:srgbClr val="FF0000"/>
                </a:solidFill>
              </a:rPr>
              <a:t>by</a:t>
            </a:r>
            <a:r>
              <a:rPr lang="ru-RU" dirty="0">
                <a:solidFill>
                  <a:srgbClr val="FF0000"/>
                </a:solidFill>
              </a:rPr>
              <a:t> 3 : 3333334</a:t>
            </a:r>
          </a:p>
          <a:p>
            <a:r>
              <a:rPr lang="ru-RU" dirty="0">
                <a:solidFill>
                  <a:srgbClr val="FF0000"/>
                </a:solidFill>
              </a:rPr>
              <a:t>The </a:t>
            </a:r>
            <a:r>
              <a:rPr lang="ru-RU" dirty="0" err="1">
                <a:solidFill>
                  <a:srgbClr val="FF0000"/>
                </a:solidFill>
              </a:rPr>
              <a:t>number</a:t>
            </a:r>
            <a:r>
              <a:rPr lang="ru-RU" dirty="0">
                <a:solidFill>
                  <a:srgbClr val="FF0000"/>
                </a:solidFill>
              </a:rPr>
              <a:t> </a:t>
            </a:r>
            <a:r>
              <a:rPr lang="ru-RU" dirty="0" err="1">
                <a:solidFill>
                  <a:srgbClr val="FF0000"/>
                </a:solidFill>
              </a:rPr>
              <a:t>of</a:t>
            </a:r>
            <a:r>
              <a:rPr lang="ru-RU" dirty="0">
                <a:solidFill>
                  <a:srgbClr val="FF0000"/>
                </a:solidFill>
              </a:rPr>
              <a:t> </a:t>
            </a:r>
            <a:r>
              <a:rPr lang="ru-RU" dirty="0" err="1">
                <a:solidFill>
                  <a:srgbClr val="FF0000"/>
                </a:solidFill>
              </a:rPr>
              <a:t>numbers</a:t>
            </a:r>
            <a:r>
              <a:rPr lang="ru-RU" dirty="0">
                <a:solidFill>
                  <a:srgbClr val="FF0000"/>
                </a:solidFill>
              </a:rPr>
              <a:t> </a:t>
            </a:r>
            <a:r>
              <a:rPr lang="ru-RU" dirty="0" err="1">
                <a:solidFill>
                  <a:srgbClr val="FF0000"/>
                </a:solidFill>
              </a:rPr>
              <a:t>divisible</a:t>
            </a:r>
            <a:r>
              <a:rPr lang="ru-RU" dirty="0">
                <a:solidFill>
                  <a:srgbClr val="FF0000"/>
                </a:solidFill>
              </a:rPr>
              <a:t> </a:t>
            </a:r>
            <a:r>
              <a:rPr lang="ru-RU" dirty="0" err="1">
                <a:solidFill>
                  <a:srgbClr val="FF0000"/>
                </a:solidFill>
              </a:rPr>
              <a:t>by</a:t>
            </a:r>
            <a:r>
              <a:rPr lang="ru-RU" dirty="0">
                <a:solidFill>
                  <a:srgbClr val="FF0000"/>
                </a:solidFill>
              </a:rPr>
              <a:t> 5 : 2000000</a:t>
            </a:r>
          </a:p>
          <a:p>
            <a:r>
              <a:rPr lang="ru-RU" dirty="0">
                <a:solidFill>
                  <a:srgbClr val="FF0000"/>
                </a:solidFill>
              </a:rPr>
              <a:t>The </a:t>
            </a:r>
            <a:r>
              <a:rPr lang="ru-RU" dirty="0" err="1">
                <a:solidFill>
                  <a:srgbClr val="FF0000"/>
                </a:solidFill>
              </a:rPr>
              <a:t>number</a:t>
            </a:r>
            <a:r>
              <a:rPr lang="ru-RU" dirty="0">
                <a:solidFill>
                  <a:srgbClr val="FF0000"/>
                </a:solidFill>
              </a:rPr>
              <a:t> </a:t>
            </a:r>
            <a:r>
              <a:rPr lang="ru-RU" dirty="0" err="1">
                <a:solidFill>
                  <a:srgbClr val="FF0000"/>
                </a:solidFill>
              </a:rPr>
              <a:t>of</a:t>
            </a:r>
            <a:r>
              <a:rPr lang="ru-RU" dirty="0">
                <a:solidFill>
                  <a:srgbClr val="FF0000"/>
                </a:solidFill>
              </a:rPr>
              <a:t> </a:t>
            </a:r>
            <a:r>
              <a:rPr lang="ru-RU" dirty="0" err="1">
                <a:solidFill>
                  <a:srgbClr val="FF0000"/>
                </a:solidFill>
              </a:rPr>
              <a:t>numbers</a:t>
            </a:r>
            <a:r>
              <a:rPr lang="ru-RU" dirty="0">
                <a:solidFill>
                  <a:srgbClr val="FF0000"/>
                </a:solidFill>
              </a:rPr>
              <a:t> </a:t>
            </a:r>
            <a:r>
              <a:rPr lang="ru-RU" dirty="0" err="1">
                <a:solidFill>
                  <a:srgbClr val="FF0000"/>
                </a:solidFill>
              </a:rPr>
              <a:t>divisible</a:t>
            </a:r>
            <a:r>
              <a:rPr lang="ru-RU" dirty="0">
                <a:solidFill>
                  <a:srgbClr val="FF0000"/>
                </a:solidFill>
              </a:rPr>
              <a:t> </a:t>
            </a:r>
            <a:r>
              <a:rPr lang="ru-RU" dirty="0" err="1">
                <a:solidFill>
                  <a:srgbClr val="FF0000"/>
                </a:solidFill>
              </a:rPr>
              <a:t>by</a:t>
            </a:r>
            <a:r>
              <a:rPr lang="ru-RU" dirty="0">
                <a:solidFill>
                  <a:srgbClr val="FF0000"/>
                </a:solidFill>
              </a:rPr>
              <a:t> 2 : 5000000</a:t>
            </a:r>
          </a:p>
          <a:p>
            <a:r>
              <a:rPr lang="ru-RU" dirty="0">
                <a:solidFill>
                  <a:srgbClr val="FF0000"/>
                </a:solidFill>
              </a:rPr>
              <a:t>The </a:t>
            </a:r>
            <a:r>
              <a:rPr lang="ru-RU" dirty="0" err="1">
                <a:solidFill>
                  <a:srgbClr val="FF0000"/>
                </a:solidFill>
              </a:rPr>
              <a:t>number</a:t>
            </a:r>
            <a:r>
              <a:rPr lang="ru-RU" dirty="0">
                <a:solidFill>
                  <a:srgbClr val="FF0000"/>
                </a:solidFill>
              </a:rPr>
              <a:t> </a:t>
            </a:r>
            <a:r>
              <a:rPr lang="ru-RU" dirty="0" err="1">
                <a:solidFill>
                  <a:srgbClr val="FF0000"/>
                </a:solidFill>
              </a:rPr>
              <a:t>of</a:t>
            </a:r>
            <a:r>
              <a:rPr lang="ru-RU" dirty="0">
                <a:solidFill>
                  <a:srgbClr val="FF0000"/>
                </a:solidFill>
              </a:rPr>
              <a:t> </a:t>
            </a:r>
            <a:r>
              <a:rPr lang="ru-RU" dirty="0" err="1">
                <a:solidFill>
                  <a:srgbClr val="FF0000"/>
                </a:solidFill>
              </a:rPr>
              <a:t>numbers</a:t>
            </a:r>
            <a:r>
              <a:rPr lang="ru-RU" dirty="0">
                <a:solidFill>
                  <a:srgbClr val="FF0000"/>
                </a:solidFill>
              </a:rPr>
              <a:t> </a:t>
            </a:r>
            <a:r>
              <a:rPr lang="ru-RU" dirty="0" err="1">
                <a:solidFill>
                  <a:srgbClr val="FF0000"/>
                </a:solidFill>
              </a:rPr>
              <a:t>divisible</a:t>
            </a:r>
            <a:r>
              <a:rPr lang="ru-RU" dirty="0">
                <a:solidFill>
                  <a:srgbClr val="FF0000"/>
                </a:solidFill>
              </a:rPr>
              <a:t> </a:t>
            </a:r>
            <a:r>
              <a:rPr lang="ru-RU" dirty="0" err="1">
                <a:solidFill>
                  <a:srgbClr val="FF0000"/>
                </a:solidFill>
              </a:rPr>
              <a:t>by</a:t>
            </a:r>
            <a:r>
              <a:rPr lang="ru-RU" dirty="0">
                <a:solidFill>
                  <a:srgbClr val="FF0000"/>
                </a:solidFill>
              </a:rPr>
              <a:t> 11 : 909091</a:t>
            </a:r>
          </a:p>
          <a:p>
            <a:r>
              <a:rPr lang="ru-RU" dirty="0">
                <a:solidFill>
                  <a:srgbClr val="FF0000"/>
                </a:solidFill>
              </a:rPr>
              <a:t>The </a:t>
            </a:r>
            <a:r>
              <a:rPr lang="ru-RU" dirty="0" err="1">
                <a:solidFill>
                  <a:srgbClr val="FF0000"/>
                </a:solidFill>
              </a:rPr>
              <a:t>number</a:t>
            </a:r>
            <a:r>
              <a:rPr lang="ru-RU" dirty="0">
                <a:solidFill>
                  <a:srgbClr val="FF0000"/>
                </a:solidFill>
              </a:rPr>
              <a:t> </a:t>
            </a:r>
            <a:r>
              <a:rPr lang="ru-RU" dirty="0" err="1">
                <a:solidFill>
                  <a:srgbClr val="FF0000"/>
                </a:solidFill>
              </a:rPr>
              <a:t>of</a:t>
            </a:r>
            <a:r>
              <a:rPr lang="ru-RU" dirty="0">
                <a:solidFill>
                  <a:srgbClr val="FF0000"/>
                </a:solidFill>
              </a:rPr>
              <a:t> </a:t>
            </a:r>
            <a:r>
              <a:rPr lang="ru-RU" dirty="0" err="1">
                <a:solidFill>
                  <a:srgbClr val="FF0000"/>
                </a:solidFill>
              </a:rPr>
              <a:t>numbers</a:t>
            </a:r>
            <a:r>
              <a:rPr lang="ru-RU" dirty="0">
                <a:solidFill>
                  <a:srgbClr val="FF0000"/>
                </a:solidFill>
              </a:rPr>
              <a:t> </a:t>
            </a:r>
            <a:r>
              <a:rPr lang="ru-RU" dirty="0" err="1">
                <a:solidFill>
                  <a:srgbClr val="FF0000"/>
                </a:solidFill>
              </a:rPr>
              <a:t>divisible</a:t>
            </a:r>
            <a:r>
              <a:rPr lang="ru-RU" dirty="0">
                <a:solidFill>
                  <a:srgbClr val="FF0000"/>
                </a:solidFill>
              </a:rPr>
              <a:t> </a:t>
            </a:r>
            <a:r>
              <a:rPr lang="ru-RU" dirty="0" err="1">
                <a:solidFill>
                  <a:srgbClr val="FF0000"/>
                </a:solidFill>
              </a:rPr>
              <a:t>by</a:t>
            </a:r>
            <a:r>
              <a:rPr lang="ru-RU" dirty="0">
                <a:solidFill>
                  <a:srgbClr val="FF0000"/>
                </a:solidFill>
              </a:rPr>
              <a:t> 13 : 769231</a:t>
            </a:r>
          </a:p>
          <a:p>
            <a:r>
              <a:rPr lang="ru-RU" dirty="0">
                <a:solidFill>
                  <a:srgbClr val="FF0000"/>
                </a:solidFill>
              </a:rPr>
              <a:t>The </a:t>
            </a:r>
            <a:r>
              <a:rPr lang="ru-RU" dirty="0" err="1">
                <a:solidFill>
                  <a:srgbClr val="FF0000"/>
                </a:solidFill>
              </a:rPr>
              <a:t>number</a:t>
            </a:r>
            <a:r>
              <a:rPr lang="ru-RU" dirty="0">
                <a:solidFill>
                  <a:srgbClr val="FF0000"/>
                </a:solidFill>
              </a:rPr>
              <a:t> </a:t>
            </a:r>
            <a:r>
              <a:rPr lang="ru-RU" dirty="0" err="1">
                <a:solidFill>
                  <a:srgbClr val="FF0000"/>
                </a:solidFill>
              </a:rPr>
              <a:t>of</a:t>
            </a:r>
            <a:r>
              <a:rPr lang="ru-RU" dirty="0">
                <a:solidFill>
                  <a:srgbClr val="FF0000"/>
                </a:solidFill>
              </a:rPr>
              <a:t> </a:t>
            </a:r>
            <a:r>
              <a:rPr lang="ru-RU" dirty="0" err="1">
                <a:solidFill>
                  <a:srgbClr val="FF0000"/>
                </a:solidFill>
              </a:rPr>
              <a:t>numbers</a:t>
            </a:r>
            <a:r>
              <a:rPr lang="ru-RU" dirty="0">
                <a:solidFill>
                  <a:srgbClr val="FF0000"/>
                </a:solidFill>
              </a:rPr>
              <a:t> </a:t>
            </a:r>
            <a:r>
              <a:rPr lang="ru-RU" dirty="0" err="1">
                <a:solidFill>
                  <a:srgbClr val="FF0000"/>
                </a:solidFill>
              </a:rPr>
              <a:t>divisible</a:t>
            </a:r>
            <a:r>
              <a:rPr lang="ru-RU" dirty="0">
                <a:solidFill>
                  <a:srgbClr val="FF0000"/>
                </a:solidFill>
              </a:rPr>
              <a:t> </a:t>
            </a:r>
            <a:r>
              <a:rPr lang="ru-RU" dirty="0" err="1">
                <a:solidFill>
                  <a:srgbClr val="FF0000"/>
                </a:solidFill>
              </a:rPr>
              <a:t>by</a:t>
            </a:r>
            <a:r>
              <a:rPr lang="ru-RU" dirty="0">
                <a:solidFill>
                  <a:srgbClr val="FF0000"/>
                </a:solidFill>
              </a:rPr>
              <a:t> 7 : 1428572</a:t>
            </a:r>
          </a:p>
        </p:txBody>
      </p:sp>
    </p:spTree>
    <p:extLst>
      <p:ext uri="{BB962C8B-B14F-4D97-AF65-F5344CB8AC3E}">
        <p14:creationId xmlns:p14="http://schemas.microsoft.com/office/powerpoint/2010/main" val="27683677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32D4B1-05C6-65AC-1A84-8388033F1DEF}"/>
              </a:ext>
            </a:extLst>
          </p:cNvPr>
          <p:cNvSpPr>
            <a:spLocks noGrp="1"/>
          </p:cNvSpPr>
          <p:nvPr>
            <p:ph type="title"/>
          </p:nvPr>
        </p:nvSpPr>
        <p:spPr/>
        <p:txBody>
          <a:bodyPr/>
          <a:lstStyle/>
          <a:p>
            <a:r>
              <a:rPr lang="ru-RU" dirty="0"/>
              <a:t>Атомарные операции</a:t>
            </a:r>
          </a:p>
        </p:txBody>
      </p:sp>
      <p:pic>
        <p:nvPicPr>
          <p:cNvPr id="1026" name="Picture 2">
            <a:extLst>
              <a:ext uri="{FF2B5EF4-FFF2-40B4-BE49-F238E27FC236}">
                <a16:creationId xmlns:a16="http://schemas.microsoft.com/office/drawing/2014/main" id="{5DD02E63-EA8C-AAAB-DE31-1B85E68B0D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02716" y="1825625"/>
            <a:ext cx="7186568"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91570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8DFD6-6265-E436-651B-B9528DEA24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6DE7EB-F734-B36B-21F1-5D683AA247A8}"/>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CC10B466-26B8-7BF7-F5A8-5C1B3DB63E65}"/>
              </a:ext>
            </a:extLst>
          </p:cNvPr>
          <p:cNvSpPr>
            <a:spLocks noGrp="1"/>
          </p:cNvSpPr>
          <p:nvPr>
            <p:ph idx="1"/>
          </p:nvPr>
        </p:nvSpPr>
        <p:spPr/>
        <p:txBody>
          <a:bodyPr/>
          <a:lstStyle/>
          <a:p>
            <a:pPr algn="just"/>
            <a:r>
              <a:rPr lang="ru-RU" dirty="0">
                <a:solidFill>
                  <a:srgbClr val="333333"/>
                </a:solidFill>
              </a:rPr>
              <a:t>На старых процессорах м</a:t>
            </a:r>
            <a:r>
              <a:rPr lang="ru-RU" b="0" i="0" dirty="0">
                <a:solidFill>
                  <a:srgbClr val="333333"/>
                </a:solidFill>
                <a:effectLst/>
              </a:rPr>
              <a:t>ногопоточность на одном ядре эмулировалась частым переключением контекста исполнения с одного потока на другой.</a:t>
            </a:r>
          </a:p>
          <a:p>
            <a:pPr algn="just"/>
            <a:endParaRPr lang="ru-RU" dirty="0"/>
          </a:p>
          <a:p>
            <a:pPr algn="just"/>
            <a:r>
              <a:rPr lang="ru-RU" dirty="0"/>
              <a:t>Для оптимизации работы с памятью у каждого ядра имеется свой собственный кэш памяти, над ним стоит общий кэш памяти процессора, далее оперативная память. </a:t>
            </a:r>
          </a:p>
          <a:p>
            <a:pPr algn="just"/>
            <a:endParaRPr lang="ru-RU" dirty="0"/>
          </a:p>
          <a:p>
            <a:pPr algn="just"/>
            <a:r>
              <a:rPr lang="ru-RU" dirty="0"/>
              <a:t>Задача синхронизации памяти между ядрами - поддержка консистентного представления данных на каждом ядре.</a:t>
            </a:r>
          </a:p>
        </p:txBody>
      </p:sp>
    </p:spTree>
    <p:extLst>
      <p:ext uri="{BB962C8B-B14F-4D97-AF65-F5344CB8AC3E}">
        <p14:creationId xmlns:p14="http://schemas.microsoft.com/office/powerpoint/2010/main" val="25597428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FAD3F-4DD0-5D7E-181C-627C09BF84F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E072CF-924D-6C13-1F69-A25EDCECF098}"/>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DFB8084F-A2E9-EF1E-DA0B-C5A3AACE9EA9}"/>
              </a:ext>
            </a:extLst>
          </p:cNvPr>
          <p:cNvSpPr>
            <a:spLocks noGrp="1"/>
          </p:cNvSpPr>
          <p:nvPr>
            <p:ph idx="1"/>
          </p:nvPr>
        </p:nvSpPr>
        <p:spPr/>
        <p:txBody>
          <a:bodyPr/>
          <a:lstStyle/>
          <a:p>
            <a:pPr algn="just"/>
            <a:r>
              <a:rPr lang="ru-RU" dirty="0">
                <a:solidFill>
                  <a:srgbClr val="333333"/>
                </a:solidFill>
              </a:rPr>
              <a:t>Применение строгой упорядоченности изменения памяти сводит параллельное выполнение потоков на разных ядрах к нулю: ядра ожидают пока другое ядро изменит данные и всем об этом сообщит.</a:t>
            </a:r>
          </a:p>
          <a:p>
            <a:pPr algn="just"/>
            <a:endParaRPr lang="en-US" dirty="0">
              <a:solidFill>
                <a:srgbClr val="333333"/>
              </a:solidFill>
            </a:endParaRPr>
          </a:p>
          <a:p>
            <a:pPr algn="just"/>
            <a:r>
              <a:rPr lang="ru-RU" b="1" i="1" dirty="0">
                <a:solidFill>
                  <a:srgbClr val="333333"/>
                </a:solidFill>
              </a:rPr>
              <a:t>Гарантии по доступу к памяти ложатся на разработчика!</a:t>
            </a:r>
          </a:p>
          <a:p>
            <a:pPr algn="just"/>
            <a:endParaRPr lang="en-US" b="1" i="1" dirty="0">
              <a:solidFill>
                <a:srgbClr val="333333"/>
              </a:solidFill>
            </a:endParaRPr>
          </a:p>
          <a:p>
            <a:pPr algn="just"/>
            <a:r>
              <a:rPr lang="ru-RU" dirty="0">
                <a:solidFill>
                  <a:srgbClr val="333333"/>
                </a:solidFill>
              </a:rPr>
              <a:t>Разработчик сам выбирает механизм, который требуется </a:t>
            </a:r>
            <a:r>
              <a:rPr lang="ru-RU" b="0" i="0" dirty="0">
                <a:solidFill>
                  <a:srgbClr val="333333"/>
                </a:solidFill>
                <a:effectLst/>
              </a:rPr>
              <a:t>для достижения максимальной корректности работы с памятью и производительности многопоточной программы.</a:t>
            </a:r>
            <a:endParaRPr lang="ru-RU" dirty="0"/>
          </a:p>
        </p:txBody>
      </p:sp>
    </p:spTree>
    <p:extLst>
      <p:ext uri="{BB962C8B-B14F-4D97-AF65-F5344CB8AC3E}">
        <p14:creationId xmlns:p14="http://schemas.microsoft.com/office/powerpoint/2010/main" val="95274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53ED7-6D01-CF5A-4883-6B5371A0B15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DB9253-F887-EBAE-77B6-F84F5E20681D}"/>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C720A549-FCF5-8794-E05A-F5311B467B27}"/>
              </a:ext>
            </a:extLst>
          </p:cNvPr>
          <p:cNvSpPr>
            <a:spLocks noGrp="1"/>
          </p:cNvSpPr>
          <p:nvPr>
            <p:ph idx="1"/>
          </p:nvPr>
        </p:nvSpPr>
        <p:spPr/>
        <p:txBody>
          <a:bodyPr/>
          <a:lstStyle/>
          <a:p>
            <a:pPr algn="just"/>
            <a:r>
              <a:rPr lang="ru-RU" dirty="0">
                <a:solidFill>
                  <a:srgbClr val="333333"/>
                </a:solidFill>
              </a:rPr>
              <a:t>А</a:t>
            </a:r>
            <a:r>
              <a:rPr lang="ru-RU" b="0" i="0" dirty="0">
                <a:solidFill>
                  <a:srgbClr val="333333"/>
                </a:solidFill>
                <a:effectLst/>
              </a:rPr>
              <a:t>рхитектуры x86-64 и ARM имеют разные представления о том, как синхронизировать память.</a:t>
            </a:r>
          </a:p>
          <a:p>
            <a:pPr algn="just"/>
            <a:endParaRPr lang="ru-RU" dirty="0"/>
          </a:p>
        </p:txBody>
      </p:sp>
      <p:pic>
        <p:nvPicPr>
          <p:cNvPr id="4" name="Рисунок 3">
            <a:extLst>
              <a:ext uri="{FF2B5EF4-FFF2-40B4-BE49-F238E27FC236}">
                <a16:creationId xmlns:a16="http://schemas.microsoft.com/office/drawing/2014/main" id="{6836D1F8-9DE6-48A9-144F-6D866DE4F11C}"/>
              </a:ext>
            </a:extLst>
          </p:cNvPr>
          <p:cNvPicPr>
            <a:picLocks noChangeAspect="1"/>
          </p:cNvPicPr>
          <p:nvPr/>
        </p:nvPicPr>
        <p:blipFill>
          <a:blip r:embed="rId2"/>
          <a:stretch>
            <a:fillRect/>
          </a:stretch>
        </p:blipFill>
        <p:spPr>
          <a:xfrm>
            <a:off x="2388268" y="2685214"/>
            <a:ext cx="7415463" cy="4171198"/>
          </a:xfrm>
          <a:prstGeom prst="rect">
            <a:avLst/>
          </a:prstGeom>
        </p:spPr>
      </p:pic>
    </p:spTree>
    <p:extLst>
      <p:ext uri="{BB962C8B-B14F-4D97-AF65-F5344CB8AC3E}">
        <p14:creationId xmlns:p14="http://schemas.microsoft.com/office/powerpoint/2010/main" val="21013776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C3C4B-AAB7-168C-5962-439DBA01794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31414B-A404-67D8-AF12-D4622C47C525}"/>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B5AB83FF-178B-C6AD-CB2E-65C5E23A7A5E}"/>
              </a:ext>
            </a:extLst>
          </p:cNvPr>
          <p:cNvSpPr>
            <a:spLocks noGrp="1"/>
          </p:cNvSpPr>
          <p:nvPr>
            <p:ph idx="1"/>
          </p:nvPr>
        </p:nvSpPr>
        <p:spPr/>
        <p:txBody>
          <a:bodyPr/>
          <a:lstStyle/>
          <a:p>
            <a:pPr algn="just"/>
            <a:r>
              <a:rPr lang="ru-RU" b="0" i="0" dirty="0">
                <a:solidFill>
                  <a:srgbClr val="333333"/>
                </a:solidFill>
                <a:effectLst/>
              </a:rPr>
              <a:t>В С++11 была добавлена модель памяти, которая обобщает механизмы синхронизации различных архитектур, позволяя генерировать для каждого процессора оптимальный код с необходимой степенью синхронизации.</a:t>
            </a:r>
          </a:p>
          <a:p>
            <a:pPr algn="just"/>
            <a:endParaRPr lang="ru-RU" dirty="0">
              <a:solidFill>
                <a:srgbClr val="333333"/>
              </a:solidFill>
            </a:endParaRPr>
          </a:p>
          <a:p>
            <a:pPr algn="just"/>
            <a:r>
              <a:rPr lang="ru-RU" b="0" i="0" dirty="0">
                <a:solidFill>
                  <a:srgbClr val="333333"/>
                </a:solidFill>
                <a:effectLst/>
              </a:rPr>
              <a:t>В C++ некоторые конструкции, описанные стандартом как </a:t>
            </a:r>
            <a:r>
              <a:rPr lang="ru-RU" b="0" i="0" dirty="0" err="1">
                <a:solidFill>
                  <a:srgbClr val="333333"/>
                </a:solidFill>
                <a:effectLst/>
              </a:rPr>
              <a:t>undefined</a:t>
            </a:r>
            <a:r>
              <a:rPr lang="ru-RU" b="0" i="0" dirty="0">
                <a:solidFill>
                  <a:srgbClr val="333333"/>
                </a:solidFill>
                <a:effectLst/>
              </a:rPr>
              <a:t> </a:t>
            </a:r>
            <a:r>
              <a:rPr lang="ru-RU" b="0" i="0" dirty="0" err="1">
                <a:solidFill>
                  <a:srgbClr val="333333"/>
                </a:solidFill>
                <a:effectLst/>
              </a:rPr>
              <a:t>behavior</a:t>
            </a:r>
            <a:r>
              <a:rPr lang="ru-RU" b="0" i="0" dirty="0">
                <a:solidFill>
                  <a:srgbClr val="333333"/>
                </a:solidFill>
                <a:effectLst/>
              </a:rPr>
              <a:t> (UB), могут корректно работать на одной архитектуре, но приводить к ошибкам работы с памятью на других архитектурах.</a:t>
            </a:r>
            <a:endParaRPr lang="ru-RU" dirty="0"/>
          </a:p>
        </p:txBody>
      </p:sp>
    </p:spTree>
    <p:extLst>
      <p:ext uri="{BB962C8B-B14F-4D97-AF65-F5344CB8AC3E}">
        <p14:creationId xmlns:p14="http://schemas.microsoft.com/office/powerpoint/2010/main" val="23474828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4C27A8-33CD-C048-9236-27DF47461AB3}"/>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1B0A0434-2C24-375B-63E8-1482097C3BEF}"/>
              </a:ext>
            </a:extLst>
          </p:cNvPr>
          <p:cNvSpPr>
            <a:spLocks noGrp="1"/>
          </p:cNvSpPr>
          <p:nvPr>
            <p:ph idx="1"/>
          </p:nvPr>
        </p:nvSpPr>
        <p:spPr/>
        <p:txBody>
          <a:bodyPr>
            <a:normAutofit fontScale="77500" lnSpcReduction="20000"/>
          </a:bodyPr>
          <a:lstStyle/>
          <a:p>
            <a:pPr algn="just"/>
            <a:r>
              <a:rPr lang="ru-RU" i="1" dirty="0" err="1"/>
              <a:t>is_lock_free</a:t>
            </a:r>
            <a:r>
              <a:rPr lang="ru-RU" i="1" dirty="0"/>
              <a:t> </a:t>
            </a:r>
            <a:r>
              <a:rPr lang="ru-RU" dirty="0"/>
              <a:t>– предоставляет информации о свободности данного типа от блокировок (может ли операция над данным типом данных </a:t>
            </a:r>
            <a:r>
              <a:rPr lang="ru-RU"/>
              <a:t>проведена атомарно или нет).</a:t>
            </a:r>
            <a:endParaRPr lang="ru-RU" dirty="0"/>
          </a:p>
          <a:p>
            <a:pPr algn="just"/>
            <a:r>
              <a:rPr lang="ru-RU" i="1" dirty="0" err="1"/>
              <a:t>store</a:t>
            </a:r>
            <a:r>
              <a:rPr lang="ru-RU" dirty="0"/>
              <a:t> – Устанавливает новое значение в объект.</a:t>
            </a:r>
          </a:p>
          <a:p>
            <a:pPr algn="just"/>
            <a:r>
              <a:rPr lang="ru-RU" i="1" dirty="0" err="1"/>
              <a:t>load</a:t>
            </a:r>
            <a:r>
              <a:rPr lang="ru-RU" dirty="0"/>
              <a:t> – Извлекает значение из объекта.</a:t>
            </a:r>
          </a:p>
          <a:p>
            <a:pPr algn="just"/>
            <a:r>
              <a:rPr lang="ru-RU" i="1" dirty="0" err="1"/>
              <a:t>exchange</a:t>
            </a:r>
            <a:r>
              <a:rPr lang="ru-RU" dirty="0"/>
              <a:t> – Заменяет значение в объекте на новое и возвращает старое.</a:t>
            </a:r>
          </a:p>
          <a:p>
            <a:pPr algn="just"/>
            <a:r>
              <a:rPr lang="ru-RU" i="1" dirty="0" err="1"/>
              <a:t>compare_exchange</a:t>
            </a:r>
            <a:r>
              <a:rPr lang="ru-RU" i="1" dirty="0"/>
              <a:t>_*(</a:t>
            </a:r>
            <a:r>
              <a:rPr lang="ru-RU" dirty="0" err="1"/>
              <a:t>object</a:t>
            </a:r>
            <a:r>
              <a:rPr lang="ru-RU" dirty="0"/>
              <a:t>, </a:t>
            </a:r>
            <a:r>
              <a:rPr lang="ru-RU" dirty="0" err="1"/>
              <a:t>expected</a:t>
            </a:r>
            <a:r>
              <a:rPr lang="ru-RU" dirty="0"/>
              <a:t>, </a:t>
            </a:r>
            <a:r>
              <a:rPr lang="ru-RU" dirty="0" err="1"/>
              <a:t>desired</a:t>
            </a:r>
            <a:r>
              <a:rPr lang="ru-RU" dirty="0"/>
              <a:t>, </a:t>
            </a:r>
            <a:r>
              <a:rPr lang="ru-RU" dirty="0" err="1"/>
              <a:t>success</a:t>
            </a:r>
            <a:r>
              <a:rPr lang="ru-RU" dirty="0"/>
              <a:t>, </a:t>
            </a:r>
            <a:r>
              <a:rPr lang="ru-RU" dirty="0" err="1"/>
              <a:t>failure</a:t>
            </a:r>
            <a:r>
              <a:rPr lang="ru-RU" dirty="0"/>
              <a:t>) – Если </a:t>
            </a:r>
            <a:r>
              <a:rPr lang="ru-RU" dirty="0" err="1"/>
              <a:t>object</a:t>
            </a:r>
            <a:r>
              <a:rPr lang="ru-RU" dirty="0"/>
              <a:t> равен </a:t>
            </a:r>
            <a:r>
              <a:rPr lang="ru-RU" dirty="0" err="1"/>
              <a:t>expected</a:t>
            </a:r>
            <a:r>
              <a:rPr lang="ru-RU" dirty="0"/>
              <a:t>, тогда </a:t>
            </a:r>
            <a:r>
              <a:rPr lang="ru-RU" dirty="0" err="1"/>
              <a:t>desired</a:t>
            </a:r>
            <a:r>
              <a:rPr lang="ru-RU" dirty="0"/>
              <a:t> помещается в </a:t>
            </a:r>
            <a:r>
              <a:rPr lang="ru-RU" dirty="0" err="1"/>
              <a:t>object</a:t>
            </a:r>
            <a:r>
              <a:rPr lang="ru-RU" dirty="0"/>
              <a:t>. В противном случае </a:t>
            </a:r>
            <a:r>
              <a:rPr lang="ru-RU" dirty="0" err="1"/>
              <a:t>object</a:t>
            </a:r>
            <a:r>
              <a:rPr lang="ru-RU" dirty="0"/>
              <a:t> помещается в </a:t>
            </a:r>
            <a:r>
              <a:rPr lang="ru-RU" dirty="0" err="1"/>
              <a:t>expected</a:t>
            </a:r>
            <a:r>
              <a:rPr lang="ru-RU" dirty="0"/>
              <a:t>.</a:t>
            </a:r>
          </a:p>
          <a:p>
            <a:pPr algn="just"/>
            <a:r>
              <a:rPr lang="ru-RU" i="1" dirty="0" err="1"/>
              <a:t>compare_exchange_weak</a:t>
            </a:r>
            <a:r>
              <a:rPr lang="ru-RU" i="1" dirty="0"/>
              <a:t> </a:t>
            </a:r>
            <a:r>
              <a:rPr lang="ru-RU" dirty="0"/>
              <a:t>– вариант </a:t>
            </a:r>
            <a:r>
              <a:rPr lang="ru-RU" dirty="0" err="1"/>
              <a:t>compare_exchange</a:t>
            </a:r>
            <a:r>
              <a:rPr lang="ru-RU" dirty="0"/>
              <a:t> который может вернуть </a:t>
            </a:r>
            <a:r>
              <a:rPr lang="ru-RU" dirty="0" err="1"/>
              <a:t>false</a:t>
            </a:r>
            <a:r>
              <a:rPr lang="ru-RU" dirty="0"/>
              <a:t>, даже в случае если  </a:t>
            </a:r>
            <a:r>
              <a:rPr lang="ru-RU" dirty="0" err="1"/>
              <a:t>object</a:t>
            </a:r>
            <a:r>
              <a:rPr lang="ru-RU" dirty="0"/>
              <a:t> равен </a:t>
            </a:r>
            <a:r>
              <a:rPr lang="ru-RU" dirty="0" err="1"/>
              <a:t>expected</a:t>
            </a:r>
            <a:r>
              <a:rPr lang="ru-RU" dirty="0"/>
              <a:t>. Это происходит благодаря пресловутой фальшивой ошибке(</a:t>
            </a:r>
            <a:r>
              <a:rPr lang="ru-RU" dirty="0" err="1"/>
              <a:t>spurious</a:t>
            </a:r>
            <a:r>
              <a:rPr lang="ru-RU" dirty="0"/>
              <a:t> </a:t>
            </a:r>
            <a:r>
              <a:rPr lang="ru-RU" dirty="0" err="1"/>
              <a:t>failure</a:t>
            </a:r>
            <a:r>
              <a:rPr lang="ru-RU" dirty="0"/>
              <a:t>). Поэтому, по аналогии с тем как мы боролись с этим в части 1, </a:t>
            </a:r>
            <a:r>
              <a:rPr lang="ru-RU" dirty="0" err="1"/>
              <a:t>compare_exchange_weak</a:t>
            </a:r>
            <a:r>
              <a:rPr lang="ru-RU" dirty="0"/>
              <a:t> лучше использовать в цикле.</a:t>
            </a:r>
          </a:p>
          <a:p>
            <a:pPr algn="just"/>
            <a:r>
              <a:rPr lang="ru-RU" i="1" dirty="0" err="1"/>
              <a:t>compare_exchange_strong</a:t>
            </a:r>
            <a:r>
              <a:rPr lang="ru-RU" i="1" dirty="0"/>
              <a:t> </a:t>
            </a:r>
            <a:r>
              <a:rPr lang="ru-RU" dirty="0"/>
              <a:t>– гарантированно возвращает верный результат и не зависит от фальшивой ошибки.</a:t>
            </a:r>
          </a:p>
        </p:txBody>
      </p:sp>
    </p:spTree>
    <p:extLst>
      <p:ext uri="{BB962C8B-B14F-4D97-AF65-F5344CB8AC3E}">
        <p14:creationId xmlns:p14="http://schemas.microsoft.com/office/powerpoint/2010/main" val="41323911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28239-1423-EAA5-DDA5-5B23475CBD8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1D0F1E-3937-E63F-5351-1DE1504C3C40}"/>
              </a:ext>
            </a:extLst>
          </p:cNvPr>
          <p:cNvSpPr>
            <a:spLocks noGrp="1"/>
          </p:cNvSpPr>
          <p:nvPr>
            <p:ph type="title"/>
          </p:nvPr>
        </p:nvSpPr>
        <p:spPr/>
        <p:txBody>
          <a:bodyPr>
            <a:normAutofit fontScale="90000"/>
          </a:bodyPr>
          <a:lstStyle/>
          <a:p>
            <a:r>
              <a:rPr lang="ru-RU" dirty="0"/>
              <a:t>Атомарные операции</a:t>
            </a:r>
            <a:br>
              <a:rPr lang="ru-RU" dirty="0"/>
            </a:br>
            <a:r>
              <a:rPr lang="en-US" i="0" dirty="0">
                <a:solidFill>
                  <a:srgbClr val="333333"/>
                </a:solidFill>
                <a:effectLst/>
              </a:rPr>
              <a:t>std::atomic&lt;integral&gt;</a:t>
            </a:r>
            <a:br>
              <a:rPr lang="ru-RU" i="0" dirty="0">
                <a:solidFill>
                  <a:srgbClr val="333333"/>
                </a:solidFill>
                <a:effectLst/>
              </a:rPr>
            </a:br>
            <a:endParaRPr lang="ru-RU" dirty="0"/>
          </a:p>
        </p:txBody>
      </p:sp>
      <p:sp>
        <p:nvSpPr>
          <p:cNvPr id="3" name="Объект 2">
            <a:extLst>
              <a:ext uri="{FF2B5EF4-FFF2-40B4-BE49-F238E27FC236}">
                <a16:creationId xmlns:a16="http://schemas.microsoft.com/office/drawing/2014/main" id="{CBC0A155-2CE1-C624-3703-CBC0708E3F69}"/>
              </a:ext>
            </a:extLst>
          </p:cNvPr>
          <p:cNvSpPr>
            <a:spLocks noGrp="1"/>
          </p:cNvSpPr>
          <p:nvPr>
            <p:ph idx="1"/>
          </p:nvPr>
        </p:nvSpPr>
        <p:spPr/>
        <p:txBody>
          <a:bodyPr>
            <a:normAutofit fontScale="85000" lnSpcReduction="20000"/>
          </a:bodyPr>
          <a:lstStyle/>
          <a:p>
            <a:pPr algn="just"/>
            <a:r>
              <a:rPr lang="ru-RU" b="0" dirty="0">
                <a:solidFill>
                  <a:srgbClr val="333333"/>
                </a:solidFill>
                <a:effectLst/>
              </a:rPr>
              <a:t>Поддерживаемые типы:</a:t>
            </a:r>
          </a:p>
          <a:p>
            <a:pPr marL="457200" indent="-457200" algn="just">
              <a:buFont typeface="Arial" panose="020B0604020202020204" pitchFamily="34" charset="0"/>
              <a:buChar char="•"/>
            </a:pPr>
            <a:r>
              <a:rPr lang="ru-RU" b="0" i="1" dirty="0">
                <a:solidFill>
                  <a:srgbClr val="333333"/>
                </a:solidFill>
                <a:effectLst/>
              </a:rPr>
              <a:t>с</a:t>
            </a:r>
            <a:r>
              <a:rPr lang="en-US" b="0" i="1" dirty="0" err="1">
                <a:solidFill>
                  <a:srgbClr val="333333"/>
                </a:solidFill>
                <a:effectLst/>
              </a:rPr>
              <a:t>har</a:t>
            </a:r>
            <a:r>
              <a:rPr lang="en-US" b="0" i="1" dirty="0">
                <a:solidFill>
                  <a:srgbClr val="333333"/>
                </a:solidFill>
                <a:effectLst/>
              </a:rPr>
              <a:t>, signed char, unsigned char, </a:t>
            </a:r>
            <a:endParaRPr lang="ru-RU" b="0" i="1" dirty="0">
              <a:solidFill>
                <a:srgbClr val="333333"/>
              </a:solidFill>
              <a:effectLst/>
            </a:endParaRPr>
          </a:p>
          <a:p>
            <a:pPr marL="457200" indent="-457200" algn="just">
              <a:buFont typeface="Arial" panose="020B0604020202020204" pitchFamily="34" charset="0"/>
              <a:buChar char="•"/>
            </a:pPr>
            <a:r>
              <a:rPr lang="en-US" b="0" i="1" dirty="0">
                <a:solidFill>
                  <a:srgbClr val="333333"/>
                </a:solidFill>
                <a:effectLst/>
              </a:rPr>
              <a:t>short, unsigned short, int, unsigned int, </a:t>
            </a:r>
            <a:endParaRPr lang="ru-RU" b="0" i="1" dirty="0">
              <a:solidFill>
                <a:srgbClr val="333333"/>
              </a:solidFill>
              <a:effectLst/>
            </a:endParaRPr>
          </a:p>
          <a:p>
            <a:pPr marL="457200" indent="-457200" algn="just">
              <a:buFont typeface="Arial" panose="020B0604020202020204" pitchFamily="34" charset="0"/>
              <a:buChar char="•"/>
            </a:pPr>
            <a:r>
              <a:rPr lang="en-US" b="0" i="1" dirty="0">
                <a:solidFill>
                  <a:srgbClr val="333333"/>
                </a:solidFill>
                <a:effectLst/>
              </a:rPr>
              <a:t>long, unsigned long, long </a:t>
            </a:r>
            <a:r>
              <a:rPr lang="en-US" b="0" i="1" dirty="0" err="1">
                <a:solidFill>
                  <a:srgbClr val="333333"/>
                </a:solidFill>
                <a:effectLst/>
              </a:rPr>
              <a:t>long</a:t>
            </a:r>
            <a:r>
              <a:rPr lang="en-US" b="0" i="1" dirty="0">
                <a:solidFill>
                  <a:srgbClr val="333333"/>
                </a:solidFill>
                <a:effectLst/>
              </a:rPr>
              <a:t>, unsigned long </a:t>
            </a:r>
            <a:r>
              <a:rPr lang="en-US" b="0" i="1" dirty="0" err="1">
                <a:solidFill>
                  <a:srgbClr val="333333"/>
                </a:solidFill>
                <a:effectLst/>
              </a:rPr>
              <a:t>long</a:t>
            </a:r>
            <a:r>
              <a:rPr lang="en-US" b="0" i="1" dirty="0">
                <a:solidFill>
                  <a:srgbClr val="333333"/>
                </a:solidFill>
                <a:effectLst/>
              </a:rPr>
              <a:t>, </a:t>
            </a:r>
            <a:endParaRPr lang="ru-RU" b="0" i="1" dirty="0">
              <a:solidFill>
                <a:srgbClr val="333333"/>
              </a:solidFill>
              <a:effectLst/>
            </a:endParaRPr>
          </a:p>
          <a:p>
            <a:pPr marL="457200" indent="-457200" algn="just">
              <a:buFont typeface="Arial" panose="020B0604020202020204" pitchFamily="34" charset="0"/>
              <a:buChar char="•"/>
            </a:pPr>
            <a:r>
              <a:rPr lang="en-US" b="0" i="1" dirty="0">
                <a:solidFill>
                  <a:srgbClr val="333333"/>
                </a:solidFill>
                <a:effectLst/>
              </a:rPr>
              <a:t>char16_t, char32_t, </a:t>
            </a:r>
            <a:r>
              <a:rPr lang="en-US" b="0" i="1" dirty="0" err="1">
                <a:solidFill>
                  <a:srgbClr val="333333"/>
                </a:solidFill>
                <a:effectLst/>
              </a:rPr>
              <a:t>wchar_t</a:t>
            </a:r>
            <a:endParaRPr lang="ru-RU" b="0" i="1" dirty="0">
              <a:solidFill>
                <a:srgbClr val="333333"/>
              </a:solidFill>
              <a:effectLst/>
            </a:endParaRPr>
          </a:p>
          <a:p>
            <a:pPr algn="just"/>
            <a:r>
              <a:rPr lang="ru-RU" dirty="0">
                <a:solidFill>
                  <a:srgbClr val="333333"/>
                </a:solidFill>
              </a:rPr>
              <a:t>Операции над типами:</a:t>
            </a:r>
          </a:p>
          <a:p>
            <a:pPr marL="457200" indent="-457200" algn="just">
              <a:buFont typeface="Arial" panose="020B0604020202020204" pitchFamily="34" charset="0"/>
              <a:buChar char="•"/>
            </a:pPr>
            <a:r>
              <a:rPr lang="en-US" i="1" dirty="0" err="1"/>
              <a:t>fetch_add</a:t>
            </a:r>
            <a:r>
              <a:rPr lang="en-US" i="1" dirty="0"/>
              <a:t>(object, value) </a:t>
            </a:r>
            <a:r>
              <a:rPr lang="en-US" dirty="0"/>
              <a:t>– </a:t>
            </a:r>
            <a:r>
              <a:rPr lang="ru-RU" dirty="0"/>
              <a:t>атомарно помещает сумму (</a:t>
            </a:r>
            <a:r>
              <a:rPr lang="en-US" dirty="0"/>
              <a:t>object + value) </a:t>
            </a:r>
            <a:r>
              <a:rPr lang="ru-RU" dirty="0"/>
              <a:t>в </a:t>
            </a:r>
            <a:r>
              <a:rPr lang="en-US" dirty="0"/>
              <a:t>object.</a:t>
            </a:r>
          </a:p>
          <a:p>
            <a:pPr marL="457200" indent="-457200" algn="just">
              <a:buFont typeface="Arial" panose="020B0604020202020204" pitchFamily="34" charset="0"/>
              <a:buChar char="•"/>
            </a:pPr>
            <a:r>
              <a:rPr lang="en-US" i="1" dirty="0" err="1"/>
              <a:t>fetch_sub</a:t>
            </a:r>
            <a:r>
              <a:rPr lang="en-US" i="1" dirty="0"/>
              <a:t>(object, value) </a:t>
            </a:r>
            <a:r>
              <a:rPr lang="en-US" dirty="0"/>
              <a:t>– </a:t>
            </a:r>
            <a:r>
              <a:rPr lang="ru-RU" dirty="0"/>
              <a:t>атомарно помещает (</a:t>
            </a:r>
            <a:r>
              <a:rPr lang="en-US" dirty="0"/>
              <a:t>object – value) </a:t>
            </a:r>
            <a:r>
              <a:rPr lang="ru-RU" dirty="0"/>
              <a:t>в </a:t>
            </a:r>
            <a:r>
              <a:rPr lang="en-US" dirty="0"/>
              <a:t>object.</a:t>
            </a:r>
          </a:p>
          <a:p>
            <a:pPr marL="457200" indent="-457200" algn="just">
              <a:buFont typeface="Arial" panose="020B0604020202020204" pitchFamily="34" charset="0"/>
              <a:buChar char="•"/>
            </a:pPr>
            <a:r>
              <a:rPr lang="en-US" i="1" dirty="0" err="1"/>
              <a:t>fetch_and</a:t>
            </a:r>
            <a:r>
              <a:rPr lang="en-US" i="1" dirty="0"/>
              <a:t>(object, value) </a:t>
            </a:r>
            <a:r>
              <a:rPr lang="en-US" dirty="0"/>
              <a:t>– </a:t>
            </a:r>
            <a:r>
              <a:rPr lang="ru-RU" dirty="0"/>
              <a:t>атомарно помещает (</a:t>
            </a:r>
            <a:r>
              <a:rPr lang="en-US" dirty="0"/>
              <a:t>object &amp; value) </a:t>
            </a:r>
            <a:r>
              <a:rPr lang="ru-RU" dirty="0"/>
              <a:t>в </a:t>
            </a:r>
            <a:r>
              <a:rPr lang="en-US" dirty="0"/>
              <a:t>object.</a:t>
            </a:r>
          </a:p>
          <a:p>
            <a:pPr marL="457200" indent="-457200" algn="just">
              <a:buFont typeface="Arial" panose="020B0604020202020204" pitchFamily="34" charset="0"/>
              <a:buChar char="•"/>
            </a:pPr>
            <a:r>
              <a:rPr lang="en-US" i="1" dirty="0" err="1"/>
              <a:t>fetch_or</a:t>
            </a:r>
            <a:r>
              <a:rPr lang="en-US" i="1" dirty="0"/>
              <a:t>(object, value) </a:t>
            </a:r>
            <a:r>
              <a:rPr lang="en-US" dirty="0"/>
              <a:t>– </a:t>
            </a:r>
            <a:r>
              <a:rPr lang="ru-RU" dirty="0"/>
              <a:t>атомарно помещает (</a:t>
            </a:r>
            <a:r>
              <a:rPr lang="en-US" dirty="0"/>
              <a:t>object | value) </a:t>
            </a:r>
            <a:r>
              <a:rPr lang="ru-RU" dirty="0"/>
              <a:t>в </a:t>
            </a:r>
            <a:r>
              <a:rPr lang="en-US" dirty="0"/>
              <a:t>object.</a:t>
            </a:r>
          </a:p>
          <a:p>
            <a:pPr marL="457200" indent="-457200" algn="just">
              <a:buFont typeface="Arial" panose="020B0604020202020204" pitchFamily="34" charset="0"/>
              <a:buChar char="•"/>
            </a:pPr>
            <a:r>
              <a:rPr lang="en-US" i="1" dirty="0" err="1"/>
              <a:t>fetch_xor</a:t>
            </a:r>
            <a:r>
              <a:rPr lang="en-US" i="1" dirty="0"/>
              <a:t>(object, value) </a:t>
            </a:r>
            <a:r>
              <a:rPr lang="en-US" dirty="0"/>
              <a:t>– </a:t>
            </a:r>
            <a:r>
              <a:rPr lang="ru-RU" dirty="0"/>
              <a:t>атомарно помещает (</a:t>
            </a:r>
            <a:r>
              <a:rPr lang="en-US" dirty="0"/>
              <a:t>object ^ value) </a:t>
            </a:r>
            <a:r>
              <a:rPr lang="ru-RU" dirty="0"/>
              <a:t>в </a:t>
            </a:r>
            <a:r>
              <a:rPr lang="en-US" dirty="0"/>
              <a:t>object.</a:t>
            </a:r>
            <a:endParaRPr lang="ru-RU" dirty="0"/>
          </a:p>
        </p:txBody>
      </p:sp>
    </p:spTree>
    <p:extLst>
      <p:ext uri="{BB962C8B-B14F-4D97-AF65-F5344CB8AC3E}">
        <p14:creationId xmlns:p14="http://schemas.microsoft.com/office/powerpoint/2010/main" val="40945847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8117C-8483-9341-E60F-518D86A90E4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FB1FF3-F531-585C-B425-AD4B54A6F837}"/>
              </a:ext>
            </a:extLst>
          </p:cNvPr>
          <p:cNvSpPr>
            <a:spLocks noGrp="1"/>
          </p:cNvSpPr>
          <p:nvPr>
            <p:ph type="title"/>
          </p:nvPr>
        </p:nvSpPr>
        <p:spPr/>
        <p:txBody>
          <a:bodyPr/>
          <a:lstStyle/>
          <a:p>
            <a:r>
              <a:rPr lang="ru-RU" dirty="0"/>
              <a:t>Атомарные операции</a:t>
            </a:r>
            <a:br>
              <a:rPr lang="ru-RU" dirty="0"/>
            </a:br>
            <a:r>
              <a:rPr lang="ru-RU" dirty="0"/>
              <a:t>Пример</a:t>
            </a:r>
          </a:p>
        </p:txBody>
      </p:sp>
      <p:sp>
        <p:nvSpPr>
          <p:cNvPr id="3" name="Объект 2">
            <a:extLst>
              <a:ext uri="{FF2B5EF4-FFF2-40B4-BE49-F238E27FC236}">
                <a16:creationId xmlns:a16="http://schemas.microsoft.com/office/drawing/2014/main" id="{091EAB9E-D306-FFFB-9A54-4EAB8500420C}"/>
              </a:ext>
            </a:extLst>
          </p:cNvPr>
          <p:cNvSpPr>
            <a:spLocks noGrp="1"/>
          </p:cNvSpPr>
          <p:nvPr>
            <p:ph idx="1"/>
          </p:nvPr>
        </p:nvSpPr>
        <p:spPr/>
        <p:txBody>
          <a:bodyPr>
            <a:normAutofit fontScale="92500" lnSpcReduction="10000"/>
          </a:bodyPr>
          <a:lstStyle/>
          <a:p>
            <a:pPr algn="just"/>
            <a:r>
              <a:rPr lang="en-US" dirty="0">
                <a:latin typeface="Consolas" panose="020B0609020204030204" pitchFamily="49" charset="0"/>
              </a:rPr>
              <a:t>static int v1 = 0;</a:t>
            </a:r>
          </a:p>
          <a:p>
            <a:pPr algn="just"/>
            <a:r>
              <a:rPr lang="en-US" dirty="0">
                <a:latin typeface="Consolas" panose="020B0609020204030204" pitchFamily="49" charset="0"/>
              </a:rPr>
              <a:t>static std::atomic&lt;int&gt; v2{ 0 };</a:t>
            </a:r>
          </a:p>
          <a:p>
            <a:pPr algn="just"/>
            <a:r>
              <a:rPr lang="en-US" dirty="0">
                <a:latin typeface="Consolas" panose="020B0609020204030204" pitchFamily="49" charset="0"/>
              </a:rPr>
              <a:t>int add_v1() {</a:t>
            </a:r>
          </a:p>
          <a:p>
            <a:pPr algn="just"/>
            <a:r>
              <a:rPr lang="en-US" dirty="0">
                <a:latin typeface="Consolas" panose="020B0609020204030204" pitchFamily="49" charset="0"/>
              </a:rPr>
              <a:t>    return ++v1;</a:t>
            </a:r>
            <a:endParaRPr lang="ru-RU" dirty="0">
              <a:latin typeface="Consolas" panose="020B0609020204030204" pitchFamily="49" charset="0"/>
            </a:endParaRPr>
          </a:p>
          <a:p>
            <a:pPr algn="just"/>
            <a:r>
              <a:rPr lang="ru-RU" dirty="0">
                <a:latin typeface="Consolas" panose="020B0609020204030204" pitchFamily="49" charset="0"/>
              </a:rPr>
              <a:t>    </a:t>
            </a:r>
            <a:r>
              <a:rPr lang="en-US" dirty="0">
                <a:latin typeface="Consolas" panose="020B0609020204030204" pitchFamily="49" charset="0"/>
              </a:rPr>
              <a:t>//</a:t>
            </a:r>
            <a:r>
              <a:rPr lang="ru-RU" b="1" dirty="0">
                <a:latin typeface="Consolas" panose="020B0609020204030204" pitchFamily="49" charset="0"/>
              </a:rPr>
              <a:t>Чтение – Изменение – Запись</a:t>
            </a:r>
            <a:r>
              <a:rPr lang="ru-RU" dirty="0">
                <a:latin typeface="Consolas" panose="020B0609020204030204" pitchFamily="49" charset="0"/>
              </a:rPr>
              <a:t> </a:t>
            </a:r>
            <a:endParaRPr lang="en-US" dirty="0">
              <a:latin typeface="Consolas" panose="020B0609020204030204" pitchFamily="49" charset="0"/>
            </a:endParaRPr>
          </a:p>
          <a:p>
            <a:pPr algn="just"/>
            <a:r>
              <a:rPr lang="en-US" dirty="0">
                <a:latin typeface="Consolas" panose="020B0609020204030204" pitchFamily="49" charset="0"/>
              </a:rPr>
              <a:t>    /* Generated x86-64 assembly:</a:t>
            </a:r>
          </a:p>
          <a:p>
            <a:pPr algn="just"/>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DWORD PTR v1[rip]</a:t>
            </a:r>
          </a:p>
          <a:p>
            <a:pPr algn="just"/>
            <a:r>
              <a:rPr lang="en-US" dirty="0">
                <a:latin typeface="Consolas" panose="020B0609020204030204" pitchFamily="49" charset="0"/>
              </a:rPr>
              <a:t>        add     </a:t>
            </a:r>
            <a:r>
              <a:rPr lang="en-US" dirty="0" err="1">
                <a:latin typeface="Consolas" panose="020B0609020204030204" pitchFamily="49" charset="0"/>
              </a:rPr>
              <a:t>eax</a:t>
            </a:r>
            <a:r>
              <a:rPr lang="en-US" dirty="0">
                <a:latin typeface="Consolas" panose="020B0609020204030204" pitchFamily="49" charset="0"/>
              </a:rPr>
              <a:t>, 1</a:t>
            </a:r>
          </a:p>
          <a:p>
            <a:pPr algn="just"/>
            <a:r>
              <a:rPr lang="en-US" dirty="0">
                <a:latin typeface="Consolas" panose="020B0609020204030204" pitchFamily="49" charset="0"/>
              </a:rPr>
              <a:t>        mov     DWORD PTR v1[rip], </a:t>
            </a:r>
            <a:r>
              <a:rPr lang="en-US" dirty="0" err="1">
                <a:latin typeface="Consolas" panose="020B0609020204030204" pitchFamily="49" charset="0"/>
              </a:rPr>
              <a:t>eax</a:t>
            </a:r>
            <a:endParaRPr lang="en-US" dirty="0">
              <a:latin typeface="Consolas" panose="020B0609020204030204" pitchFamily="49" charset="0"/>
            </a:endParaRPr>
          </a:p>
          <a:p>
            <a:pPr algn="just"/>
            <a:r>
              <a:rPr lang="en-US" dirty="0">
                <a:latin typeface="Consolas" panose="020B0609020204030204" pitchFamily="49" charset="0"/>
              </a:rPr>
              <a:t>    */</a:t>
            </a:r>
          </a:p>
          <a:p>
            <a:pPr algn="just"/>
            <a:r>
              <a:rPr lang="en-US" dirty="0">
                <a:latin typeface="Consolas" panose="020B0609020204030204" pitchFamily="49" charset="0"/>
              </a:rPr>
              <a:t>}</a:t>
            </a:r>
          </a:p>
        </p:txBody>
      </p:sp>
    </p:spTree>
    <p:extLst>
      <p:ext uri="{BB962C8B-B14F-4D97-AF65-F5344CB8AC3E}">
        <p14:creationId xmlns:p14="http://schemas.microsoft.com/office/powerpoint/2010/main" val="41973369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B33C1-BE27-D3AC-A7C2-F85130EA775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A3FD2-12F8-A69D-D5CD-B5885B19EC8D}"/>
              </a:ext>
            </a:extLst>
          </p:cNvPr>
          <p:cNvSpPr>
            <a:spLocks noGrp="1"/>
          </p:cNvSpPr>
          <p:nvPr>
            <p:ph type="title"/>
          </p:nvPr>
        </p:nvSpPr>
        <p:spPr/>
        <p:txBody>
          <a:bodyPr/>
          <a:lstStyle/>
          <a:p>
            <a:r>
              <a:rPr lang="ru-RU" dirty="0"/>
              <a:t>Атомарные операции</a:t>
            </a:r>
            <a:br>
              <a:rPr lang="ru-RU" dirty="0"/>
            </a:br>
            <a:r>
              <a:rPr lang="ru-RU" dirty="0"/>
              <a:t>Продолжение</a:t>
            </a:r>
          </a:p>
        </p:txBody>
      </p:sp>
      <p:sp>
        <p:nvSpPr>
          <p:cNvPr id="3" name="Объект 2">
            <a:extLst>
              <a:ext uri="{FF2B5EF4-FFF2-40B4-BE49-F238E27FC236}">
                <a16:creationId xmlns:a16="http://schemas.microsoft.com/office/drawing/2014/main" id="{41305396-1B7B-49A9-E1E1-FB42DC82830E}"/>
              </a:ext>
            </a:extLst>
          </p:cNvPr>
          <p:cNvSpPr>
            <a:spLocks noGrp="1"/>
          </p:cNvSpPr>
          <p:nvPr>
            <p:ph idx="1"/>
          </p:nvPr>
        </p:nvSpPr>
        <p:spPr/>
        <p:txBody>
          <a:bodyPr>
            <a:normAutofit lnSpcReduction="10000"/>
          </a:bodyPr>
          <a:lstStyle/>
          <a:p>
            <a:pPr algn="just"/>
            <a:r>
              <a:rPr lang="en-US" dirty="0">
                <a:latin typeface="Consolas" panose="020B0609020204030204" pitchFamily="49" charset="0"/>
              </a:rPr>
              <a:t>int add_v2() {</a:t>
            </a:r>
          </a:p>
          <a:p>
            <a:pPr algn="just"/>
            <a:r>
              <a:rPr lang="en-US" dirty="0">
                <a:latin typeface="Consolas" panose="020B0609020204030204" pitchFamily="49" charset="0"/>
              </a:rPr>
              <a:t>    return v2.fetch_add(1);</a:t>
            </a:r>
            <a:endParaRPr lang="ru-RU" dirty="0">
              <a:latin typeface="Consolas" panose="020B0609020204030204" pitchFamily="49" charset="0"/>
            </a:endParaRPr>
          </a:p>
          <a:p>
            <a:pPr algn="just"/>
            <a:r>
              <a:rPr lang="ru-RU" dirty="0">
                <a:latin typeface="Consolas" panose="020B0609020204030204" pitchFamily="49" charset="0"/>
              </a:rPr>
              <a:t>    </a:t>
            </a:r>
            <a:r>
              <a:rPr lang="en-US" b="1" dirty="0">
                <a:latin typeface="Consolas" panose="020B0609020204030204" pitchFamily="49" charset="0"/>
              </a:rPr>
              <a:t>//</a:t>
            </a:r>
            <a:r>
              <a:rPr lang="ru-RU" b="1" dirty="0">
                <a:latin typeface="Consolas" panose="020B0609020204030204" pitchFamily="49" charset="0"/>
              </a:rPr>
              <a:t> Всего одна операция на уровне процессора</a:t>
            </a:r>
          </a:p>
          <a:p>
            <a:pPr algn="just"/>
            <a:r>
              <a:rPr lang="ru-RU" b="1" dirty="0">
                <a:latin typeface="Consolas" panose="020B0609020204030204" pitchFamily="49" charset="0"/>
              </a:rPr>
              <a:t>    // Блокировка кэш линии с доступом только того ядра, которое запросило блокировку</a:t>
            </a:r>
            <a:endParaRPr lang="en-US" b="1" dirty="0">
              <a:latin typeface="Consolas" panose="020B0609020204030204" pitchFamily="49" charset="0"/>
            </a:endParaRPr>
          </a:p>
          <a:p>
            <a:pPr algn="just"/>
            <a:r>
              <a:rPr lang="en-US" dirty="0">
                <a:latin typeface="Consolas" panose="020B0609020204030204" pitchFamily="49" charset="0"/>
              </a:rPr>
              <a:t>    /* Generated x86-64 assembly:</a:t>
            </a:r>
          </a:p>
          <a:p>
            <a:pPr algn="just"/>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1</a:t>
            </a:r>
          </a:p>
          <a:p>
            <a:pPr algn="just"/>
            <a:r>
              <a:rPr lang="en-US" dirty="0">
                <a:latin typeface="Consolas" panose="020B0609020204030204" pitchFamily="49" charset="0"/>
              </a:rPr>
              <a:t>        lock </a:t>
            </a:r>
            <a:r>
              <a:rPr lang="en-US" dirty="0" err="1">
                <a:latin typeface="Consolas" panose="020B0609020204030204" pitchFamily="49" charset="0"/>
              </a:rPr>
              <a:t>xadd</a:t>
            </a:r>
            <a:r>
              <a:rPr lang="en-US" dirty="0">
                <a:latin typeface="Consolas" panose="020B0609020204030204" pitchFamily="49" charset="0"/>
              </a:rPr>
              <a:t>       DWORD PTR _ZL2v2[rip], </a:t>
            </a:r>
            <a:r>
              <a:rPr lang="en-US" dirty="0" err="1">
                <a:latin typeface="Consolas" panose="020B0609020204030204" pitchFamily="49" charset="0"/>
              </a:rPr>
              <a:t>eax</a:t>
            </a:r>
            <a:endParaRPr lang="en-US" dirty="0">
              <a:latin typeface="Consolas" panose="020B0609020204030204" pitchFamily="49" charset="0"/>
            </a:endParaRPr>
          </a:p>
          <a:p>
            <a:pPr algn="just"/>
            <a:r>
              <a:rPr lang="en-US" dirty="0">
                <a:latin typeface="Consolas" panose="020B0609020204030204" pitchFamily="49" charset="0"/>
              </a:rPr>
              <a:t>    */</a:t>
            </a:r>
          </a:p>
          <a:p>
            <a:pPr algn="just"/>
            <a:r>
              <a:rPr lang="en-US" dirty="0">
                <a:latin typeface="Consolas" panose="020B0609020204030204" pitchFamily="49" charset="0"/>
              </a:rPr>
              <a:t>}</a:t>
            </a:r>
            <a:endParaRPr lang="ru-RU" dirty="0">
              <a:latin typeface="Consolas" panose="020B0609020204030204" pitchFamily="49" charset="0"/>
            </a:endParaRPr>
          </a:p>
          <a:p>
            <a:pPr algn="just"/>
            <a:endParaRPr lang="ru-RU" dirty="0"/>
          </a:p>
        </p:txBody>
      </p:sp>
    </p:spTree>
    <p:extLst>
      <p:ext uri="{BB962C8B-B14F-4D97-AF65-F5344CB8AC3E}">
        <p14:creationId xmlns:p14="http://schemas.microsoft.com/office/powerpoint/2010/main" val="24258680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B95E7-CD22-CFDA-075B-361B4FFC4BD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DF9B0C-7582-6037-A10F-F8B577846658}"/>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12E3F21B-B8FA-FBA4-1BC2-6404D6CC5F91}"/>
              </a:ext>
            </a:extLst>
          </p:cNvPr>
          <p:cNvSpPr>
            <a:spLocks noGrp="1"/>
          </p:cNvSpPr>
          <p:nvPr>
            <p:ph idx="1"/>
          </p:nvPr>
        </p:nvSpPr>
        <p:spPr/>
        <p:txBody>
          <a:bodyPr/>
          <a:lstStyle/>
          <a:p>
            <a:pPr algn="l">
              <a:spcBef>
                <a:spcPts val="1800"/>
              </a:spcBef>
            </a:pPr>
            <a:r>
              <a:rPr lang="ru-RU" dirty="0">
                <a:solidFill>
                  <a:srgbClr val="333333"/>
                </a:solidFill>
              </a:rPr>
              <a:t>С</a:t>
            </a:r>
            <a:r>
              <a:rPr lang="ru-RU" b="0" i="0" dirty="0">
                <a:solidFill>
                  <a:srgbClr val="333333"/>
                </a:solidFill>
                <a:effectLst/>
              </a:rPr>
              <a:t>инхронизация памяти не требуется:</a:t>
            </a:r>
          </a:p>
          <a:p>
            <a:pPr marL="457200" indent="-457200" algn="l">
              <a:spcBef>
                <a:spcPts val="2400"/>
              </a:spcBef>
              <a:spcAft>
                <a:spcPts val="450"/>
              </a:spcAft>
              <a:buFont typeface="Arial" panose="020B0604020202020204" pitchFamily="34" charset="0"/>
              <a:buChar char="•"/>
            </a:pPr>
            <a:r>
              <a:rPr lang="ru-RU" b="0" i="0" dirty="0">
                <a:solidFill>
                  <a:srgbClr val="333333"/>
                </a:solidFill>
                <a:effectLst/>
              </a:rPr>
              <a:t>Если все потоки, работающие с одним участком памяти, используют ее только на чтение</a:t>
            </a:r>
          </a:p>
          <a:p>
            <a:pPr marL="457200" indent="-457200" algn="l">
              <a:spcBef>
                <a:spcPts val="900"/>
              </a:spcBef>
              <a:buFont typeface="Arial" panose="020B0604020202020204" pitchFamily="34" charset="0"/>
              <a:buChar char="•"/>
            </a:pPr>
            <a:r>
              <a:rPr lang="ru-RU" b="0" i="0" dirty="0">
                <a:solidFill>
                  <a:srgbClr val="333333"/>
                </a:solidFill>
                <a:effectLst/>
              </a:rPr>
              <a:t>Если разные потоки используют эксклюзивно разные участки памяти</a:t>
            </a:r>
          </a:p>
          <a:p>
            <a:pPr algn="just"/>
            <a:endParaRPr lang="ru-RU" dirty="0"/>
          </a:p>
        </p:txBody>
      </p:sp>
    </p:spTree>
    <p:extLst>
      <p:ext uri="{BB962C8B-B14F-4D97-AF65-F5344CB8AC3E}">
        <p14:creationId xmlns:p14="http://schemas.microsoft.com/office/powerpoint/2010/main" val="26839036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CBAAC-1ADD-83B9-5924-8513A87CD03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B12C11-090A-6016-761E-1D58313EDC18}"/>
              </a:ext>
            </a:extLst>
          </p:cNvPr>
          <p:cNvSpPr>
            <a:spLocks noGrp="1"/>
          </p:cNvSpPr>
          <p:nvPr>
            <p:ph type="title"/>
          </p:nvPr>
        </p:nvSpPr>
        <p:spPr/>
        <p:txBody>
          <a:bodyPr/>
          <a:lstStyle/>
          <a:p>
            <a:r>
              <a:rPr lang="ru-RU" dirty="0"/>
              <a:t>Атомарные операции</a:t>
            </a:r>
            <a:br>
              <a:rPr lang="en-US" dirty="0"/>
            </a:br>
            <a:r>
              <a:rPr lang="ru-RU" dirty="0"/>
              <a:t>Способы синхронизации памяти</a:t>
            </a:r>
          </a:p>
        </p:txBody>
      </p:sp>
      <p:sp>
        <p:nvSpPr>
          <p:cNvPr id="3" name="Объект 2">
            <a:extLst>
              <a:ext uri="{FF2B5EF4-FFF2-40B4-BE49-F238E27FC236}">
                <a16:creationId xmlns:a16="http://schemas.microsoft.com/office/drawing/2014/main" id="{CE75A24F-43B7-9249-D46F-EFDB152DF238}"/>
              </a:ext>
            </a:extLst>
          </p:cNvPr>
          <p:cNvSpPr>
            <a:spLocks noGrp="1"/>
          </p:cNvSpPr>
          <p:nvPr>
            <p:ph idx="1"/>
          </p:nvPr>
        </p:nvSpPr>
        <p:spPr/>
        <p:txBody>
          <a:bodyPr>
            <a:normAutofit/>
          </a:bodyPr>
          <a:lstStyle/>
          <a:p>
            <a:pPr algn="just"/>
            <a:r>
              <a:rPr lang="en-US" dirty="0"/>
              <a:t>r</a:t>
            </a:r>
            <a:r>
              <a:rPr lang="ru-RU" dirty="0" err="1"/>
              <a:t>elaxed</a:t>
            </a:r>
            <a:r>
              <a:rPr lang="ru-RU" dirty="0"/>
              <a:t> – гарантирует только свойство атомарности операций, при этом не может участвовать в процессе синхронизации данных между потоками. </a:t>
            </a:r>
            <a:endParaRPr lang="en-US" dirty="0"/>
          </a:p>
          <a:p>
            <a:pPr algn="just"/>
            <a:r>
              <a:rPr lang="ru-RU" dirty="0"/>
              <a:t>Свойства:</a:t>
            </a:r>
          </a:p>
          <a:p>
            <a:pPr marL="457200" indent="-457200" algn="just">
              <a:buFont typeface="Arial" panose="020B0604020202020204" pitchFamily="34" charset="0"/>
              <a:buChar char="•"/>
            </a:pPr>
            <a:r>
              <a:rPr lang="ru-RU" dirty="0"/>
              <a:t>модификация переменной "появится" в другом потоке не сразу</a:t>
            </a:r>
          </a:p>
          <a:p>
            <a:pPr marL="457200" indent="-457200" algn="just">
              <a:buFont typeface="Arial" panose="020B0604020202020204" pitchFamily="34" charset="0"/>
              <a:buChar char="•"/>
            </a:pPr>
            <a:r>
              <a:rPr lang="ru-RU" dirty="0"/>
              <a:t>поток thread2 "увидит" значения одной и той же переменной в том же порядке, в котором происходили её  модификации в потоке thread1</a:t>
            </a:r>
          </a:p>
          <a:p>
            <a:pPr marL="457200" indent="-457200" algn="just">
              <a:buFont typeface="Arial" panose="020B0604020202020204" pitchFamily="34" charset="0"/>
              <a:buChar char="•"/>
            </a:pPr>
            <a:r>
              <a:rPr lang="ru-RU" dirty="0"/>
              <a:t>порядок модификаций разных переменных в потоке thread1 не сохранится в потоке thread2</a:t>
            </a:r>
          </a:p>
        </p:txBody>
      </p:sp>
    </p:spTree>
    <p:extLst>
      <p:ext uri="{BB962C8B-B14F-4D97-AF65-F5344CB8AC3E}">
        <p14:creationId xmlns:p14="http://schemas.microsoft.com/office/powerpoint/2010/main" val="26512035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5B827-08F1-CDFC-6239-CFC6717DD08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A4AF38-E213-5F02-0B6E-52CF1ADE696D}"/>
              </a:ext>
            </a:extLst>
          </p:cNvPr>
          <p:cNvSpPr>
            <a:spLocks noGrp="1"/>
          </p:cNvSpPr>
          <p:nvPr>
            <p:ph type="title"/>
          </p:nvPr>
        </p:nvSpPr>
        <p:spPr/>
        <p:txBody>
          <a:bodyPr/>
          <a:lstStyle/>
          <a:p>
            <a:r>
              <a:rPr lang="ru-RU" dirty="0"/>
              <a:t>Атомарные операции</a:t>
            </a:r>
            <a:br>
              <a:rPr lang="en-US" dirty="0"/>
            </a:br>
            <a:r>
              <a:rPr lang="ru-RU" dirty="0"/>
              <a:t>Способы синхронизации памяти</a:t>
            </a:r>
          </a:p>
        </p:txBody>
      </p:sp>
      <p:sp>
        <p:nvSpPr>
          <p:cNvPr id="3" name="Объект 2">
            <a:extLst>
              <a:ext uri="{FF2B5EF4-FFF2-40B4-BE49-F238E27FC236}">
                <a16:creationId xmlns:a16="http://schemas.microsoft.com/office/drawing/2014/main" id="{14720814-9AF3-BA35-213B-6E226EB0E5A2}"/>
              </a:ext>
            </a:extLst>
          </p:cNvPr>
          <p:cNvSpPr>
            <a:spLocks noGrp="1"/>
          </p:cNvSpPr>
          <p:nvPr>
            <p:ph idx="1"/>
          </p:nvPr>
        </p:nvSpPr>
        <p:spPr/>
        <p:txBody>
          <a:bodyPr>
            <a:normAutofit fontScale="85000" lnSpcReduction="20000"/>
          </a:bodyPr>
          <a:lstStyle/>
          <a:p>
            <a:pPr algn="just"/>
            <a:r>
              <a:rPr lang="ru-RU" dirty="0"/>
              <a:t>Пример: используем в качестве счётчика</a:t>
            </a:r>
          </a:p>
          <a:p>
            <a:pPr algn="just"/>
            <a:endParaRPr lang="ru-RU" dirty="0">
              <a:latin typeface="Consolas" panose="020B0609020204030204" pitchFamily="49" charset="0"/>
            </a:endParaRPr>
          </a:p>
          <a:p>
            <a:pPr algn="just"/>
            <a:r>
              <a:rPr lang="en-US" dirty="0">
                <a:latin typeface="Consolas" panose="020B0609020204030204" pitchFamily="49" charset="0"/>
              </a:rPr>
              <a:t>std::atomic&lt;</a:t>
            </a:r>
            <a:r>
              <a:rPr lang="en-US" dirty="0" err="1">
                <a:latin typeface="Consolas" panose="020B0609020204030204" pitchFamily="49" charset="0"/>
              </a:rPr>
              <a:t>size_t</a:t>
            </a:r>
            <a:r>
              <a:rPr lang="en-US" dirty="0">
                <a:latin typeface="Consolas" panose="020B0609020204030204" pitchFamily="49" charset="0"/>
              </a:rPr>
              <a:t>&gt; counter{ 0 };</a:t>
            </a:r>
          </a:p>
          <a:p>
            <a:pPr algn="just"/>
            <a:r>
              <a:rPr lang="en-US" dirty="0">
                <a:latin typeface="Consolas" panose="020B0609020204030204" pitchFamily="49" charset="0"/>
              </a:rPr>
              <a:t>// process can be called from different threads</a:t>
            </a:r>
          </a:p>
          <a:p>
            <a:pPr algn="just"/>
            <a:r>
              <a:rPr lang="en-US" dirty="0">
                <a:latin typeface="Consolas" panose="020B0609020204030204" pitchFamily="49" charset="0"/>
              </a:rPr>
              <a:t>void process(Request req) {</a:t>
            </a:r>
          </a:p>
          <a:p>
            <a:pPr algn="just"/>
            <a:r>
              <a:rPr lang="en-US" dirty="0">
                <a:latin typeface="Consolas" panose="020B0609020204030204" pitchFamily="49" charset="0"/>
              </a:rPr>
              <a:t>	</a:t>
            </a:r>
            <a:r>
              <a:rPr lang="en-US" dirty="0" err="1">
                <a:latin typeface="Consolas" panose="020B0609020204030204" pitchFamily="49" charset="0"/>
              </a:rPr>
              <a:t>counter.fetch_add</a:t>
            </a:r>
            <a:r>
              <a:rPr lang="en-US" dirty="0">
                <a:latin typeface="Consolas" panose="020B0609020204030204" pitchFamily="49" charset="0"/>
              </a:rPr>
              <a:t>(1, std::</a:t>
            </a:r>
            <a:r>
              <a:rPr lang="en-US" dirty="0" err="1">
                <a:latin typeface="Consolas" panose="020B0609020204030204" pitchFamily="49" charset="0"/>
              </a:rPr>
              <a:t>memory_order_relaxed</a:t>
            </a:r>
            <a:r>
              <a:rPr lang="en-US" dirty="0">
                <a:latin typeface="Consolas" panose="020B0609020204030204" pitchFamily="49" charset="0"/>
              </a:rPr>
              <a:t>);</a:t>
            </a:r>
          </a:p>
          <a:p>
            <a:pPr algn="just"/>
            <a:r>
              <a:rPr lang="en-US" dirty="0">
                <a:latin typeface="Consolas" panose="020B0609020204030204" pitchFamily="49" charset="0"/>
              </a:rPr>
              <a:t>	// ...</a:t>
            </a:r>
          </a:p>
          <a:p>
            <a:pPr algn="just"/>
            <a:r>
              <a:rPr lang="en-US" dirty="0">
                <a:latin typeface="Consolas" panose="020B0609020204030204" pitchFamily="49" charset="0"/>
              </a:rPr>
              <a:t>}</a:t>
            </a:r>
          </a:p>
          <a:p>
            <a:pPr algn="just"/>
            <a:r>
              <a:rPr lang="en-US" dirty="0">
                <a:latin typeface="Consolas" panose="020B0609020204030204" pitchFamily="49" charset="0"/>
              </a:rPr>
              <a:t>void </a:t>
            </a:r>
            <a:r>
              <a:rPr lang="en-US" dirty="0" err="1">
                <a:latin typeface="Consolas" panose="020B0609020204030204" pitchFamily="49" charset="0"/>
              </a:rPr>
              <a:t>print_metrics</a:t>
            </a:r>
            <a:r>
              <a:rPr lang="en-US" dirty="0">
                <a:latin typeface="Consolas" panose="020B0609020204030204" pitchFamily="49" charset="0"/>
              </a:rPr>
              <a:t>() {</a:t>
            </a:r>
          </a:p>
          <a:p>
            <a:pPr algn="just"/>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"Number of requests = " &lt;&lt; </a:t>
            </a:r>
            <a:r>
              <a:rPr lang="en-US" dirty="0" err="1">
                <a:latin typeface="Consolas" panose="020B0609020204030204" pitchFamily="49" charset="0"/>
              </a:rPr>
              <a:t>counter.load</a:t>
            </a:r>
            <a:r>
              <a:rPr lang="en-US" dirty="0">
                <a:latin typeface="Consolas" panose="020B0609020204030204" pitchFamily="49" charset="0"/>
              </a:rPr>
              <a:t>(std::</a:t>
            </a:r>
            <a:r>
              <a:rPr lang="en-US" dirty="0" err="1">
                <a:latin typeface="Consolas" panose="020B0609020204030204" pitchFamily="49" charset="0"/>
              </a:rPr>
              <a:t>memory_order_relaxed</a:t>
            </a:r>
            <a:r>
              <a:rPr lang="en-US" dirty="0">
                <a:latin typeface="Consolas" panose="020B0609020204030204" pitchFamily="49" charset="0"/>
              </a:rPr>
              <a:t>) &lt;&lt; "\n";</a:t>
            </a:r>
          </a:p>
          <a:p>
            <a:pPr algn="just"/>
            <a:r>
              <a:rPr lang="en-US" dirty="0">
                <a:latin typeface="Consolas" panose="020B0609020204030204" pitchFamily="49" charset="0"/>
              </a:rPr>
              <a:t>	// ...</a:t>
            </a:r>
          </a:p>
          <a:p>
            <a:pPr algn="just"/>
            <a:r>
              <a:rPr lang="en-US" dirty="0">
                <a:latin typeface="Consolas" panose="020B0609020204030204" pitchFamily="49" charset="0"/>
              </a:rPr>
              <a:t>}</a:t>
            </a:r>
            <a:endParaRPr lang="ru-RU" dirty="0">
              <a:latin typeface="Consolas" panose="020B0609020204030204" pitchFamily="49" charset="0"/>
            </a:endParaRPr>
          </a:p>
        </p:txBody>
      </p:sp>
    </p:spTree>
    <p:extLst>
      <p:ext uri="{BB962C8B-B14F-4D97-AF65-F5344CB8AC3E}">
        <p14:creationId xmlns:p14="http://schemas.microsoft.com/office/powerpoint/2010/main" val="1512587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85EF0-3263-73F3-AAD3-881EA2A500E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CF336E-B42E-4138-7145-132739DF658B}"/>
              </a:ext>
            </a:extLst>
          </p:cNvPr>
          <p:cNvSpPr>
            <a:spLocks noGrp="1"/>
          </p:cNvSpPr>
          <p:nvPr>
            <p:ph type="title"/>
          </p:nvPr>
        </p:nvSpPr>
        <p:spPr/>
        <p:txBody>
          <a:bodyPr/>
          <a:lstStyle/>
          <a:p>
            <a:r>
              <a:rPr lang="ru-RU" dirty="0"/>
              <a:t>Атомарные операции</a:t>
            </a:r>
            <a:br>
              <a:rPr lang="en-US" dirty="0"/>
            </a:br>
            <a:r>
              <a:rPr lang="ru-RU" dirty="0"/>
              <a:t>Способы синхронизации памяти</a:t>
            </a:r>
          </a:p>
        </p:txBody>
      </p:sp>
      <p:sp>
        <p:nvSpPr>
          <p:cNvPr id="3" name="Объект 2">
            <a:extLst>
              <a:ext uri="{FF2B5EF4-FFF2-40B4-BE49-F238E27FC236}">
                <a16:creationId xmlns:a16="http://schemas.microsoft.com/office/drawing/2014/main" id="{DE59F91C-864F-8C0E-FF8C-D02E2BC3A835}"/>
              </a:ext>
            </a:extLst>
          </p:cNvPr>
          <p:cNvSpPr>
            <a:spLocks noGrp="1"/>
          </p:cNvSpPr>
          <p:nvPr>
            <p:ph idx="1"/>
          </p:nvPr>
        </p:nvSpPr>
        <p:spPr/>
        <p:txBody>
          <a:bodyPr>
            <a:normAutofit fontScale="77500" lnSpcReduction="20000"/>
          </a:bodyPr>
          <a:lstStyle/>
          <a:p>
            <a:pPr algn="just"/>
            <a:r>
              <a:rPr lang="ru-RU" dirty="0"/>
              <a:t>Пример: Отмена операций в другом потоке</a:t>
            </a:r>
          </a:p>
          <a:p>
            <a:pPr algn="just"/>
            <a:endParaRPr lang="ru-RU" dirty="0"/>
          </a:p>
          <a:p>
            <a:pPr algn="just"/>
            <a:r>
              <a:rPr lang="en-US" dirty="0">
                <a:latin typeface="Consolas" panose="020B0609020204030204" pitchFamily="49" charset="0"/>
              </a:rPr>
              <a:t>std::string data;</a:t>
            </a:r>
          </a:p>
          <a:p>
            <a:pPr algn="just"/>
            <a:r>
              <a:rPr lang="en-US" dirty="0">
                <a:latin typeface="Consolas" panose="020B0609020204030204" pitchFamily="49" charset="0"/>
              </a:rPr>
              <a:t>std::atomic&lt;bool&gt; ready{ false };</a:t>
            </a:r>
          </a:p>
          <a:p>
            <a:pPr algn="just"/>
            <a:r>
              <a:rPr lang="en-US" dirty="0">
                <a:latin typeface="Consolas" panose="020B0609020204030204" pitchFamily="49" charset="0"/>
              </a:rPr>
              <a:t>void thread1() {</a:t>
            </a:r>
          </a:p>
          <a:p>
            <a:pPr algn="just"/>
            <a:r>
              <a:rPr lang="en-US" dirty="0">
                <a:latin typeface="Consolas" panose="020B0609020204030204" pitchFamily="49" charset="0"/>
              </a:rPr>
              <a:t>	data = "very important bytes";</a:t>
            </a:r>
          </a:p>
          <a:p>
            <a:pPr algn="just"/>
            <a:r>
              <a:rPr lang="en-US" dirty="0">
                <a:latin typeface="Consolas" panose="020B0609020204030204" pitchFamily="49" charset="0"/>
              </a:rPr>
              <a:t>	</a:t>
            </a:r>
            <a:r>
              <a:rPr lang="en-US" dirty="0" err="1">
                <a:latin typeface="Consolas" panose="020B0609020204030204" pitchFamily="49" charset="0"/>
              </a:rPr>
              <a:t>ready.store</a:t>
            </a:r>
            <a:r>
              <a:rPr lang="en-US" dirty="0">
                <a:latin typeface="Consolas" panose="020B0609020204030204" pitchFamily="49" charset="0"/>
              </a:rPr>
              <a:t>(true, std::</a:t>
            </a:r>
            <a:r>
              <a:rPr lang="en-US" dirty="0" err="1">
                <a:latin typeface="Consolas" panose="020B0609020204030204" pitchFamily="49" charset="0"/>
              </a:rPr>
              <a:t>memory_order_relaxed</a:t>
            </a:r>
            <a:r>
              <a:rPr lang="en-US" dirty="0">
                <a:latin typeface="Consolas" panose="020B0609020204030204" pitchFamily="49" charset="0"/>
              </a:rPr>
              <a:t>);</a:t>
            </a:r>
          </a:p>
          <a:p>
            <a:pPr algn="just"/>
            <a:r>
              <a:rPr lang="en-US" dirty="0">
                <a:latin typeface="Consolas" panose="020B0609020204030204" pitchFamily="49" charset="0"/>
              </a:rPr>
              <a:t>}</a:t>
            </a:r>
          </a:p>
          <a:p>
            <a:pPr algn="just"/>
            <a:r>
              <a:rPr lang="en-US" dirty="0">
                <a:latin typeface="Consolas" panose="020B0609020204030204" pitchFamily="49" charset="0"/>
              </a:rPr>
              <a:t>void thread2() {</a:t>
            </a:r>
          </a:p>
          <a:p>
            <a:pPr algn="just"/>
            <a:r>
              <a:rPr lang="en-US" dirty="0">
                <a:latin typeface="Consolas" panose="020B0609020204030204" pitchFamily="49" charset="0"/>
              </a:rPr>
              <a:t>	while (!</a:t>
            </a:r>
            <a:r>
              <a:rPr lang="en-US" dirty="0" err="1">
                <a:latin typeface="Consolas" panose="020B0609020204030204" pitchFamily="49" charset="0"/>
              </a:rPr>
              <a:t>ready.load</a:t>
            </a:r>
            <a:r>
              <a:rPr lang="en-US" dirty="0">
                <a:latin typeface="Consolas" panose="020B0609020204030204" pitchFamily="49" charset="0"/>
              </a:rPr>
              <a:t>(std::</a:t>
            </a:r>
            <a:r>
              <a:rPr lang="en-US" dirty="0" err="1">
                <a:latin typeface="Consolas" panose="020B0609020204030204" pitchFamily="49" charset="0"/>
              </a:rPr>
              <a:t>memory_order_relaxed</a:t>
            </a:r>
            <a:r>
              <a:rPr lang="en-US" dirty="0">
                <a:latin typeface="Consolas" panose="020B0609020204030204" pitchFamily="49" charset="0"/>
              </a:rPr>
              <a:t>));</a:t>
            </a:r>
          </a:p>
          <a:p>
            <a:pPr algn="just"/>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"data is ready: " &lt;&lt; data &lt;&lt; "\n"; </a:t>
            </a:r>
            <a:endParaRPr lang="ru-RU" dirty="0">
              <a:latin typeface="Consolas" panose="020B0609020204030204" pitchFamily="49" charset="0"/>
            </a:endParaRPr>
          </a:p>
          <a:p>
            <a:pPr algn="just"/>
            <a:r>
              <a:rPr lang="ru-RU" dirty="0">
                <a:latin typeface="Consolas" panose="020B0609020204030204" pitchFamily="49" charset="0"/>
              </a:rPr>
              <a:t>	</a:t>
            </a:r>
            <a:r>
              <a:rPr lang="en-US" dirty="0">
                <a:latin typeface="Consolas" panose="020B0609020204030204" pitchFamily="49" charset="0"/>
              </a:rPr>
              <a:t>// potentially memory corruption is here</a:t>
            </a:r>
          </a:p>
          <a:p>
            <a:pPr algn="just"/>
            <a:r>
              <a:rPr lang="en-US" dirty="0">
                <a:latin typeface="Consolas" panose="020B0609020204030204" pitchFamily="49" charset="0"/>
              </a:rPr>
              <a:t>}</a:t>
            </a:r>
            <a:endParaRPr lang="ru-RU" dirty="0">
              <a:latin typeface="Consolas" panose="020B0609020204030204" pitchFamily="49" charset="0"/>
            </a:endParaRPr>
          </a:p>
        </p:txBody>
      </p:sp>
    </p:spTree>
    <p:extLst>
      <p:ext uri="{BB962C8B-B14F-4D97-AF65-F5344CB8AC3E}">
        <p14:creationId xmlns:p14="http://schemas.microsoft.com/office/powerpoint/2010/main" val="6422046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176C4-B1BB-0C31-1B27-56210C69643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0AA56B-C82E-264C-C1E5-2252E3FD40BF}"/>
              </a:ext>
            </a:extLst>
          </p:cNvPr>
          <p:cNvSpPr>
            <a:spLocks noGrp="1"/>
          </p:cNvSpPr>
          <p:nvPr>
            <p:ph type="title"/>
          </p:nvPr>
        </p:nvSpPr>
        <p:spPr/>
        <p:txBody>
          <a:bodyPr/>
          <a:lstStyle/>
          <a:p>
            <a:r>
              <a:rPr lang="ru-RU" dirty="0"/>
              <a:t>Атомарные операции</a:t>
            </a:r>
            <a:br>
              <a:rPr lang="en-US" dirty="0"/>
            </a:br>
            <a:r>
              <a:rPr lang="ru-RU" dirty="0"/>
              <a:t>Способы синхронизации памяти</a:t>
            </a:r>
          </a:p>
        </p:txBody>
      </p:sp>
      <p:sp>
        <p:nvSpPr>
          <p:cNvPr id="3" name="Объект 2">
            <a:extLst>
              <a:ext uri="{FF2B5EF4-FFF2-40B4-BE49-F238E27FC236}">
                <a16:creationId xmlns:a16="http://schemas.microsoft.com/office/drawing/2014/main" id="{15E1D391-46F8-2FD8-1EAC-E0A3B6605D51}"/>
              </a:ext>
            </a:extLst>
          </p:cNvPr>
          <p:cNvSpPr>
            <a:spLocks noGrp="1"/>
          </p:cNvSpPr>
          <p:nvPr>
            <p:ph idx="1"/>
          </p:nvPr>
        </p:nvSpPr>
        <p:spPr/>
        <p:txBody>
          <a:bodyPr>
            <a:normAutofit fontScale="70000" lnSpcReduction="20000"/>
          </a:bodyPr>
          <a:lstStyle/>
          <a:p>
            <a:pPr algn="just"/>
            <a:r>
              <a:rPr lang="ru-RU" dirty="0"/>
              <a:t>Пример: </a:t>
            </a:r>
            <a:r>
              <a:rPr lang="ru-RU" b="1" dirty="0"/>
              <a:t>КАК ДЕЛАТЬ НЕЛЬЗЯ!</a:t>
            </a:r>
          </a:p>
          <a:p>
            <a:pPr algn="just"/>
            <a:endParaRPr lang="ru-RU" b="1" dirty="0"/>
          </a:p>
          <a:p>
            <a:pPr algn="just"/>
            <a:r>
              <a:rPr lang="en-US" dirty="0">
                <a:latin typeface="Consolas" panose="020B0609020204030204" pitchFamily="49" charset="0"/>
              </a:rPr>
              <a:t>std::string data;</a:t>
            </a:r>
          </a:p>
          <a:p>
            <a:pPr algn="just"/>
            <a:r>
              <a:rPr lang="en-US" dirty="0">
                <a:latin typeface="Consolas" panose="020B0609020204030204" pitchFamily="49" charset="0"/>
              </a:rPr>
              <a:t>std::atomic&lt;bool&gt; ready{ false };</a:t>
            </a:r>
          </a:p>
          <a:p>
            <a:pPr algn="just"/>
            <a:r>
              <a:rPr lang="en-US" dirty="0">
                <a:latin typeface="Consolas" panose="020B0609020204030204" pitchFamily="49" charset="0"/>
              </a:rPr>
              <a:t>void thread1() {</a:t>
            </a:r>
          </a:p>
          <a:p>
            <a:pPr algn="just"/>
            <a:r>
              <a:rPr lang="en-US" dirty="0">
                <a:latin typeface="Consolas" panose="020B0609020204030204" pitchFamily="49" charset="0"/>
              </a:rPr>
              <a:t>	data = "very important bytes";</a:t>
            </a:r>
          </a:p>
          <a:p>
            <a:pPr algn="just"/>
            <a:r>
              <a:rPr lang="en-US" dirty="0">
                <a:latin typeface="Consolas" panose="020B0609020204030204" pitchFamily="49" charset="0"/>
              </a:rPr>
              <a:t>	</a:t>
            </a:r>
            <a:r>
              <a:rPr lang="en-US" dirty="0" err="1">
                <a:latin typeface="Consolas" panose="020B0609020204030204" pitchFamily="49" charset="0"/>
              </a:rPr>
              <a:t>ready.store</a:t>
            </a:r>
            <a:r>
              <a:rPr lang="en-US" dirty="0">
                <a:latin typeface="Consolas" panose="020B0609020204030204" pitchFamily="49" charset="0"/>
              </a:rPr>
              <a:t>(true, std::</a:t>
            </a:r>
            <a:r>
              <a:rPr lang="en-US" dirty="0" err="1">
                <a:latin typeface="Consolas" panose="020B0609020204030204" pitchFamily="49" charset="0"/>
              </a:rPr>
              <a:t>memory_order_relaxed</a:t>
            </a:r>
            <a:r>
              <a:rPr lang="en-US" dirty="0">
                <a:latin typeface="Consolas" panose="020B0609020204030204" pitchFamily="49" charset="0"/>
              </a:rPr>
              <a:t>);</a:t>
            </a:r>
          </a:p>
          <a:p>
            <a:pPr algn="just"/>
            <a:r>
              <a:rPr lang="en-US" dirty="0">
                <a:latin typeface="Consolas" panose="020B0609020204030204" pitchFamily="49" charset="0"/>
              </a:rPr>
              <a:t>}</a:t>
            </a:r>
          </a:p>
          <a:p>
            <a:pPr algn="just"/>
            <a:r>
              <a:rPr lang="en-US" dirty="0">
                <a:latin typeface="Consolas" panose="020B0609020204030204" pitchFamily="49" charset="0"/>
              </a:rPr>
              <a:t>void thread2() {</a:t>
            </a:r>
          </a:p>
          <a:p>
            <a:pPr algn="just"/>
            <a:r>
              <a:rPr lang="en-US" dirty="0">
                <a:latin typeface="Consolas" panose="020B0609020204030204" pitchFamily="49" charset="0"/>
              </a:rPr>
              <a:t>	while (!</a:t>
            </a:r>
            <a:r>
              <a:rPr lang="en-US" dirty="0" err="1">
                <a:latin typeface="Consolas" panose="020B0609020204030204" pitchFamily="49" charset="0"/>
              </a:rPr>
              <a:t>ready.load</a:t>
            </a:r>
            <a:r>
              <a:rPr lang="en-US" dirty="0">
                <a:latin typeface="Consolas" panose="020B0609020204030204" pitchFamily="49" charset="0"/>
              </a:rPr>
              <a:t>(std::</a:t>
            </a:r>
            <a:r>
              <a:rPr lang="en-US" dirty="0" err="1">
                <a:latin typeface="Consolas" panose="020B0609020204030204" pitchFamily="49" charset="0"/>
              </a:rPr>
              <a:t>memory_order_relaxed</a:t>
            </a:r>
            <a:r>
              <a:rPr lang="en-US" dirty="0">
                <a:latin typeface="Consolas" panose="020B0609020204030204" pitchFamily="49" charset="0"/>
              </a:rPr>
              <a:t>));</a:t>
            </a:r>
          </a:p>
          <a:p>
            <a:pPr algn="just"/>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"data is ready: " &lt;&lt; data &lt;&lt; "\n"; </a:t>
            </a:r>
            <a:endParaRPr lang="ru-RU" dirty="0">
              <a:latin typeface="Consolas" panose="020B0609020204030204" pitchFamily="49" charset="0"/>
            </a:endParaRPr>
          </a:p>
          <a:p>
            <a:pPr algn="just"/>
            <a:r>
              <a:rPr lang="ru-RU" b="1" dirty="0">
                <a:latin typeface="Consolas" panose="020B0609020204030204" pitchFamily="49" charset="0"/>
              </a:rPr>
              <a:t>	</a:t>
            </a:r>
            <a:r>
              <a:rPr lang="en-US" b="1" dirty="0">
                <a:latin typeface="Consolas" panose="020B0609020204030204" pitchFamily="49" charset="0"/>
              </a:rPr>
              <a:t>//</a:t>
            </a:r>
            <a:r>
              <a:rPr lang="ru-RU" b="1" dirty="0">
                <a:latin typeface="Consolas" panose="020B0609020204030204" pitchFamily="49" charset="0"/>
              </a:rPr>
              <a:t> Мы ничего не знаем о </a:t>
            </a:r>
            <a:r>
              <a:rPr lang="en-US" b="1" dirty="0">
                <a:latin typeface="Consolas" panose="020B0609020204030204" pitchFamily="49" charset="0"/>
              </a:rPr>
              <a:t>data. </a:t>
            </a:r>
            <a:endParaRPr lang="ru-RU" b="1" dirty="0">
              <a:latin typeface="Consolas" panose="020B0609020204030204" pitchFamily="49" charset="0"/>
            </a:endParaRPr>
          </a:p>
          <a:p>
            <a:pPr algn="just"/>
            <a:r>
              <a:rPr lang="ru-RU" b="1" dirty="0">
                <a:latin typeface="Consolas" panose="020B0609020204030204" pitchFamily="49" charset="0"/>
              </a:rPr>
              <a:t>	// Возможно, в этот момент там находится ещё старое значение</a:t>
            </a:r>
            <a:endParaRPr lang="en-US" b="1" dirty="0">
              <a:latin typeface="Consolas" panose="020B0609020204030204" pitchFamily="49" charset="0"/>
            </a:endParaRPr>
          </a:p>
          <a:p>
            <a:pPr algn="just"/>
            <a:r>
              <a:rPr lang="en-US" dirty="0">
                <a:latin typeface="Consolas" panose="020B0609020204030204" pitchFamily="49" charset="0"/>
              </a:rPr>
              <a:t>}</a:t>
            </a:r>
            <a:endParaRPr lang="ru-RU" dirty="0">
              <a:latin typeface="Consolas" panose="020B0609020204030204" pitchFamily="49" charset="0"/>
            </a:endParaRPr>
          </a:p>
        </p:txBody>
      </p:sp>
    </p:spTree>
    <p:extLst>
      <p:ext uri="{BB962C8B-B14F-4D97-AF65-F5344CB8AC3E}">
        <p14:creationId xmlns:p14="http://schemas.microsoft.com/office/powerpoint/2010/main" val="26849432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0DE19-2007-BDA5-2DDC-A6EC8CDE519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C7EEDE-7F56-6017-B3A4-F13E92D493CD}"/>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sp>
        <p:nvSpPr>
          <p:cNvPr id="3" name="Объект 2">
            <a:extLst>
              <a:ext uri="{FF2B5EF4-FFF2-40B4-BE49-F238E27FC236}">
                <a16:creationId xmlns:a16="http://schemas.microsoft.com/office/drawing/2014/main" id="{AEE3A8EF-5313-8005-E544-FD632D241E02}"/>
              </a:ext>
            </a:extLst>
          </p:cNvPr>
          <p:cNvSpPr>
            <a:spLocks noGrp="1"/>
          </p:cNvSpPr>
          <p:nvPr>
            <p:ph idx="1"/>
          </p:nvPr>
        </p:nvSpPr>
        <p:spPr/>
        <p:txBody>
          <a:bodyPr>
            <a:normAutofit fontScale="92500" lnSpcReduction="20000"/>
          </a:bodyPr>
          <a:lstStyle/>
          <a:p>
            <a:pPr algn="just"/>
            <a:r>
              <a:rPr lang="en-US" b="0" i="0" dirty="0" err="1">
                <a:solidFill>
                  <a:srgbClr val="333333"/>
                </a:solidFill>
                <a:effectLst/>
              </a:rPr>
              <a:t>seq_cst</a:t>
            </a:r>
            <a:r>
              <a:rPr lang="ru-RU" b="0" i="0" dirty="0">
                <a:solidFill>
                  <a:srgbClr val="333333"/>
                </a:solidFill>
                <a:effectLst/>
              </a:rPr>
              <a:t> – единая последовательность операций над памятью.</a:t>
            </a:r>
          </a:p>
          <a:p>
            <a:pPr algn="just"/>
            <a:r>
              <a:rPr lang="ru-RU" b="0" i="0" dirty="0">
                <a:solidFill>
                  <a:srgbClr val="333333"/>
                </a:solidFill>
                <a:effectLst/>
              </a:rPr>
              <a:t>Такие операции будут работать, как барьеры памяти, в которых состояние памяти синхронизируется между всеми потоками программы.</a:t>
            </a:r>
          </a:p>
          <a:p>
            <a:pPr algn="just"/>
            <a:r>
              <a:rPr lang="ru-RU" dirty="0">
                <a:solidFill>
                  <a:srgbClr val="333333"/>
                </a:solidFill>
              </a:rPr>
              <a:t>Свойства:</a:t>
            </a:r>
          </a:p>
          <a:p>
            <a:pPr marL="457200" indent="-457200" algn="just">
              <a:buFont typeface="Arial" panose="020B0604020202020204" pitchFamily="34" charset="0"/>
              <a:buChar char="•"/>
            </a:pPr>
            <a:r>
              <a:rPr lang="ru-RU" dirty="0"/>
              <a:t>порядок модификаций разных атомарных переменных в потоке </a:t>
            </a:r>
            <a:r>
              <a:rPr lang="ru-RU" b="1" i="1" dirty="0"/>
              <a:t>thread1</a:t>
            </a:r>
            <a:r>
              <a:rPr lang="ru-RU" dirty="0"/>
              <a:t> сохранится в потоке </a:t>
            </a:r>
            <a:r>
              <a:rPr lang="ru-RU" b="1" i="1" dirty="0"/>
              <a:t>thread2</a:t>
            </a:r>
          </a:p>
          <a:p>
            <a:pPr marL="457200" indent="-457200" algn="just">
              <a:buFont typeface="Arial" panose="020B0604020202020204" pitchFamily="34" charset="0"/>
              <a:buChar char="•"/>
            </a:pPr>
            <a:r>
              <a:rPr lang="ru-RU" dirty="0"/>
              <a:t>все потоки будут видеть один и тот же порядок модификации всех атомарных переменных. Сами модификации могут происходить в разных потоках</a:t>
            </a:r>
          </a:p>
          <a:p>
            <a:pPr marL="457200" indent="-457200" algn="just">
              <a:buFont typeface="Arial" panose="020B0604020202020204" pitchFamily="34" charset="0"/>
              <a:buChar char="•"/>
            </a:pPr>
            <a:r>
              <a:rPr lang="ru-RU" dirty="0"/>
              <a:t>все модификации памяти (не только модификации над </a:t>
            </a:r>
            <a:r>
              <a:rPr lang="ru-RU" dirty="0" err="1"/>
              <a:t>атомиками</a:t>
            </a:r>
            <a:r>
              <a:rPr lang="ru-RU" dirty="0"/>
              <a:t>) в потоке </a:t>
            </a:r>
            <a:r>
              <a:rPr lang="ru-RU" b="1" i="1" dirty="0"/>
              <a:t>thread1</a:t>
            </a:r>
            <a:r>
              <a:rPr lang="ru-RU" dirty="0"/>
              <a:t>, выполняющей </a:t>
            </a:r>
            <a:r>
              <a:rPr lang="ru-RU" b="1" i="1" dirty="0" err="1"/>
              <a:t>store</a:t>
            </a:r>
            <a:r>
              <a:rPr lang="ru-RU" dirty="0"/>
              <a:t> на атомарной переменной, будут видны после выполнения </a:t>
            </a:r>
            <a:r>
              <a:rPr lang="ru-RU" b="1" i="1" dirty="0" err="1"/>
              <a:t>load</a:t>
            </a:r>
            <a:r>
              <a:rPr lang="ru-RU" dirty="0"/>
              <a:t> этой же переменной в потоке </a:t>
            </a:r>
            <a:r>
              <a:rPr lang="ru-RU" b="1" i="1" dirty="0"/>
              <a:t>thread2</a:t>
            </a:r>
          </a:p>
        </p:txBody>
      </p:sp>
    </p:spTree>
    <p:extLst>
      <p:ext uri="{BB962C8B-B14F-4D97-AF65-F5344CB8AC3E}">
        <p14:creationId xmlns:p14="http://schemas.microsoft.com/office/powerpoint/2010/main" val="1338971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1779E-DD73-9758-173B-AEE40B8A33D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4A88D7-8EC6-B26C-3129-122CE1A387E2}"/>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sp>
        <p:nvSpPr>
          <p:cNvPr id="3" name="Объект 2">
            <a:extLst>
              <a:ext uri="{FF2B5EF4-FFF2-40B4-BE49-F238E27FC236}">
                <a16:creationId xmlns:a16="http://schemas.microsoft.com/office/drawing/2014/main" id="{A9F9CD9B-B94E-D7FA-E1D0-38877E5FC9E1}"/>
              </a:ext>
            </a:extLst>
          </p:cNvPr>
          <p:cNvSpPr>
            <a:spLocks noGrp="1"/>
          </p:cNvSpPr>
          <p:nvPr>
            <p:ph idx="1"/>
          </p:nvPr>
        </p:nvSpPr>
        <p:spPr/>
        <p:txBody>
          <a:bodyPr/>
          <a:lstStyle/>
          <a:p>
            <a:pPr algn="just"/>
            <a:r>
              <a:rPr lang="ru-RU" b="1" dirty="0" err="1"/>
              <a:t>seq_cst</a:t>
            </a:r>
            <a:r>
              <a:rPr lang="ru-RU" b="1" dirty="0"/>
              <a:t> </a:t>
            </a:r>
            <a:r>
              <a:rPr lang="ru-RU" dirty="0"/>
              <a:t>является дорогой операцией для процессоров, в которых вычислительные ядра слабо связаны между собой в плане механизмов обеспечения </a:t>
            </a:r>
            <a:r>
              <a:rPr lang="ru-RU" dirty="0" err="1"/>
              <a:t>консистентности</a:t>
            </a:r>
            <a:r>
              <a:rPr lang="ru-RU" dirty="0"/>
              <a:t> памяти.</a:t>
            </a:r>
          </a:p>
          <a:p>
            <a:pPr algn="just"/>
            <a:r>
              <a:rPr lang="ru-RU" dirty="0"/>
              <a:t>Для x86-64 </a:t>
            </a:r>
            <a:r>
              <a:rPr lang="ru-RU" b="1" dirty="0" err="1"/>
              <a:t>seq_cst</a:t>
            </a:r>
            <a:r>
              <a:rPr lang="ru-RU" dirty="0"/>
              <a:t> дешевле, чем для ARM архитектур.</a:t>
            </a:r>
          </a:p>
        </p:txBody>
      </p:sp>
    </p:spTree>
    <p:extLst>
      <p:ext uri="{BB962C8B-B14F-4D97-AF65-F5344CB8AC3E}">
        <p14:creationId xmlns:p14="http://schemas.microsoft.com/office/powerpoint/2010/main" val="24109796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4425E-9759-E0E4-3D28-EA49BAB46B8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465574-C9F9-43B7-9976-443F2D7A0058}"/>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pic>
        <p:nvPicPr>
          <p:cNvPr id="5" name="Объект 4">
            <a:extLst>
              <a:ext uri="{FF2B5EF4-FFF2-40B4-BE49-F238E27FC236}">
                <a16:creationId xmlns:a16="http://schemas.microsoft.com/office/drawing/2014/main" id="{A0A8280C-4F1B-E184-7624-BD53B6AB33D2}"/>
              </a:ext>
            </a:extLst>
          </p:cNvPr>
          <p:cNvPicPr>
            <a:picLocks noGrp="1" noChangeAspect="1"/>
          </p:cNvPicPr>
          <p:nvPr>
            <p:ph idx="1"/>
          </p:nvPr>
        </p:nvPicPr>
        <p:blipFill>
          <a:blip r:embed="rId2"/>
          <a:stretch>
            <a:fillRect/>
          </a:stretch>
        </p:blipFill>
        <p:spPr>
          <a:xfrm>
            <a:off x="1319212" y="1854200"/>
            <a:ext cx="9553575" cy="4838700"/>
          </a:xfrm>
        </p:spPr>
      </p:pic>
      <p:sp>
        <p:nvSpPr>
          <p:cNvPr id="6" name="TextBox 5">
            <a:extLst>
              <a:ext uri="{FF2B5EF4-FFF2-40B4-BE49-F238E27FC236}">
                <a16:creationId xmlns:a16="http://schemas.microsoft.com/office/drawing/2014/main" id="{52682F06-0E6C-FA28-598B-E370D16FBF86}"/>
              </a:ext>
            </a:extLst>
          </p:cNvPr>
          <p:cNvSpPr txBox="1"/>
          <p:nvPr/>
        </p:nvSpPr>
        <p:spPr>
          <a:xfrm>
            <a:off x="7074911" y="6123543"/>
            <a:ext cx="3545266" cy="369332"/>
          </a:xfrm>
          <a:prstGeom prst="rect">
            <a:avLst/>
          </a:prstGeom>
          <a:noFill/>
        </p:spPr>
        <p:txBody>
          <a:bodyPr wrap="none" rtlCol="0">
            <a:spAutoFit/>
          </a:bodyPr>
          <a:lstStyle/>
          <a:p>
            <a:r>
              <a:rPr lang="ru-RU" dirty="0">
                <a:solidFill>
                  <a:srgbClr val="FF0000"/>
                </a:solidFill>
                <a:latin typeface="Arial" panose="020B0604020202020204" pitchFamily="34" charset="0"/>
                <a:cs typeface="Arial" panose="020B0604020202020204" pitchFamily="34" charset="0"/>
              </a:rPr>
              <a:t>Значение </a:t>
            </a:r>
            <a:r>
              <a:rPr lang="en-US" dirty="0">
                <a:solidFill>
                  <a:srgbClr val="FF0000"/>
                </a:solidFill>
                <a:latin typeface="Arial" panose="020B0604020202020204" pitchFamily="34" charset="0"/>
                <a:cs typeface="Arial" panose="020B0604020202020204" pitchFamily="34" charset="0"/>
              </a:rPr>
              <a:t>z </a:t>
            </a:r>
            <a:r>
              <a:rPr lang="ru-RU" dirty="0">
                <a:solidFill>
                  <a:srgbClr val="FF0000"/>
                </a:solidFill>
                <a:latin typeface="Arial" panose="020B0604020202020204" pitchFamily="34" charset="0"/>
                <a:cs typeface="Arial" panose="020B0604020202020204" pitchFamily="34" charset="0"/>
              </a:rPr>
              <a:t>может быть 1 или 2</a:t>
            </a:r>
          </a:p>
        </p:txBody>
      </p:sp>
    </p:spTree>
    <p:extLst>
      <p:ext uri="{BB962C8B-B14F-4D97-AF65-F5344CB8AC3E}">
        <p14:creationId xmlns:p14="http://schemas.microsoft.com/office/powerpoint/2010/main" val="845146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688A9-CE10-C212-68A0-19E9694B4CB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3B5645-7DF1-F30A-9D94-19A663110CD7}"/>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sp>
        <p:nvSpPr>
          <p:cNvPr id="3" name="Объект 2">
            <a:extLst>
              <a:ext uri="{FF2B5EF4-FFF2-40B4-BE49-F238E27FC236}">
                <a16:creationId xmlns:a16="http://schemas.microsoft.com/office/drawing/2014/main" id="{8D0F1015-C601-1C13-ECC9-6A8006D1C861}"/>
              </a:ext>
            </a:extLst>
          </p:cNvPr>
          <p:cNvSpPr>
            <a:spLocks noGrp="1"/>
          </p:cNvSpPr>
          <p:nvPr>
            <p:ph idx="1"/>
          </p:nvPr>
        </p:nvSpPr>
        <p:spPr/>
        <p:txBody>
          <a:bodyPr/>
          <a:lstStyle/>
          <a:p>
            <a:pPr algn="just"/>
            <a:r>
              <a:rPr lang="ru-RU" dirty="0"/>
              <a:t>Когда у вас потоки находятся в состояние «гонки», то используйте </a:t>
            </a:r>
            <a:r>
              <a:rPr lang="ru-RU" b="1" dirty="0" err="1"/>
              <a:t>seq_cst</a:t>
            </a:r>
            <a:r>
              <a:rPr lang="ru-RU" b="1" dirty="0"/>
              <a:t> .</a:t>
            </a:r>
          </a:p>
          <a:p>
            <a:pPr algn="just"/>
            <a:endParaRPr lang="ru-RU" b="1" dirty="0"/>
          </a:p>
          <a:p>
            <a:pPr algn="just"/>
            <a:r>
              <a:rPr lang="ru-RU" dirty="0"/>
              <a:t>После того, как код отлажен можете пытаться переходить на другие флаги для ускорения работы программы.</a:t>
            </a:r>
          </a:p>
          <a:p>
            <a:pPr algn="just"/>
            <a:endParaRPr lang="ru-RU" dirty="0"/>
          </a:p>
          <a:p>
            <a:pPr algn="just"/>
            <a:r>
              <a:rPr lang="ru-RU" dirty="0"/>
              <a:t>При переходе на другие флаги всегда помните про синхронизацию памяти!!!</a:t>
            </a:r>
          </a:p>
        </p:txBody>
      </p:sp>
    </p:spTree>
    <p:extLst>
      <p:ext uri="{BB962C8B-B14F-4D97-AF65-F5344CB8AC3E}">
        <p14:creationId xmlns:p14="http://schemas.microsoft.com/office/powerpoint/2010/main" val="17148303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8614-BE17-CCDB-396B-28CD34EB44A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DC1F1A-DBD4-5ED5-9A64-868BAA82C3E6}"/>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sp>
        <p:nvSpPr>
          <p:cNvPr id="3" name="Объект 2">
            <a:extLst>
              <a:ext uri="{FF2B5EF4-FFF2-40B4-BE49-F238E27FC236}">
                <a16:creationId xmlns:a16="http://schemas.microsoft.com/office/drawing/2014/main" id="{1FDF3FC3-5F48-432C-42C5-321F82549036}"/>
              </a:ext>
            </a:extLst>
          </p:cNvPr>
          <p:cNvSpPr>
            <a:spLocks noGrp="1"/>
          </p:cNvSpPr>
          <p:nvPr>
            <p:ph idx="1"/>
          </p:nvPr>
        </p:nvSpPr>
        <p:spPr/>
        <p:txBody>
          <a:bodyPr/>
          <a:lstStyle/>
          <a:p>
            <a:pPr algn="just"/>
            <a:r>
              <a:rPr lang="ru-RU" b="1" dirty="0" err="1"/>
              <a:t>acquire</a:t>
            </a:r>
            <a:r>
              <a:rPr lang="ru-RU" b="1" dirty="0"/>
              <a:t>/</a:t>
            </a:r>
            <a:r>
              <a:rPr lang="ru-RU" b="1" dirty="0" err="1"/>
              <a:t>release</a:t>
            </a:r>
            <a:r>
              <a:rPr lang="ru-RU" b="1" dirty="0"/>
              <a:t> </a:t>
            </a:r>
            <a:r>
              <a:rPr lang="ru-RU" dirty="0"/>
              <a:t>является более тонким способом синхронизировать данные между парой потоков. </a:t>
            </a:r>
          </a:p>
          <a:p>
            <a:pPr algn="just"/>
            <a:r>
              <a:rPr lang="ru-RU" dirty="0"/>
              <a:t>Два ключевых слова: </a:t>
            </a:r>
            <a:r>
              <a:rPr lang="ru-RU" dirty="0" err="1"/>
              <a:t>memory_order_acquire</a:t>
            </a:r>
            <a:r>
              <a:rPr lang="ru-RU" dirty="0"/>
              <a:t> и </a:t>
            </a:r>
            <a:r>
              <a:rPr lang="ru-RU" dirty="0" err="1"/>
              <a:t>memory_order_release</a:t>
            </a:r>
            <a:r>
              <a:rPr lang="ru-RU" dirty="0"/>
              <a:t> работают только в паре над одним атомарным объектом.</a:t>
            </a:r>
          </a:p>
        </p:txBody>
      </p:sp>
    </p:spTree>
    <p:extLst>
      <p:ext uri="{BB962C8B-B14F-4D97-AF65-F5344CB8AC3E}">
        <p14:creationId xmlns:p14="http://schemas.microsoft.com/office/powerpoint/2010/main" val="7257436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E4F0D-C4F6-1C8D-0225-941112997F2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D01A06-362F-0C5F-B54A-B115101C87CF}"/>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sp>
        <p:nvSpPr>
          <p:cNvPr id="3" name="Объект 2">
            <a:extLst>
              <a:ext uri="{FF2B5EF4-FFF2-40B4-BE49-F238E27FC236}">
                <a16:creationId xmlns:a16="http://schemas.microsoft.com/office/drawing/2014/main" id="{931CCC13-D540-BD71-5E6A-D00988636726}"/>
              </a:ext>
            </a:extLst>
          </p:cNvPr>
          <p:cNvSpPr>
            <a:spLocks noGrp="1"/>
          </p:cNvSpPr>
          <p:nvPr>
            <p:ph idx="1"/>
          </p:nvPr>
        </p:nvSpPr>
        <p:spPr/>
        <p:txBody>
          <a:bodyPr>
            <a:normAutofit lnSpcReduction="10000"/>
          </a:bodyPr>
          <a:lstStyle/>
          <a:p>
            <a:pPr algn="just"/>
            <a:r>
              <a:rPr lang="ru-RU" dirty="0"/>
              <a:t>Свойства </a:t>
            </a:r>
            <a:r>
              <a:rPr lang="ru-RU" b="1" dirty="0" err="1"/>
              <a:t>acquire</a:t>
            </a:r>
            <a:r>
              <a:rPr lang="ru-RU" b="1" dirty="0"/>
              <a:t>/</a:t>
            </a:r>
            <a:r>
              <a:rPr lang="ru-RU" b="1" dirty="0" err="1"/>
              <a:t>release</a:t>
            </a:r>
            <a:r>
              <a:rPr lang="ru-RU" b="1" dirty="0"/>
              <a:t>: </a:t>
            </a:r>
            <a:endParaRPr lang="ru-RU" dirty="0"/>
          </a:p>
          <a:p>
            <a:pPr marL="457200" indent="-457200" algn="just">
              <a:buFont typeface="Arial" panose="020B0604020202020204" pitchFamily="34" charset="0"/>
              <a:buChar char="•"/>
            </a:pPr>
            <a:r>
              <a:rPr lang="ru-RU" dirty="0"/>
              <a:t>модификация атомарной переменной с </a:t>
            </a:r>
            <a:r>
              <a:rPr lang="ru-RU" dirty="0" err="1"/>
              <a:t>release</a:t>
            </a:r>
            <a:r>
              <a:rPr lang="ru-RU" dirty="0"/>
              <a:t> будет видна </a:t>
            </a:r>
            <a:r>
              <a:rPr lang="ru-RU" dirty="0" err="1"/>
              <a:t>видна</a:t>
            </a:r>
            <a:r>
              <a:rPr lang="ru-RU" dirty="0"/>
              <a:t> в другом потоке, выполняющем чтение этой же атомарной переменной с </a:t>
            </a:r>
            <a:r>
              <a:rPr lang="ru-RU" dirty="0" err="1"/>
              <a:t>acquire</a:t>
            </a:r>
            <a:endParaRPr lang="ru-RU" dirty="0"/>
          </a:p>
          <a:p>
            <a:pPr marL="457200" indent="-457200" algn="just">
              <a:buFont typeface="Arial" panose="020B0604020202020204" pitchFamily="34" charset="0"/>
              <a:buChar char="•"/>
            </a:pPr>
            <a:r>
              <a:rPr lang="ru-RU" dirty="0"/>
              <a:t>все модификации памяти в потоке thread1, выполняющей запись атомарной переменной с </a:t>
            </a:r>
            <a:r>
              <a:rPr lang="ru-RU" dirty="0" err="1"/>
              <a:t>release</a:t>
            </a:r>
            <a:r>
              <a:rPr lang="ru-RU" dirty="0"/>
              <a:t>, будут видны после выполнения чтения той же переменной с </a:t>
            </a:r>
            <a:r>
              <a:rPr lang="ru-RU" dirty="0" err="1"/>
              <a:t>acquire</a:t>
            </a:r>
            <a:r>
              <a:rPr lang="ru-RU" dirty="0"/>
              <a:t> в потоке thread2</a:t>
            </a:r>
          </a:p>
          <a:p>
            <a:pPr marL="457200" indent="-457200" algn="just">
              <a:buFont typeface="Arial" panose="020B0604020202020204" pitchFamily="34" charset="0"/>
              <a:buChar char="•"/>
            </a:pPr>
            <a:r>
              <a:rPr lang="ru-RU" dirty="0"/>
              <a:t>процессор и компилятор не могут перенести операции записи в память раньше </a:t>
            </a:r>
            <a:r>
              <a:rPr lang="ru-RU" dirty="0" err="1"/>
              <a:t>release</a:t>
            </a:r>
            <a:r>
              <a:rPr lang="ru-RU" dirty="0"/>
              <a:t> операции в потоке thread1, и нельзя перемещать выше операции чтения из памяти позже </a:t>
            </a:r>
            <a:r>
              <a:rPr lang="ru-RU" dirty="0" err="1"/>
              <a:t>acquire</a:t>
            </a:r>
            <a:r>
              <a:rPr lang="ru-RU" dirty="0"/>
              <a:t> операции в потоке thread2</a:t>
            </a:r>
          </a:p>
        </p:txBody>
      </p:sp>
    </p:spTree>
    <p:extLst>
      <p:ext uri="{BB962C8B-B14F-4D97-AF65-F5344CB8AC3E}">
        <p14:creationId xmlns:p14="http://schemas.microsoft.com/office/powerpoint/2010/main" val="32098427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2792C-20A3-C9C8-1228-CAD96CD27CA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BCA17F-7781-5381-7216-61E606868BAE}"/>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pic>
        <p:nvPicPr>
          <p:cNvPr id="5" name="Объект 4">
            <a:extLst>
              <a:ext uri="{FF2B5EF4-FFF2-40B4-BE49-F238E27FC236}">
                <a16:creationId xmlns:a16="http://schemas.microsoft.com/office/drawing/2014/main" id="{61D45B4C-24F1-E527-14AA-DD319938F457}"/>
              </a:ext>
            </a:extLst>
          </p:cNvPr>
          <p:cNvPicPr>
            <a:picLocks noGrp="1" noChangeAspect="1"/>
          </p:cNvPicPr>
          <p:nvPr>
            <p:ph idx="1"/>
          </p:nvPr>
        </p:nvPicPr>
        <p:blipFill>
          <a:blip r:embed="rId2"/>
          <a:stretch>
            <a:fillRect/>
          </a:stretch>
        </p:blipFill>
        <p:spPr>
          <a:xfrm>
            <a:off x="1255057" y="1825625"/>
            <a:ext cx="9681886" cy="4895850"/>
          </a:xfrm>
        </p:spPr>
      </p:pic>
      <p:sp>
        <p:nvSpPr>
          <p:cNvPr id="7" name="TextBox 6">
            <a:extLst>
              <a:ext uri="{FF2B5EF4-FFF2-40B4-BE49-F238E27FC236}">
                <a16:creationId xmlns:a16="http://schemas.microsoft.com/office/drawing/2014/main" id="{CF15E1BB-23F4-F322-41DF-ED85A03C3A55}"/>
              </a:ext>
            </a:extLst>
          </p:cNvPr>
          <p:cNvSpPr txBox="1"/>
          <p:nvPr/>
        </p:nvSpPr>
        <p:spPr>
          <a:xfrm>
            <a:off x="5075655" y="5967132"/>
            <a:ext cx="6093994" cy="646331"/>
          </a:xfrm>
          <a:prstGeom prst="rect">
            <a:avLst/>
          </a:prstGeom>
          <a:noFill/>
        </p:spPr>
        <p:txBody>
          <a:bodyPr wrap="square">
            <a:spAutoFit/>
          </a:bodyPr>
          <a:lstStyle/>
          <a:p>
            <a:r>
              <a:rPr lang="ru-RU" dirty="0">
                <a:solidFill>
                  <a:srgbClr val="FF0000"/>
                </a:solidFill>
                <a:latin typeface="Arial" panose="020B0604020202020204" pitchFamily="34" charset="0"/>
                <a:cs typeface="Arial" panose="020B0604020202020204" pitchFamily="34" charset="0"/>
              </a:rPr>
              <a:t>Значение </a:t>
            </a:r>
            <a:r>
              <a:rPr lang="en-US" dirty="0">
                <a:solidFill>
                  <a:srgbClr val="FF0000"/>
                </a:solidFill>
                <a:latin typeface="Arial" panose="020B0604020202020204" pitchFamily="34" charset="0"/>
                <a:cs typeface="Arial" panose="020B0604020202020204" pitchFamily="34" charset="0"/>
              </a:rPr>
              <a:t>z </a:t>
            </a:r>
            <a:r>
              <a:rPr lang="ru-RU" dirty="0">
                <a:solidFill>
                  <a:srgbClr val="FF0000"/>
                </a:solidFill>
                <a:latin typeface="Arial" panose="020B0604020202020204" pitchFamily="34" charset="0"/>
                <a:cs typeface="Arial" panose="020B0604020202020204" pitchFamily="34" charset="0"/>
              </a:rPr>
              <a:t>может быть </a:t>
            </a:r>
            <a:r>
              <a:rPr lang="en-HK" dirty="0">
                <a:solidFill>
                  <a:srgbClr val="FF0000"/>
                </a:solidFill>
                <a:latin typeface="Arial" panose="020B0604020202020204" pitchFamily="34" charset="0"/>
                <a:cs typeface="Arial" panose="020B0604020202020204" pitchFamily="34" charset="0"/>
              </a:rPr>
              <a:t>0 </a:t>
            </a:r>
            <a:r>
              <a:rPr lang="ru-RU" dirty="0">
                <a:solidFill>
                  <a:srgbClr val="FF0000"/>
                </a:solidFill>
                <a:latin typeface="Arial" panose="020B0604020202020204" pitchFamily="34" charset="0"/>
                <a:cs typeface="Arial" panose="020B0604020202020204" pitchFamily="34" charset="0"/>
              </a:rPr>
              <a:t>или 1 или 2</a:t>
            </a:r>
          </a:p>
          <a:p>
            <a:r>
              <a:rPr lang="ru-RU" dirty="0">
                <a:solidFill>
                  <a:srgbClr val="FF0000"/>
                </a:solidFill>
                <a:latin typeface="Arial" panose="020B0604020202020204" pitchFamily="34" charset="0"/>
                <a:cs typeface="Arial" panose="020B0604020202020204" pitchFamily="34" charset="0"/>
              </a:rPr>
              <a:t>Потоки могут увидеть изменение в разном порядке</a:t>
            </a:r>
            <a:r>
              <a:rPr lang="en-US" dirty="0">
                <a:solidFill>
                  <a:srgbClr val="FF0000"/>
                </a:solidFill>
                <a:latin typeface="Arial" panose="020B0604020202020204" pitchFamily="34" charset="0"/>
                <a:cs typeface="Arial" panose="020B0604020202020204" pitchFamily="34" charset="0"/>
              </a:rPr>
              <a:t> </a:t>
            </a:r>
            <a:endParaRPr lang="ru-RU"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05510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C86AB-18B5-75F5-C2D2-3BE60C17165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449AAA-834F-6A92-0073-D54FDFF5D070}"/>
              </a:ext>
            </a:extLst>
          </p:cNvPr>
          <p:cNvSpPr>
            <a:spLocks noGrp="1"/>
          </p:cNvSpPr>
          <p:nvPr>
            <p:ph type="title"/>
          </p:nvPr>
        </p:nvSpPr>
        <p:spPr/>
        <p:txBody>
          <a:bodyPr>
            <a:noAutofit/>
          </a:bodyPr>
          <a:lstStyle/>
          <a:p>
            <a:r>
              <a:rPr lang="ru-RU" sz="3200" dirty="0"/>
              <a:t>Атомарные операции</a:t>
            </a:r>
            <a:br>
              <a:rPr lang="ru-RU" sz="3200" dirty="0"/>
            </a:br>
            <a:r>
              <a:rPr lang="ru-RU" sz="3200" dirty="0"/>
              <a:t>Семантика </a:t>
            </a:r>
            <a:r>
              <a:rPr lang="ru-RU" sz="3200" dirty="0" err="1"/>
              <a:t>acquire</a:t>
            </a:r>
            <a:r>
              <a:rPr lang="ru-RU" sz="3200" dirty="0"/>
              <a:t>/</a:t>
            </a:r>
            <a:r>
              <a:rPr lang="ru-RU" sz="3200" dirty="0" err="1"/>
              <a:t>release</a:t>
            </a:r>
            <a:r>
              <a:rPr lang="ru-RU" sz="3200" dirty="0"/>
              <a:t> классов стандартной библиотеки</a:t>
            </a:r>
          </a:p>
        </p:txBody>
      </p:sp>
      <p:graphicFrame>
        <p:nvGraphicFramePr>
          <p:cNvPr id="5" name="Объект 4">
            <a:extLst>
              <a:ext uri="{FF2B5EF4-FFF2-40B4-BE49-F238E27FC236}">
                <a16:creationId xmlns:a16="http://schemas.microsoft.com/office/drawing/2014/main" id="{3B6F380A-931D-1C24-0C42-C966AF21E444}"/>
              </a:ext>
            </a:extLst>
          </p:cNvPr>
          <p:cNvGraphicFramePr>
            <a:graphicFrameLocks noGrp="1"/>
          </p:cNvGraphicFramePr>
          <p:nvPr>
            <p:ph idx="1"/>
            <p:extLst>
              <p:ext uri="{D42A27DB-BD31-4B8C-83A1-F6EECF244321}">
                <p14:modId xmlns:p14="http://schemas.microsoft.com/office/powerpoint/2010/main" val="4206563224"/>
              </p:ext>
            </p:extLst>
          </p:nvPr>
        </p:nvGraphicFramePr>
        <p:xfrm>
          <a:off x="838200" y="1825625"/>
          <a:ext cx="10515600" cy="402336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2127910893"/>
                    </a:ext>
                  </a:extLst>
                </a:gridCol>
                <a:gridCol w="5257800">
                  <a:extLst>
                    <a:ext uri="{9D8B030D-6E8A-4147-A177-3AD203B41FA5}">
                      <a16:colId xmlns:a16="http://schemas.microsoft.com/office/drawing/2014/main" val="3306313462"/>
                    </a:ext>
                  </a:extLst>
                </a:gridCol>
              </a:tblGrid>
              <a:tr h="370840">
                <a:tc>
                  <a:txBody>
                    <a:bodyPr/>
                    <a:lstStyle/>
                    <a:p>
                      <a:pPr fontAlgn="t"/>
                      <a:r>
                        <a:rPr lang="en-US" dirty="0">
                          <a:effectLst/>
                        </a:rPr>
                        <a:t>std::thread::(constructor) vs </a:t>
                      </a:r>
                      <a:r>
                        <a:rPr lang="en-US" dirty="0" err="1">
                          <a:effectLst/>
                        </a:rPr>
                        <a:t>функция</a:t>
                      </a:r>
                      <a:r>
                        <a:rPr lang="en-US" dirty="0">
                          <a:effectLst/>
                        </a:rPr>
                        <a:t> </a:t>
                      </a:r>
                      <a:r>
                        <a:rPr lang="en-US" dirty="0" err="1">
                          <a:effectLst/>
                        </a:rPr>
                        <a:t>потока</a:t>
                      </a:r>
                      <a:endParaRPr lang="en-US" dirty="0">
                        <a:effectLst/>
                      </a:endParaRP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ru-RU" dirty="0">
                          <a:effectLst/>
                        </a:rPr>
                        <a:t>Вызов конструктора объекта </a:t>
                      </a:r>
                      <a:r>
                        <a:rPr lang="ru-RU" dirty="0" err="1">
                          <a:effectLst/>
                        </a:rPr>
                        <a:t>std</a:t>
                      </a:r>
                      <a:r>
                        <a:rPr lang="ru-RU" dirty="0">
                          <a:effectLst/>
                        </a:rPr>
                        <a:t>::</a:t>
                      </a:r>
                      <a:r>
                        <a:rPr lang="ru-RU" dirty="0" err="1">
                          <a:effectLst/>
                        </a:rPr>
                        <a:t>thread</a:t>
                      </a:r>
                      <a:r>
                        <a:rPr lang="ru-RU" dirty="0">
                          <a:effectLst/>
                        </a:rPr>
                        <a:t> (</a:t>
                      </a:r>
                      <a:r>
                        <a:rPr lang="ru-RU" dirty="0" err="1">
                          <a:effectLst/>
                        </a:rPr>
                        <a:t>release</a:t>
                      </a:r>
                      <a:r>
                        <a:rPr lang="ru-RU" dirty="0">
                          <a:effectLst/>
                        </a:rPr>
                        <a:t>) синхронизирован со стартом работы функции нового потока (</a:t>
                      </a:r>
                      <a:r>
                        <a:rPr lang="ru-RU" dirty="0" err="1">
                          <a:effectLst/>
                        </a:rPr>
                        <a:t>acquire</a:t>
                      </a:r>
                      <a:r>
                        <a:rPr lang="ru-RU" dirty="0">
                          <a:effectLst/>
                        </a:rPr>
                        <a:t>). Таким образом функция потока будет видеть все изменения памяти, которые произошли до вызова конструктора в исходном потоке.</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5852609"/>
                  </a:ext>
                </a:extLst>
              </a:tr>
              <a:tr h="370840">
                <a:tc>
                  <a:txBody>
                    <a:bodyPr/>
                    <a:lstStyle/>
                    <a:p>
                      <a:pPr fontAlgn="t"/>
                      <a:r>
                        <a:rPr lang="ru-RU">
                          <a:effectLst/>
                        </a:rPr>
                        <a:t>std::thread::join vs владеющий поток</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ru-RU">
                          <a:effectLst/>
                        </a:rPr>
                        <a:t>После успешного вызова join поток, в котором был вызван join, "увидит" все изменения памяти, которые были выполнены завершившимся потоком.</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5642083"/>
                  </a:ext>
                </a:extLst>
              </a:tr>
              <a:tr h="370840">
                <a:tc>
                  <a:txBody>
                    <a:bodyPr/>
                    <a:lstStyle/>
                    <a:p>
                      <a:pPr fontAlgn="t"/>
                      <a:r>
                        <a:rPr lang="en-US">
                          <a:effectLst/>
                        </a:rPr>
                        <a:t>std::mutex::lock vs std::mutex::unlock</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ru-RU">
                          <a:effectLst/>
                        </a:rPr>
                        <a:t>успешный lock синхронизирует память, которая была изменена до вызова предыдущего unlock.</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9884"/>
                  </a:ext>
                </a:extLst>
              </a:tr>
              <a:tr h="370840">
                <a:tc>
                  <a:txBody>
                    <a:bodyPr/>
                    <a:lstStyle/>
                    <a:p>
                      <a:pPr fontAlgn="t"/>
                      <a:r>
                        <a:rPr lang="en-US">
                          <a:effectLst/>
                        </a:rPr>
                        <a:t>std::promise::set_value</a:t>
                      </a:r>
                      <a:r>
                        <a:rPr lang="en-US" i="1">
                          <a:effectLst/>
                        </a:rPr>
                        <a:t> vs </a:t>
                      </a:r>
                      <a:r>
                        <a:rPr lang="en-US">
                          <a:effectLst/>
                        </a:rPr>
                        <a:t>std::future::wait</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ru-RU" dirty="0" err="1">
                          <a:effectLst/>
                        </a:rPr>
                        <a:t>set_value</a:t>
                      </a:r>
                      <a:r>
                        <a:rPr lang="ru-RU" dirty="0">
                          <a:effectLst/>
                        </a:rPr>
                        <a:t> синхронизирует память с успешным </a:t>
                      </a:r>
                      <a:r>
                        <a:rPr lang="ru-RU" dirty="0" err="1">
                          <a:effectLst/>
                        </a:rPr>
                        <a:t>wait</a:t>
                      </a:r>
                      <a:r>
                        <a:rPr lang="ru-RU" dirty="0">
                          <a:effectLst/>
                        </a:rPr>
                        <a:t>.</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6737791"/>
                  </a:ext>
                </a:extLst>
              </a:tr>
            </a:tbl>
          </a:graphicData>
        </a:graphic>
      </p:graphicFrame>
    </p:spTree>
    <p:extLst>
      <p:ext uri="{BB962C8B-B14F-4D97-AF65-F5344CB8AC3E}">
        <p14:creationId xmlns:p14="http://schemas.microsoft.com/office/powerpoint/2010/main" val="27120828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D0E1B-8814-2DC2-7567-955B11019DE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0D30A8-7569-FDE6-452E-C972642BDB27}"/>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9DBBBD1E-C924-29FC-6AFC-9C07062CE745}"/>
              </a:ext>
            </a:extLst>
          </p:cNvPr>
          <p:cNvSpPr>
            <a:spLocks noGrp="1"/>
          </p:cNvSpPr>
          <p:nvPr>
            <p:ph idx="1"/>
          </p:nvPr>
        </p:nvSpPr>
        <p:spPr/>
        <p:txBody>
          <a:bodyPr/>
          <a:lstStyle/>
          <a:p>
            <a:pPr algn="just"/>
            <a:r>
              <a:rPr lang="ru-RU" b="0" i="0" dirty="0">
                <a:solidFill>
                  <a:srgbClr val="333333"/>
                </a:solidFill>
                <a:effectLst/>
                <a:latin typeface="Arial" panose="020B0604020202020204" pitchFamily="34" charset="0"/>
              </a:rPr>
              <a:t>Мьютексы </a:t>
            </a:r>
            <a:r>
              <a:rPr lang="ru-RU" b="1" i="1" dirty="0">
                <a:solidFill>
                  <a:srgbClr val="333333"/>
                </a:solidFill>
                <a:effectLst/>
                <a:latin typeface="Arial" panose="020B0604020202020204" pitchFamily="34" charset="0"/>
              </a:rPr>
              <a:t>могут быть</a:t>
            </a:r>
            <a:r>
              <a:rPr lang="ru-RU" b="0" i="0" dirty="0">
                <a:solidFill>
                  <a:srgbClr val="333333"/>
                </a:solidFill>
                <a:effectLst/>
                <a:latin typeface="Arial" panose="020B0604020202020204" pitchFamily="34" charset="0"/>
              </a:rPr>
              <a:t> медленнее операций над атомарными объектами.</a:t>
            </a:r>
          </a:p>
          <a:p>
            <a:pPr algn="just"/>
            <a:r>
              <a:rPr lang="ru-RU" dirty="0">
                <a:solidFill>
                  <a:srgbClr val="333333"/>
                </a:solidFill>
              </a:rPr>
              <a:t>Атомарные объекты стоит использовать только тогда, когда вы видите от них явную выгоду.</a:t>
            </a:r>
          </a:p>
          <a:p>
            <a:pPr algn="just"/>
            <a:endParaRPr lang="ru-RU" dirty="0">
              <a:solidFill>
                <a:srgbClr val="333333"/>
              </a:solidFill>
            </a:endParaRPr>
          </a:p>
          <a:p>
            <a:pPr algn="just"/>
            <a:r>
              <a:rPr lang="ru-RU" dirty="0"/>
              <a:t>Атомарный доступ может понадобится к структуре любой сложности и размера, но настоящей атомарной операцией над данными можно считать лишь ту, которую процессор, определенной архитектуры, может выполнить одной командой. Вы прекрасно понимаете, что процессор не имеет таких команд для структур данных любой сложности.</a:t>
            </a:r>
          </a:p>
        </p:txBody>
      </p:sp>
    </p:spTree>
    <p:extLst>
      <p:ext uri="{BB962C8B-B14F-4D97-AF65-F5344CB8AC3E}">
        <p14:creationId xmlns:p14="http://schemas.microsoft.com/office/powerpoint/2010/main" val="38521166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A076493-71E7-E3DD-294A-005A0B57A95C}"/>
              </a:ext>
            </a:extLst>
          </p:cNvPr>
          <p:cNvSpPr>
            <a:spLocks noGrp="1"/>
          </p:cNvSpPr>
          <p:nvPr>
            <p:ph type="title"/>
          </p:nvPr>
        </p:nvSpPr>
        <p:spPr/>
        <p:txBody>
          <a:bodyPr>
            <a:noAutofit/>
          </a:bodyPr>
          <a:lstStyle/>
          <a:p>
            <a:r>
              <a:rPr lang="ru-RU" sz="3200" dirty="0"/>
              <a:t>Атомарные операции</a:t>
            </a:r>
            <a:br>
              <a:rPr lang="ru-RU" sz="3200" dirty="0"/>
            </a:br>
            <a:r>
              <a:rPr lang="ru-RU" sz="3200" dirty="0"/>
              <a:t>Мьютексы</a:t>
            </a:r>
            <a:br>
              <a:rPr lang="ru-RU" sz="3200" dirty="0"/>
            </a:br>
            <a:r>
              <a:rPr lang="ru-RU" sz="3200" dirty="0"/>
              <a:t>Производительность</a:t>
            </a:r>
            <a:endParaRPr lang="ru-RU" sz="3600" dirty="0"/>
          </a:p>
        </p:txBody>
      </p:sp>
      <p:sp>
        <p:nvSpPr>
          <p:cNvPr id="3" name="Объект 2">
            <a:extLst>
              <a:ext uri="{FF2B5EF4-FFF2-40B4-BE49-F238E27FC236}">
                <a16:creationId xmlns:a16="http://schemas.microsoft.com/office/drawing/2014/main" id="{CD292E06-BB85-3CDC-80A2-D1B14F92D16B}"/>
              </a:ext>
            </a:extLst>
          </p:cNvPr>
          <p:cNvSpPr>
            <a:spLocks noGrp="1"/>
          </p:cNvSpPr>
          <p:nvPr>
            <p:ph idx="1"/>
          </p:nvPr>
        </p:nvSpPr>
        <p:spPr/>
        <p:txBody>
          <a:bodyPr>
            <a:normAutofit lnSpcReduction="10000"/>
          </a:bodyPr>
          <a:lstStyle/>
          <a:p>
            <a:pPr marL="457200" indent="-457200" algn="just">
              <a:buFont typeface="Arial" panose="020B0604020202020204" pitchFamily="34" charset="0"/>
              <a:buChar char="•"/>
            </a:pPr>
            <a:r>
              <a:rPr lang="ru-RU" sz="2400" dirty="0"/>
              <a:t>Реализации компилятора. Зависит от того, как реализованы мьютекс и </a:t>
            </a:r>
            <a:r>
              <a:rPr lang="ru-RU" sz="2400" dirty="0" err="1"/>
              <a:t>атомики</a:t>
            </a:r>
            <a:r>
              <a:rPr lang="ru-RU" sz="2400" dirty="0"/>
              <a:t> в конкретном компиляторе. В современных компиляторах мьютексы, прежде чем перейти в режим ядра и усыпить тред используют активное ожидание (</a:t>
            </a:r>
            <a:r>
              <a:rPr lang="ru-RU" sz="2400" dirty="0" err="1"/>
              <a:t>lock-free</a:t>
            </a:r>
            <a:r>
              <a:rPr lang="ru-RU" sz="2400" dirty="0"/>
              <a:t>) с помощью </a:t>
            </a:r>
            <a:r>
              <a:rPr lang="ru-RU" sz="2400" dirty="0" err="1"/>
              <a:t>атомика</a:t>
            </a:r>
            <a:r>
              <a:rPr lang="ru-RU" sz="2400" dirty="0"/>
              <a:t>.</a:t>
            </a:r>
          </a:p>
          <a:p>
            <a:pPr marL="457200" indent="-457200" algn="just">
              <a:buFont typeface="Arial" panose="020B0604020202020204" pitchFamily="34" charset="0"/>
              <a:buChar char="•"/>
            </a:pPr>
            <a:r>
              <a:rPr lang="ru-RU" sz="2400" dirty="0"/>
              <a:t>Используются примитивы синхронизации, предоставляемые ОС.</a:t>
            </a:r>
          </a:p>
          <a:p>
            <a:pPr marL="457200" indent="-457200" algn="just">
              <a:buFont typeface="Arial" panose="020B0604020202020204" pitchFamily="34" charset="0"/>
              <a:buChar char="•"/>
            </a:pPr>
            <a:r>
              <a:rPr lang="ru-RU" sz="2400" dirty="0"/>
              <a:t>Архитектуры процессора. Каждая архитектура поддерживает свой набор команд.</a:t>
            </a:r>
          </a:p>
          <a:p>
            <a:pPr marL="457200" indent="-457200" algn="just">
              <a:buFont typeface="Arial" panose="020B0604020202020204" pitchFamily="34" charset="0"/>
              <a:buChar char="•"/>
            </a:pPr>
            <a:r>
              <a:rPr lang="ru-RU" sz="2400" dirty="0"/>
              <a:t>Количества CPU и ядер. C ростом количества процессорных единиц, как правило, производительность от использования </a:t>
            </a:r>
            <a:r>
              <a:rPr lang="ru-RU" sz="2400" dirty="0" err="1"/>
              <a:t>атомиков</a:t>
            </a:r>
            <a:r>
              <a:rPr lang="ru-RU" sz="2400" dirty="0"/>
              <a:t> по сравнению с мьютексами увеличивается.</a:t>
            </a:r>
          </a:p>
          <a:p>
            <a:pPr marL="457200" indent="-457200" algn="just">
              <a:buFont typeface="Arial" panose="020B0604020202020204" pitchFamily="34" charset="0"/>
              <a:buChar char="•"/>
            </a:pPr>
            <a:r>
              <a:rPr lang="ru-RU" sz="2400" b="1" dirty="0"/>
              <a:t>Алгоритма программы</a:t>
            </a:r>
            <a:r>
              <a:rPr lang="ru-RU" sz="2400" dirty="0"/>
              <a:t>. Прежде чем выбирать между различными механизмами защиты от </a:t>
            </a:r>
            <a:r>
              <a:rPr lang="ru-RU" sz="2400" dirty="0" err="1"/>
              <a:t>race</a:t>
            </a:r>
            <a:r>
              <a:rPr lang="ru-RU" sz="2400" dirty="0"/>
              <a:t> </a:t>
            </a:r>
            <a:r>
              <a:rPr lang="ru-RU" sz="2400" dirty="0" err="1"/>
              <a:t>condition</a:t>
            </a:r>
            <a:r>
              <a:rPr lang="ru-RU" sz="2400" dirty="0"/>
              <a:t>, стоит подумать о том, можно ли реализовать алгоритм программы таким образом, чтобы гонок не было в принципе.</a:t>
            </a:r>
          </a:p>
        </p:txBody>
      </p:sp>
    </p:spTree>
    <p:extLst>
      <p:ext uri="{BB962C8B-B14F-4D97-AF65-F5344CB8AC3E}">
        <p14:creationId xmlns:p14="http://schemas.microsoft.com/office/powerpoint/2010/main" val="15656871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3964F4-F8F3-C392-93B8-84952022583D}"/>
              </a:ext>
            </a:extLst>
          </p:cNvPr>
          <p:cNvSpPr>
            <a:spLocks noGrp="1"/>
          </p:cNvSpPr>
          <p:nvPr>
            <p:ph type="title"/>
          </p:nvPr>
        </p:nvSpPr>
        <p:spPr/>
        <p:txBody>
          <a:bodyPr/>
          <a:lstStyle/>
          <a:p>
            <a:r>
              <a:rPr lang="ru-RU" dirty="0"/>
              <a:t>О чём почитать самостоятельно?</a:t>
            </a:r>
          </a:p>
        </p:txBody>
      </p:sp>
      <p:sp>
        <p:nvSpPr>
          <p:cNvPr id="3" name="Объект 2">
            <a:extLst>
              <a:ext uri="{FF2B5EF4-FFF2-40B4-BE49-F238E27FC236}">
                <a16:creationId xmlns:a16="http://schemas.microsoft.com/office/drawing/2014/main" id="{895B276A-33AD-ABE2-026E-51CF8F11C34C}"/>
              </a:ext>
            </a:extLst>
          </p:cNvPr>
          <p:cNvSpPr>
            <a:spLocks noGrp="1"/>
          </p:cNvSpPr>
          <p:nvPr>
            <p:ph idx="1"/>
          </p:nvPr>
        </p:nvSpPr>
        <p:spPr/>
        <p:txBody>
          <a:bodyPr/>
          <a:lstStyle/>
          <a:p>
            <a:pPr marL="457200" indent="-457200">
              <a:buFont typeface="Arial" panose="020B0604020202020204" pitchFamily="34" charset="0"/>
              <a:buChar char="•"/>
            </a:pPr>
            <a:r>
              <a:rPr lang="en-US" dirty="0"/>
              <a:t>Concurrency Collection – </a:t>
            </a:r>
            <a:r>
              <a:rPr lang="ru-RU" dirty="0" err="1"/>
              <a:t>потокобезопасные</a:t>
            </a:r>
            <a:r>
              <a:rPr lang="ru-RU" dirty="0"/>
              <a:t> контейнеры</a:t>
            </a:r>
          </a:p>
          <a:p>
            <a:pPr marL="457200" indent="-457200">
              <a:buFont typeface="Arial" panose="020B0604020202020204" pitchFamily="34" charset="0"/>
              <a:buChar char="•"/>
            </a:pPr>
            <a:r>
              <a:rPr lang="en-US" dirty="0"/>
              <a:t>Parallel </a:t>
            </a:r>
            <a:r>
              <a:rPr lang="en-US" dirty="0" err="1"/>
              <a:t>Patern</a:t>
            </a:r>
            <a:r>
              <a:rPr lang="en-US" dirty="0"/>
              <a:t> Library</a:t>
            </a:r>
            <a:endParaRPr lang="ru-RU" dirty="0"/>
          </a:p>
          <a:p>
            <a:pPr marL="457200" indent="-457200">
              <a:buFont typeface="Arial" panose="020B0604020202020204" pitchFamily="34" charset="0"/>
              <a:buChar char="•"/>
            </a:pPr>
            <a:r>
              <a:rPr lang="en-US" dirty="0"/>
              <a:t>Intel TBB</a:t>
            </a:r>
          </a:p>
          <a:p>
            <a:pPr marL="457200" indent="-457200">
              <a:buFont typeface="Arial" panose="020B0604020202020204" pitchFamily="34" charset="0"/>
              <a:buChar char="•"/>
            </a:pPr>
            <a:r>
              <a:rPr lang="en-US" dirty="0"/>
              <a:t>C++ 20</a:t>
            </a:r>
            <a:r>
              <a:rPr lang="en-US"/>
              <a:t>: Coroutines</a:t>
            </a:r>
            <a:endParaRPr lang="ru-RU" dirty="0"/>
          </a:p>
        </p:txBody>
      </p:sp>
    </p:spTree>
    <p:extLst>
      <p:ext uri="{BB962C8B-B14F-4D97-AF65-F5344CB8AC3E}">
        <p14:creationId xmlns:p14="http://schemas.microsoft.com/office/powerpoint/2010/main" val="311235360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9101</TotalTime>
  <Words>5118</Words>
  <Application>Microsoft Office PowerPoint</Application>
  <PresentationFormat>Широкоэкранный</PresentationFormat>
  <Paragraphs>437</Paragraphs>
  <Slides>80</Slides>
  <Notes>16</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80</vt:i4>
      </vt:variant>
    </vt:vector>
  </HeadingPairs>
  <TitlesOfParts>
    <vt:vector size="88" baseType="lpstr">
      <vt:lpstr>-apple-system</vt:lpstr>
      <vt:lpstr>Arial</vt:lpstr>
      <vt:lpstr>Calibri</vt:lpstr>
      <vt:lpstr>Consolas</vt:lpstr>
      <vt:lpstr>Fira Sans</vt:lpstr>
      <vt:lpstr>Segoe UI</vt:lpstr>
      <vt:lpstr>Wingdings</vt:lpstr>
      <vt:lpstr>Тема Office</vt:lpstr>
      <vt:lpstr>Технологии программирования</vt:lpstr>
      <vt:lpstr>Конвейер выполнения команд</vt:lpstr>
      <vt:lpstr>Hyper-Threading</vt:lpstr>
      <vt:lpstr>Терминология</vt:lpstr>
      <vt:lpstr>Многозадачность и многопоточность</vt:lpstr>
      <vt:lpstr>Процесс</vt:lpstr>
      <vt:lpstr>Потоки</vt:lpstr>
      <vt:lpstr>Потоки</vt:lpstr>
      <vt:lpstr>Состояния потоков</vt:lpstr>
      <vt:lpstr>Состояния потоков</vt:lpstr>
      <vt:lpstr>Приоритеты выполнения потоков</vt:lpstr>
      <vt:lpstr>Когда использовать потоки?</vt:lpstr>
      <vt:lpstr>std::thread – средства стандартной библиотеки C++</vt:lpstr>
      <vt:lpstr>std::thread – Примеры </vt:lpstr>
      <vt:lpstr>std::thread – Примеры </vt:lpstr>
      <vt:lpstr>std::thread – Примеры </vt:lpstr>
      <vt:lpstr>std::thread – join()</vt:lpstr>
      <vt:lpstr>std::thread – detach()</vt:lpstr>
      <vt:lpstr>std::thread – Передача аргументов</vt:lpstr>
      <vt:lpstr>std::thread – Передача аргументов</vt:lpstr>
      <vt:lpstr>std::thread – Передача аргументов</vt:lpstr>
      <vt:lpstr>std::thread – Передача аргументов</vt:lpstr>
      <vt:lpstr>std::thread – Передача аргументов</vt:lpstr>
      <vt:lpstr>std::thread – Вызов методов объектов</vt:lpstr>
      <vt:lpstr>std::thread – передача права владения объектом</vt:lpstr>
      <vt:lpstr>std::thread – полезные функции</vt:lpstr>
      <vt:lpstr>std::thread – полезные функции</vt:lpstr>
      <vt:lpstr>Виды параллелизма</vt:lpstr>
      <vt:lpstr>Работа с общими данными</vt:lpstr>
      <vt:lpstr>std::mutex</vt:lpstr>
      <vt:lpstr>Пример</vt:lpstr>
      <vt:lpstr>Блокировки</vt:lpstr>
      <vt:lpstr>Блокировки</vt:lpstr>
      <vt:lpstr>Блокировки</vt:lpstr>
      <vt:lpstr>Блокировки</vt:lpstr>
      <vt:lpstr>Блокировки</vt:lpstr>
      <vt:lpstr>Классические потоки</vt:lpstr>
      <vt:lpstr>Классические потоки</vt:lpstr>
      <vt:lpstr>Классические потоки</vt:lpstr>
      <vt:lpstr>Типичный пример возврата значения</vt:lpstr>
      <vt:lpstr>С++ async/await</vt:lpstr>
      <vt:lpstr>С++ async/await</vt:lpstr>
      <vt:lpstr>C++ async/await</vt:lpstr>
      <vt:lpstr>С++ async/await</vt:lpstr>
      <vt:lpstr>С++ пример возвращаемого значения из async/await</vt:lpstr>
      <vt:lpstr>C++ std::async()</vt:lpstr>
      <vt:lpstr>C++ std::async()</vt:lpstr>
      <vt:lpstr>С++ std::async()</vt:lpstr>
      <vt:lpstr>Примеры Последовательный вывод</vt:lpstr>
      <vt:lpstr>Пример Последовательный вывод</vt:lpstr>
      <vt:lpstr>Пример Параллельный вывод</vt:lpstr>
      <vt:lpstr>Пример Параллельный обход массива</vt:lpstr>
      <vt:lpstr>Пример Агрегирование результатов</vt:lpstr>
      <vt:lpstr>Пример Агрегирование результатов</vt:lpstr>
      <vt:lpstr>Пример Параллельное выполнение</vt:lpstr>
      <vt:lpstr>Атомарные операции</vt:lpstr>
      <vt:lpstr>Атомарные операции</vt:lpstr>
      <vt:lpstr>Атомарные операции</vt:lpstr>
      <vt:lpstr>Атомарные операции</vt:lpstr>
      <vt:lpstr>Атомарные операции</vt:lpstr>
      <vt:lpstr>Атомарные операции</vt:lpstr>
      <vt:lpstr>Атомарные операции std::atomic&lt;integral&gt; </vt:lpstr>
      <vt:lpstr>Атомарные операции Пример</vt:lpstr>
      <vt:lpstr>Атомарные операции Продолжение</vt:lpstr>
      <vt:lpstr>Атомарные операции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Семантика acquire/release классов стандартной библиотеки</vt:lpstr>
      <vt:lpstr>Атомарные операции</vt:lpstr>
      <vt:lpstr>Атомарные операции Мьютексы Производительность</vt:lpstr>
      <vt:lpstr>О чём почитать самостоятельно?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Технологии программирования</dc:title>
  <dc:creator>Иван Петров</dc:creator>
  <cp:lastModifiedBy>Иван Петров</cp:lastModifiedBy>
  <cp:revision>127</cp:revision>
  <dcterms:created xsi:type="dcterms:W3CDTF">2024-09-02T04:38:38Z</dcterms:created>
  <dcterms:modified xsi:type="dcterms:W3CDTF">2024-11-28T09:45:18Z</dcterms:modified>
</cp:coreProperties>
</file>