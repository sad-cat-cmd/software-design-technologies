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69" r:id="rId4"/>
    <p:sldId id="268" r:id="rId5"/>
    <p:sldId id="267" r:id="rId6"/>
    <p:sldId id="266" r:id="rId7"/>
    <p:sldId id="265" r:id="rId8"/>
    <p:sldId id="264" r:id="rId9"/>
    <p:sldId id="287" r:id="rId10"/>
    <p:sldId id="263" r:id="rId11"/>
    <p:sldId id="288" r:id="rId12"/>
    <p:sldId id="262" r:id="rId13"/>
    <p:sldId id="290" r:id="rId14"/>
    <p:sldId id="289" r:id="rId15"/>
    <p:sldId id="261" r:id="rId16"/>
    <p:sldId id="260" r:id="rId17"/>
    <p:sldId id="259" r:id="rId18"/>
    <p:sldId id="258" r:id="rId19"/>
    <p:sldId id="275" r:id="rId20"/>
    <p:sldId id="274" r:id="rId21"/>
    <p:sldId id="273" r:id="rId22"/>
    <p:sldId id="272" r:id="rId23"/>
    <p:sldId id="271" r:id="rId24"/>
    <p:sldId id="270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0025" autoAdjust="0"/>
  </p:normalViewPr>
  <p:slideViewPr>
    <p:cSldViewPr snapToGrid="0">
      <p:cViewPr varScale="1">
        <p:scale>
          <a:sx n="69" d="100"/>
          <a:sy n="69" d="100"/>
        </p:scale>
        <p:origin x="123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8D7595-FCF4-4099-BD8C-13459FCC7DA5}" type="datetimeFigureOut">
              <a:rPr lang="ru-RU" smtClean="0"/>
              <a:t>13.10.2024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582645-4708-44BD-8BD9-71C144DEFD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65536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582645-4708-44BD-8BD9-71C144DEFD9D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97283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3E67B7-8B86-328F-B7EC-B1BF2A576E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59CDB87-CA93-4BE7-35CF-A0C68EDF3F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10E2DA8-8EAF-33A0-3065-C716BF3E1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9C0F7-D75B-4C5D-8BA2-4B6485705959}" type="datetimeFigureOut">
              <a:rPr lang="ru-RU" smtClean="0"/>
              <a:t>13.10.2024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101D051-4978-EF7F-8C8A-3F244BC2E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1B9766E-6D6E-8A4C-658A-B4685CE05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7430C-6405-4F43-BEE8-A9EDAAE57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911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902B64-7A03-AC61-9E5C-F4F4D956C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64FDECA-25F9-183C-D3B7-DD5F7B1108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9585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47809E4-C3AA-7FFF-66D9-82958219E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9C0F7-D75B-4C5D-8BA2-4B6485705959}" type="datetimeFigureOut">
              <a:rPr lang="ru-RU" smtClean="0"/>
              <a:t>13.10.2024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595A159-D873-5BF8-F8CB-3C05B127A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BFD8BDA-8665-8883-9E4D-14AD25E22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7430C-6405-4F43-BEE8-A9EDAAE57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9229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431642-8603-DDAE-C5AF-BB3C06858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A25BA09-5383-933C-E291-BDB4B71020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1069EBF-C0B5-9EB4-DCC1-9E8BACFF8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9C0F7-D75B-4C5D-8BA2-4B6485705959}" type="datetimeFigureOut">
              <a:rPr lang="ru-RU" smtClean="0"/>
              <a:t>13.10.2024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332AC16-93B3-1460-E3C7-65580E1A6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87152A2-48DC-5799-2499-17FE61B47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7430C-6405-4F43-BEE8-A9EDAAE57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5440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675EDD-FB9F-F045-EE95-10EF9D2F4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AC7BC94-00BF-2A5B-BF4D-C38882A643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85A367E-D4A4-00C0-F75B-8C02E2A066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E43EE95-E43A-EB58-34A0-A9DDECDD7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9C0F7-D75B-4C5D-8BA2-4B6485705959}" type="datetimeFigureOut">
              <a:rPr lang="ru-RU" smtClean="0"/>
              <a:t>13.10.2024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51CE8F9-1034-21B2-38EF-2A8B5C4D1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BEE8E6C-9A75-8F08-58CE-EB938E297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7430C-6405-4F43-BEE8-A9EDAAE57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2593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D429E8-D3A7-B63A-2739-1D5705FF4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16582CD-AB3F-25A9-B795-21CDC760E6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887405F-9984-D933-744C-463E03AB05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50840FB-509F-F934-5C06-61A5B08526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0BB4397-1D85-C4FA-132E-1D2C7A3938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81F2429-F720-BD98-422E-081D31DB0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9C0F7-D75B-4C5D-8BA2-4B6485705959}" type="datetimeFigureOut">
              <a:rPr lang="ru-RU" smtClean="0"/>
              <a:t>13.10.2024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B8D6B9B-B5DF-8947-4A97-B1959BB9A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6E5F275-C6C3-C7A7-9B49-AB9241D52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7430C-6405-4F43-BEE8-A9EDAAE57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6479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D78BE3-96E3-542D-B866-54D4D5BDD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2AB0066-C93A-CE44-C9C9-8492509E5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9C0F7-D75B-4C5D-8BA2-4B6485705959}" type="datetimeFigureOut">
              <a:rPr lang="ru-RU" smtClean="0"/>
              <a:t>13.10.2024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D86183F-4A06-0A6D-2439-9920BE59F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4A19C14-09EE-8DA0-35EE-10747B9F0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7430C-6405-4F43-BEE8-A9EDAAE57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911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5B0E34C-DF03-FB68-EAB6-2F9E41209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9C0F7-D75B-4C5D-8BA2-4B6485705959}" type="datetimeFigureOut">
              <a:rPr lang="ru-RU" smtClean="0"/>
              <a:t>13.10.2024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3423B85-5262-79FE-1774-FCA052A99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FB42707-0180-59A5-67BB-165999785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7430C-6405-4F43-BEE8-A9EDAAE57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1115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F69A8C-27E6-130A-0F34-2A6C96206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B8BD66-0277-8F15-78C4-39A5EE2172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D3E5280-B2C5-EB27-34F2-3D18F3D081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040CD3B-D516-8EF6-49C8-81E522992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9C0F7-D75B-4C5D-8BA2-4B6485705959}" type="datetimeFigureOut">
              <a:rPr lang="ru-RU" smtClean="0"/>
              <a:t>13.10.2024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E39D0E4-C405-ED24-5E05-503B0046E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BA4DDD1-B00C-597F-82F6-F2A809291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7430C-6405-4F43-BEE8-A9EDAAE57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1590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3E39A1-0DED-CE4B-5B62-BD19F0BCC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854D6F2-42E9-3FEA-C6A7-740C51D9DF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8A8E58D-4DAC-4FC8-5B80-7961711AC2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50A013B-DD5C-737D-F0AB-7C157241F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9C0F7-D75B-4C5D-8BA2-4B6485705959}" type="datetimeFigureOut">
              <a:rPr lang="ru-RU" smtClean="0"/>
              <a:t>13.10.2024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14E4AEB-1CB0-2CFD-BC02-DFD9847A3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B0ABAB9-35CC-F3B8-B086-C857480ED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7430C-6405-4F43-BEE8-A9EDAAE57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1274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20FEB8-DA1D-02DC-B5C2-755D52595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708DD26-2A62-77FD-1C83-3B3882EACF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F4A89C9-6D79-3B2C-6B15-AEF4507AF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9C0F7-D75B-4C5D-8BA2-4B6485705959}" type="datetimeFigureOut">
              <a:rPr lang="ru-RU" smtClean="0"/>
              <a:t>13.10.2024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E70559-F67E-CA20-365A-2B0DDAFBD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A736514-470B-0377-D0F6-5D31A6DEA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7430C-6405-4F43-BEE8-A9EDAAE57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3551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593FE35-8AF2-DD78-796E-56EC686361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7B660D9-45FD-7890-3D0F-E47BD8B39C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65E59F6-A2CA-A130-A170-4BCEBFD81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9C0F7-D75B-4C5D-8BA2-4B6485705959}" type="datetimeFigureOut">
              <a:rPr lang="ru-RU" smtClean="0"/>
              <a:t>13.10.2024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0739BC6-BAA9-14F7-E5F0-45F92CF9E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9443F45-277D-2C12-D898-2C9E77A34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7430C-6405-4F43-BEE8-A9EDAAE57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7993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B8F0C5-9240-24BB-AB2C-20ADF63F8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4742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1A6985C-F8DC-F486-A49E-0B2B654416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191F3EF-F30E-6D88-967B-040F961D8E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E9C0F7-D75B-4C5D-8BA2-4B6485705959}" type="datetimeFigureOut">
              <a:rPr lang="ru-RU" smtClean="0"/>
              <a:t>13.10.2024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49879BD-3AFC-8225-C352-7D9D01B1A2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DE1DDE2-73F3-A77C-24A3-116C7FD462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87430C-6405-4F43-BEE8-A9EDAAE57C2A}" type="slidenum">
              <a:rPr lang="ru-RU" smtClean="0"/>
              <a:t>‹#›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DEFAF48-7A20-BDED-6DB6-D8E23EB4BEE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9053" y="24422"/>
            <a:ext cx="2322947" cy="2006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368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A6D10E-B4D8-B973-A146-B23613FFFF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Технологии программирования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3AF7337-EB00-C20F-E6CF-D664DFEC72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sz="5400" dirty="0"/>
              <a:t>Лекция №2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447088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88840-93D3-86F0-7020-5D6135602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Динамически подключаемые библиотеки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D47D52-4DE8-CBD4-55F7-A2C6F03B2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sz="3600" i="1" dirty="0">
                <a:latin typeface="Arial" panose="020B0604020202020204" pitchFamily="34" charset="0"/>
                <a:cs typeface="Arial" panose="020B0604020202020204" pitchFamily="34" charset="0"/>
              </a:rPr>
              <a:t>Динамическая библиотека – файл, содержащий код и данные, которые могут использовать различные программы параллельно.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A0BBF96-EA41-6B9D-4097-FDD4E0D128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5336" y="3798394"/>
            <a:ext cx="5075663" cy="2932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921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88840-93D3-86F0-7020-5D6135602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Статические библиотеки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D47D52-4DE8-CBD4-55F7-A2C6F03B2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sz="3600" i="1" dirty="0">
                <a:latin typeface="Arial" panose="020B0604020202020204" pitchFamily="34" charset="0"/>
                <a:cs typeface="Arial" panose="020B0604020202020204" pitchFamily="34" charset="0"/>
              </a:rPr>
              <a:t>Статическая библиотека – файл, содержащий код и данные, которые будут встроены в программу на этапе компиляции программы.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5EA5EDC-FB07-4AE1-259E-F3CABE698D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2054" y="3429000"/>
            <a:ext cx="3048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973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88840-93D3-86F0-7020-5D6135602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Состав библиотеки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D47D52-4DE8-CBD4-55F7-A2C6F03B2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42950" indent="-742950" algn="just">
              <a:buFont typeface="+mj-lt"/>
              <a:buAutoNum type="arabicPeriod"/>
            </a:pPr>
            <a:r>
              <a:rPr lang="ru-RU" sz="3600" i="1" dirty="0">
                <a:latin typeface="Arial" panose="020B0604020202020204" pitchFamily="34" charset="0"/>
                <a:cs typeface="Arial" panose="020B0604020202020204" pitchFamily="34" charset="0"/>
              </a:rPr>
              <a:t>Заголовочный файл –  определяющий функциональность, которую библиотека предоставляет использующим ее программам.</a:t>
            </a:r>
          </a:p>
          <a:p>
            <a:pPr marL="742950" indent="-742950" algn="just">
              <a:buFont typeface="+mj-lt"/>
              <a:buAutoNum type="arabicPeriod"/>
            </a:pPr>
            <a:r>
              <a:rPr lang="ru-RU" sz="3600" i="1" dirty="0">
                <a:latin typeface="Arial" panose="020B0604020202020204" pitchFamily="34" charset="0"/>
                <a:cs typeface="Arial" panose="020B0604020202020204" pitchFamily="34" charset="0"/>
              </a:rPr>
              <a:t>Предварительно скомпилированный двоичный файл, содержащий реализацию этой функциональности, предварительно скомпилированную на машинном языке.</a:t>
            </a:r>
          </a:p>
        </p:txBody>
      </p:sp>
    </p:spTree>
    <p:extLst>
      <p:ext uri="{BB962C8B-B14F-4D97-AF65-F5344CB8AC3E}">
        <p14:creationId xmlns:p14="http://schemas.microsoft.com/office/powerpoint/2010/main" val="1189210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88840-93D3-86F0-7020-5D6135602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DLL </a:t>
            </a:r>
            <a:r>
              <a:rPr lang="en-US" dirty="0">
                <a:sym typeface="Symbol" panose="05050102010706020507" pitchFamily="18" charset="2"/>
              </a:rPr>
              <a:t></a:t>
            </a:r>
            <a:r>
              <a:rPr lang="ru-RU" dirty="0">
                <a:sym typeface="Symbol" panose="05050102010706020507" pitchFamily="18" charset="2"/>
              </a:rPr>
              <a:t> </a:t>
            </a:r>
            <a:r>
              <a:rPr lang="en-US" dirty="0">
                <a:sym typeface="Symbol" panose="05050102010706020507" pitchFamily="18" charset="2"/>
              </a:rPr>
              <a:t>LIB</a:t>
            </a:r>
            <a:endParaRPr lang="ru-RU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CA755EF1-F798-2CB8-7E56-8A5C6F3C7A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7657849"/>
              </p:ext>
            </p:extLst>
          </p:nvPr>
        </p:nvGraphicFramePr>
        <p:xfrm>
          <a:off x="838200" y="1825625"/>
          <a:ext cx="10515600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47971887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2768803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4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DLL</a:t>
                      </a:r>
                      <a:endParaRPr lang="ru-RU" sz="4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LIB</a:t>
                      </a:r>
                      <a:endParaRPr lang="ru-RU" sz="4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0408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ru-RU" dirty="0"/>
                        <a:t>Программы используют одну и ту же копию библиотеки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dirty="0"/>
                        <a:t>Приложение распространяется без дополнительных файлов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031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ru-RU" dirty="0"/>
                        <a:t>Обновление библиотеки происходит без обновления исполняемого файла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dirty="0"/>
                        <a:t>Необходимая версия библиотеки встроена в исполняемый файл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24165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dirty="0"/>
                        <a:t>Функциональность библиотеки доступна точно также, как самописный функционал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14945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0204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dirty="0"/>
                        <a:t>Минусы: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38584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dirty="0"/>
                        <a:t>Увеличивает размер исполняемого файла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4611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dirty="0"/>
                        <a:t>Сложность в обновлении версий библиотеки внутри программы: требуется доставить пользователю обновлённый исполняемый файл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56895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54770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88840-93D3-86F0-7020-5D6135602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Windows </a:t>
            </a:r>
            <a:r>
              <a:rPr lang="en-US" dirty="0">
                <a:sym typeface="Symbol" panose="05050102010706020507" pitchFamily="18" charset="2"/>
              </a:rPr>
              <a:t> Linux</a:t>
            </a:r>
            <a:endParaRPr lang="ru-RU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B08FC8A9-3A33-22C5-BCDB-B38EDFC7E7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3542491"/>
              </p:ext>
            </p:extLst>
          </p:nvPr>
        </p:nvGraphicFramePr>
        <p:xfrm>
          <a:off x="838200" y="1825625"/>
          <a:ext cx="10515600" cy="240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65471447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6078598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Windows</a:t>
                      </a:r>
                      <a:endParaRPr lang="ru-RU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Linux</a:t>
                      </a:r>
                      <a:endParaRPr lang="ru-RU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7648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4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r>
                        <a:rPr lang="en-US" sz="4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dll</a:t>
                      </a:r>
                      <a:r>
                        <a:rPr lang="en-US" sz="4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extension</a:t>
                      </a:r>
                      <a:endParaRPr lang="ru-RU" sz="4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.so extension</a:t>
                      </a:r>
                      <a:endParaRPr lang="ru-RU" sz="4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6833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4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.lib extension</a:t>
                      </a:r>
                      <a:endParaRPr lang="ru-RU" sz="4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.a extension</a:t>
                      </a:r>
                      <a:endParaRPr lang="ru-RU" sz="4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87209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03690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88840-93D3-86F0-7020-5D6135602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Подключение библиотек</a:t>
            </a:r>
            <a:br>
              <a:rPr lang="ru-RU" dirty="0"/>
            </a:br>
            <a:r>
              <a:rPr lang="ru-RU" dirty="0"/>
              <a:t>Статические библиотеки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D47D52-4DE8-CBD4-55F7-A2C6F03B2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742950" indent="-742950">
              <a:buFont typeface="+mj-lt"/>
              <a:buAutoNum type="arabicPeriod"/>
            </a:pPr>
            <a:r>
              <a:rPr lang="ru-RU" sz="3600" i="1" dirty="0"/>
              <a:t>Указать путь до файлов заголовков</a:t>
            </a:r>
          </a:p>
          <a:p>
            <a:pPr marL="742950" indent="-742950">
              <a:buFont typeface="+mj-lt"/>
              <a:buAutoNum type="arabicPeriod"/>
            </a:pPr>
            <a:r>
              <a:rPr lang="ru-RU" sz="3600" i="1" dirty="0">
                <a:latin typeface="Arial" panose="020B0604020202020204" pitchFamily="34" charset="0"/>
                <a:cs typeface="Arial" panose="020B0604020202020204" pitchFamily="34" charset="0"/>
              </a:rPr>
              <a:t>Указать путь до скомпилированных двоичных файлов</a:t>
            </a:r>
          </a:p>
          <a:p>
            <a:pPr marL="742950" indent="-742950">
              <a:buFont typeface="+mj-lt"/>
              <a:buAutoNum type="arabicPeriod"/>
            </a:pPr>
            <a:endParaRPr lang="ru-RU" sz="3600" i="1" dirty="0"/>
          </a:p>
          <a:p>
            <a:r>
              <a:rPr lang="ru-RU" sz="3600" b="1" i="1" dirty="0">
                <a:latin typeface="Arial" panose="020B0604020202020204" pitchFamily="34" charset="0"/>
                <a:cs typeface="Arial" panose="020B0604020202020204" pitchFamily="34" charset="0"/>
              </a:rPr>
              <a:t>Важно: </a:t>
            </a:r>
          </a:p>
          <a:p>
            <a:pPr marL="742950" indent="-742950">
              <a:buFont typeface="+mj-lt"/>
              <a:buAutoNum type="arabicPeriod"/>
            </a:pPr>
            <a:r>
              <a:rPr lang="ru-RU" sz="3600" i="1" dirty="0">
                <a:latin typeface="Arial" panose="020B0604020202020204" pitchFamily="34" charset="0"/>
                <a:cs typeface="Arial" panose="020B0604020202020204" pitchFamily="34" charset="0"/>
              </a:rPr>
              <a:t>В </a:t>
            </a:r>
            <a:r>
              <a:rPr lang="en-US" sz="3600" i="1" dirty="0">
                <a:latin typeface="Arial" panose="020B0604020202020204" pitchFamily="34" charset="0"/>
                <a:cs typeface="Arial" panose="020B0604020202020204" pitchFamily="34" charset="0"/>
              </a:rPr>
              <a:t>Windows </a:t>
            </a:r>
            <a:r>
              <a:rPr lang="ru-RU" sz="3600" i="1" dirty="0"/>
              <a:t>библиотеки распространяются обычно в виде архива.</a:t>
            </a:r>
          </a:p>
          <a:p>
            <a:pPr marL="742950" indent="-742950">
              <a:buFont typeface="+mj-lt"/>
              <a:buAutoNum type="arabicPeriod"/>
            </a:pPr>
            <a:r>
              <a:rPr lang="ru-RU" sz="3600" i="1" dirty="0">
                <a:latin typeface="Arial" panose="020B0604020202020204" pitchFamily="34" charset="0"/>
                <a:cs typeface="Arial" panose="020B0604020202020204" pitchFamily="34" charset="0"/>
              </a:rPr>
              <a:t>В </a:t>
            </a:r>
            <a:r>
              <a:rPr lang="en-US" sz="3600" i="1" dirty="0">
                <a:latin typeface="Arial" panose="020B0604020202020204" pitchFamily="34" charset="0"/>
                <a:cs typeface="Arial" panose="020B0604020202020204" pitchFamily="34" charset="0"/>
              </a:rPr>
              <a:t>Linux </a:t>
            </a:r>
            <a:r>
              <a:rPr lang="ru-RU" sz="3600" i="1" dirty="0">
                <a:latin typeface="Arial" panose="020B0604020202020204" pitchFamily="34" charset="0"/>
                <a:cs typeface="Arial" panose="020B0604020202020204" pitchFamily="34" charset="0"/>
              </a:rPr>
              <a:t>библиотеки распространяются с помощью менеджера пакетов.</a:t>
            </a:r>
          </a:p>
        </p:txBody>
      </p:sp>
    </p:spTree>
    <p:extLst>
      <p:ext uri="{BB962C8B-B14F-4D97-AF65-F5344CB8AC3E}">
        <p14:creationId xmlns:p14="http://schemas.microsoft.com/office/powerpoint/2010/main" val="31068555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88840-93D3-86F0-7020-5D6135602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4000" dirty="0"/>
              <a:t>Подключение библиотек</a:t>
            </a:r>
            <a:br>
              <a:rPr lang="ru-RU" sz="4000" dirty="0"/>
            </a:br>
            <a:r>
              <a:rPr lang="ru-RU" sz="4000" dirty="0"/>
              <a:t>Динамические библиотеки</a:t>
            </a:r>
            <a:br>
              <a:rPr lang="ru-RU" sz="4000" dirty="0"/>
            </a:br>
            <a:r>
              <a:rPr lang="en-US" sz="4000" dirty="0"/>
              <a:t>Linux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D47D52-4DE8-CBD4-55F7-A2C6F03B2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400" b="0" i="0" dirty="0">
                <a:solidFill>
                  <a:srgbClr val="2D3140"/>
                </a:solidFill>
                <a:effectLst/>
                <a:latin typeface="Open Sans" panose="020B0606030504020204" pitchFamily="34" charset="0"/>
              </a:rPr>
              <a:t> /</a:t>
            </a:r>
            <a:r>
              <a:rPr lang="en-US" sz="2400" b="0" i="0" dirty="0" err="1">
                <a:solidFill>
                  <a:srgbClr val="2D3140"/>
                </a:solidFill>
                <a:effectLst/>
                <a:latin typeface="Open Sans" panose="020B0606030504020204" pitchFamily="34" charset="0"/>
              </a:rPr>
              <a:t>usr</a:t>
            </a:r>
            <a:r>
              <a:rPr lang="en-US" sz="2400" b="0" i="0" dirty="0">
                <a:solidFill>
                  <a:srgbClr val="2D3140"/>
                </a:solidFill>
                <a:effectLst/>
                <a:latin typeface="Open Sans" panose="020B0606030504020204" pitchFamily="34" charset="0"/>
              </a:rPr>
              <a:t>/lib – </a:t>
            </a:r>
            <a:r>
              <a:rPr lang="ru-RU" sz="2400" dirty="0">
                <a:solidFill>
                  <a:srgbClr val="2D3140"/>
                </a:solidFill>
                <a:latin typeface="Open Sans" panose="020B0606030504020204" pitchFamily="34" charset="0"/>
              </a:rPr>
              <a:t>по умолчанию библиотеки устанавливаются в этот каталог</a:t>
            </a:r>
            <a:endParaRPr lang="ru-RU" sz="3600" i="1" dirty="0">
              <a:solidFill>
                <a:srgbClr val="2D3140"/>
              </a:solidFill>
              <a:latin typeface="Open Sans" panose="020B0606030504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rgbClr val="2D3140"/>
                </a:solidFill>
                <a:latin typeface="Open Sans" panose="020B0606030504020204" pitchFamily="34" charset="0"/>
              </a:rPr>
              <a:t>LD_LIBRARY_PATH </a:t>
            </a:r>
            <a:r>
              <a:rPr lang="ru-RU" sz="2400" dirty="0">
                <a:solidFill>
                  <a:srgbClr val="2D3140"/>
                </a:solidFill>
                <a:latin typeface="Open Sans" panose="020B0606030504020204" pitchFamily="34" charset="0"/>
              </a:rPr>
              <a:t>– переменная окружения, содержащая пути до каталогов с динамически загружаемыми библиотеками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>
                <a:solidFill>
                  <a:srgbClr val="2D3140"/>
                </a:solidFill>
                <a:latin typeface="Open Sans" panose="020B0606030504020204" pitchFamily="34" charset="0"/>
              </a:rPr>
              <a:t>Рядом с исполняемым файлов</a:t>
            </a:r>
          </a:p>
        </p:txBody>
      </p:sp>
    </p:spTree>
    <p:extLst>
      <p:ext uri="{BB962C8B-B14F-4D97-AF65-F5344CB8AC3E}">
        <p14:creationId xmlns:p14="http://schemas.microsoft.com/office/powerpoint/2010/main" val="973582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88840-93D3-86F0-7020-5D6135602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4000" dirty="0"/>
              <a:t>Подключение библиотек</a:t>
            </a:r>
            <a:br>
              <a:rPr lang="ru-RU" sz="4000" dirty="0"/>
            </a:br>
            <a:r>
              <a:rPr lang="ru-RU" sz="4000" dirty="0"/>
              <a:t>Динамические библиотеки</a:t>
            </a:r>
            <a:br>
              <a:rPr lang="ru-RU" sz="4000" dirty="0"/>
            </a:br>
            <a:r>
              <a:rPr lang="en-US" sz="4000" dirty="0"/>
              <a:t>Windows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D47D52-4DE8-CBD4-55F7-A2C6F03B2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ru-RU" sz="2400" dirty="0">
                <a:solidFill>
                  <a:srgbClr val="2D3140"/>
                </a:solidFill>
                <a:latin typeface="Open Sans" panose="020B0606030504020204" pitchFamily="34" charset="0"/>
              </a:rPr>
              <a:t>Рядом с исполняемым файлов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>
                <a:solidFill>
                  <a:srgbClr val="2D3140"/>
                </a:solidFill>
                <a:latin typeface="Open Sans" panose="020B0606030504020204" pitchFamily="34" charset="0"/>
              </a:rPr>
              <a:t>Каталоги </a:t>
            </a:r>
            <a:r>
              <a:rPr lang="en-US" sz="2400" dirty="0">
                <a:solidFill>
                  <a:srgbClr val="2D3140"/>
                </a:solidFill>
                <a:latin typeface="Open Sans" panose="020B0606030504020204" pitchFamily="34" charset="0"/>
              </a:rPr>
              <a:t>Windows, System </a:t>
            </a:r>
            <a:r>
              <a:rPr lang="ru-RU" sz="2400" dirty="0">
                <a:solidFill>
                  <a:srgbClr val="2D3140"/>
                </a:solidFill>
                <a:latin typeface="Open Sans" panose="020B0606030504020204" pitchFamily="34" charset="0"/>
              </a:rPr>
              <a:t>и </a:t>
            </a:r>
            <a:r>
              <a:rPr lang="en-US" sz="2400" dirty="0">
                <a:solidFill>
                  <a:srgbClr val="2D3140"/>
                </a:solidFill>
                <a:latin typeface="Open Sans" panose="020B0606030504020204" pitchFamily="34" charset="0"/>
              </a:rPr>
              <a:t>System32</a:t>
            </a:r>
            <a:endParaRPr lang="ru-RU" sz="2400" dirty="0">
              <a:solidFill>
                <a:srgbClr val="2D3140"/>
              </a:solidFill>
              <a:latin typeface="Open Sans" panose="020B0606030504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rgbClr val="2D3140"/>
                </a:solidFill>
                <a:latin typeface="Open Sans" panose="020B0606030504020204" pitchFamily="34" charset="0"/>
              </a:rPr>
              <a:t>PATH – </a:t>
            </a:r>
            <a:r>
              <a:rPr lang="ru-RU" sz="2400" dirty="0">
                <a:solidFill>
                  <a:srgbClr val="2D3140"/>
                </a:solidFill>
                <a:latin typeface="Open Sans" panose="020B0606030504020204" pitchFamily="34" charset="0"/>
              </a:rPr>
              <a:t>переменная окружения, содержащая пути до исполняемых файлов и библиотек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err="1">
                <a:solidFill>
                  <a:srgbClr val="2D3140"/>
                </a:solidFill>
                <a:latin typeface="Open Sans" panose="020B0606030504020204" pitchFamily="34" charset="0"/>
              </a:rPr>
              <a:t>SetDllDirectory</a:t>
            </a:r>
            <a:r>
              <a:rPr lang="en-US" sz="2400" dirty="0">
                <a:solidFill>
                  <a:srgbClr val="2D3140"/>
                </a:solidFill>
                <a:latin typeface="Open Sans" panose="020B0606030504020204" pitchFamily="34" charset="0"/>
              </a:rPr>
              <a:t>()</a:t>
            </a:r>
            <a:r>
              <a:rPr lang="ru-RU" sz="2400" dirty="0">
                <a:solidFill>
                  <a:srgbClr val="2D3140"/>
                </a:solidFill>
                <a:latin typeface="Open Sans" panose="020B0606030504020204" pitchFamily="34" charset="0"/>
              </a:rPr>
              <a:t> – функция, позволяющая установить путь до динамической библиотеки</a:t>
            </a:r>
          </a:p>
          <a:p>
            <a:pPr marL="457200" indent="-457200">
              <a:buFont typeface="+mj-lt"/>
              <a:buAutoNum type="arabicPeriod"/>
            </a:pPr>
            <a:endParaRPr lang="ru-RU" sz="2400" dirty="0">
              <a:solidFill>
                <a:srgbClr val="2D3140"/>
              </a:solidFill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00901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88840-93D3-86F0-7020-5D6135602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Подключаем библиотеки в </a:t>
            </a:r>
            <a:br>
              <a:rPr lang="en-US" dirty="0"/>
            </a:br>
            <a:r>
              <a:rPr lang="en-US" dirty="0"/>
              <a:t>Visual Studio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D47D52-4DE8-CBD4-55F7-A2C6F03B2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742950" indent="-742950">
              <a:buFont typeface="+mj-lt"/>
              <a:buAutoNum type="arabicPeriod"/>
            </a:pP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Перейдите в меню «Проект» и выберите «Проект» -&gt; «Свойства» (это должно быть в самом низу)</a:t>
            </a:r>
          </a:p>
          <a:p>
            <a:pPr marL="742950" indent="-742950">
              <a:buFont typeface="+mj-lt"/>
              <a:buAutoNum type="arabicPeriod"/>
            </a:pP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В раскрывающемся списке «Конфигурация» убедитесь, что выбрано «Все конфигурации».</a:t>
            </a:r>
          </a:p>
          <a:p>
            <a:pPr marL="742950" indent="-742950">
              <a:buFont typeface="+mj-lt"/>
              <a:buAutoNum type="arabicPeriod"/>
            </a:pP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В левой панели окна выберите “Свойства конфигурации” -&gt; “Каталоги VC ++".</a:t>
            </a:r>
          </a:p>
          <a:p>
            <a:pPr marL="742950" indent="-742950">
              <a:buFont typeface="+mj-lt"/>
              <a:buAutoNum type="arabicPeriod"/>
            </a:pP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В строке «Включаемые каталоги» добавьте путь к файлам .h для библиотеки (убедитесь, что он отделён от предыдущих записей точкой с запятой).</a:t>
            </a:r>
          </a:p>
          <a:p>
            <a:pPr marL="742950" indent="-742950">
              <a:buFont typeface="+mj-lt"/>
              <a:buAutoNum type="arabicPeriod"/>
            </a:pP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В разделе «Каталоги библиотек» добавьте путь к библиотечным файлам (.</a:t>
            </a:r>
            <a:r>
              <a:rPr lang="ru-RU" sz="3600" dirty="0" err="1">
                <a:latin typeface="Arial" panose="020B0604020202020204" pitchFamily="34" charset="0"/>
                <a:cs typeface="Arial" panose="020B0604020202020204" pitchFamily="34" charset="0"/>
              </a:rPr>
              <a:t>lib</a:t>
            </a: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) (если они есть).</a:t>
            </a:r>
          </a:p>
          <a:p>
            <a:pPr marL="742950" indent="-742950">
              <a:buFont typeface="+mj-lt"/>
              <a:buAutoNum type="arabicPeriod"/>
            </a:pP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Нажмите “ОК”.</a:t>
            </a:r>
          </a:p>
        </p:txBody>
      </p:sp>
    </p:spTree>
    <p:extLst>
      <p:ext uri="{BB962C8B-B14F-4D97-AF65-F5344CB8AC3E}">
        <p14:creationId xmlns:p14="http://schemas.microsoft.com/office/powerpoint/2010/main" val="11091840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88840-93D3-86F0-7020-5D6135602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Подключаем библиотеки в </a:t>
            </a:r>
            <a:br>
              <a:rPr lang="en-US" dirty="0"/>
            </a:br>
            <a:r>
              <a:rPr lang="en-US" dirty="0"/>
              <a:t>Visual Studio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D47D52-4DE8-CBD4-55F7-A2C6F03B2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 algn="l">
              <a:buFont typeface="+mj-lt"/>
              <a:buAutoNum type="arabicPeriod"/>
            </a:pPr>
            <a:r>
              <a:rPr lang="ru-RU" sz="2400" b="0" i="0" dirty="0">
                <a:solidFill>
                  <a:srgbClr val="2D3140"/>
                </a:solidFill>
                <a:effectLst/>
              </a:rPr>
              <a:t>Перейдите в меню «Проект» и выберите «Проект» -&gt; «Свойства» (это должно быть в самом низу)</a:t>
            </a:r>
            <a:endParaRPr lang="en-US" sz="2400" b="0" i="0" dirty="0">
              <a:solidFill>
                <a:srgbClr val="2D3140"/>
              </a:solidFill>
              <a:effectLst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ru-RU" sz="2400" b="0" i="0" dirty="0">
                <a:solidFill>
                  <a:srgbClr val="2D3140"/>
                </a:solidFill>
                <a:effectLst/>
              </a:rPr>
              <a:t>В раскрывающемся списке «Конфигурация» убедитесь, что выбрано «Все конфигурации».</a:t>
            </a:r>
          </a:p>
          <a:p>
            <a:pPr marL="457200" indent="-457200" algn="l">
              <a:buFont typeface="+mj-lt"/>
              <a:buAutoNum type="arabicPeriod"/>
            </a:pPr>
            <a:r>
              <a:rPr lang="ru-RU" sz="2400" b="0" i="0" dirty="0">
                <a:solidFill>
                  <a:srgbClr val="2D3140"/>
                </a:solidFill>
                <a:effectLst/>
              </a:rPr>
              <a:t>В левой панели окна выберите “Свойства конфигурации” -&gt; “Компоновщик” -&gt; “Ввод”.</a:t>
            </a:r>
          </a:p>
          <a:p>
            <a:pPr marL="457200" indent="-457200" algn="l">
              <a:buFont typeface="+mj-lt"/>
              <a:buAutoNum type="arabicPeriod"/>
            </a:pPr>
            <a:r>
              <a:rPr lang="ru-RU" sz="2400" b="0" i="0" dirty="0">
                <a:solidFill>
                  <a:srgbClr val="2D3140"/>
                </a:solidFill>
                <a:effectLst/>
              </a:rPr>
              <a:t>Добавьте имя вашего .</a:t>
            </a:r>
            <a:r>
              <a:rPr lang="ru-RU" sz="2400" b="0" i="0" dirty="0" err="1">
                <a:solidFill>
                  <a:srgbClr val="2D3140"/>
                </a:solidFill>
                <a:effectLst/>
              </a:rPr>
              <a:t>lib</a:t>
            </a:r>
            <a:r>
              <a:rPr lang="ru-RU" sz="2400" b="0" i="0" dirty="0">
                <a:solidFill>
                  <a:srgbClr val="2D3140"/>
                </a:solidFill>
                <a:effectLst/>
              </a:rPr>
              <a:t>-файла в список “Дополнительные зависимости” (отделенный от предыдущих записей точкой с запятой).</a:t>
            </a:r>
          </a:p>
          <a:p>
            <a:pPr marL="457200" indent="-457200" algn="l">
              <a:buFont typeface="+mj-lt"/>
              <a:buAutoNum type="arabicPeriod"/>
            </a:pPr>
            <a:r>
              <a:rPr lang="ru-RU" sz="2400" b="0" i="0" dirty="0">
                <a:solidFill>
                  <a:srgbClr val="2D3140"/>
                </a:solidFill>
                <a:effectLst/>
              </a:rPr>
              <a:t>Нажмите “ОК”.</a:t>
            </a:r>
          </a:p>
          <a:p>
            <a:endParaRPr lang="ru-RU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9182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88840-93D3-86F0-7020-5D6135602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 err="1">
                <a:solidFill>
                  <a:srgbClr val="1F2328"/>
                </a:solidFill>
                <a:effectLst/>
                <a:latin typeface="-apple-system"/>
              </a:rPr>
              <a:t>vcpkg</a:t>
            </a:r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 - </a:t>
            </a:r>
            <a:r>
              <a:rPr lang="ru-RU" b="0" i="0" dirty="0">
                <a:solidFill>
                  <a:srgbClr val="1F2328"/>
                </a:solidFill>
                <a:effectLst/>
                <a:latin typeface="-apple-system"/>
              </a:rPr>
              <a:t>пакетный менеджер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D47D52-4DE8-CBD4-55F7-A2C6F03B2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Более 2300 библиотек с открытым исходным кодом для выбора в курированном реестре обычно создаются для проверки совместимости ABI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Создание собственного реестра пользовательской библиотеки с помощью собственных пакетов пользовательской библиотеки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Согласованный кроссплатформенный интерфейс для Windows,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macOS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и Linux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Легко добавлять библиотеки в проект с любой системой сборки и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1533618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88840-93D3-86F0-7020-5D6135602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 err="1">
                <a:solidFill>
                  <a:srgbClr val="1F2328"/>
                </a:solidFill>
                <a:effectLst/>
                <a:latin typeface="-apple-system"/>
              </a:rPr>
              <a:t>vcpkg</a:t>
            </a:r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 - </a:t>
            </a:r>
            <a:r>
              <a:rPr lang="ru-RU" b="0" i="0" dirty="0">
                <a:solidFill>
                  <a:srgbClr val="1F2328"/>
                </a:solidFill>
                <a:effectLst/>
                <a:latin typeface="-apple-system"/>
              </a:rPr>
              <a:t>пакетный менеджер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D47D52-4DE8-CBD4-55F7-A2C6F03B2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Сборка зависимостей из исходного или скачиваемого предварительно проверенного двоичных файлов ABI с более чем 70 конфигурациями, доступными по умолчанию, и бесконечной настройкой для конкретных требований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Предотвращение конфликтов версий и проблем с бриллиантами между зависимостями с помощью уникальной структуры управления версиями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Для пользователей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MSBuild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и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CMake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: автоматическая интеграция с средой сборки для простого приобретения зависимостей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Доверенные студенты, разработчики с открытым исходным кодом,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хоббисты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и профессионалы, включая некоторые из крупнейших предприятий</a:t>
            </a:r>
          </a:p>
        </p:txBody>
      </p:sp>
    </p:spTree>
    <p:extLst>
      <p:ext uri="{BB962C8B-B14F-4D97-AF65-F5344CB8AC3E}">
        <p14:creationId xmlns:p14="http://schemas.microsoft.com/office/powerpoint/2010/main" val="29027610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568948-D968-845D-F284-31DF5455C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vcpkg</a:t>
            </a:r>
            <a:r>
              <a:rPr lang="en-US" dirty="0"/>
              <a:t> – </a:t>
            </a:r>
            <a:r>
              <a:rPr lang="ru-RU" dirty="0"/>
              <a:t>пакетный менеджер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AE41FC-F37E-520E-5B22-E22A4AD389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Совместим с: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err="1"/>
              <a:t>Cmake</a:t>
            </a: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err="1"/>
              <a:t>MSBuild</a:t>
            </a: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ru-RU" dirty="0"/>
              <a:t>Можно использовать в: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Visual Studio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Visual Studio Code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err="1"/>
              <a:t>Clion</a:t>
            </a: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err="1"/>
              <a:t>QtCreator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886761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88840-93D3-86F0-7020-5D6135602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Зависимости приложения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D47D52-4DE8-CBD4-55F7-A2C6F03B2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i="1" dirty="0">
                <a:latin typeface="Arial" panose="020B0604020202020204" pitchFamily="34" charset="0"/>
                <a:cs typeface="Arial" panose="020B0604020202020204" pitchFamily="34" charset="0"/>
              </a:rPr>
              <a:t>dynamic linker – </a:t>
            </a:r>
            <a:r>
              <a:rPr lang="ru-RU" sz="3200" i="1" dirty="0">
                <a:latin typeface="Arial" panose="020B0604020202020204" pitchFamily="34" charset="0"/>
                <a:cs typeface="Arial" panose="020B0604020202020204" pitchFamily="34" charset="0"/>
              </a:rPr>
              <a:t>это программа, которая выполняет загрузку динамически связанных программ и их зависимостей (в виде общих объектов)</a:t>
            </a:r>
            <a:endParaRPr lang="en-US" sz="3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3200" i="1" dirty="0"/>
              <a:t>Основные задачи компоновщика:</a:t>
            </a:r>
          </a:p>
          <a:p>
            <a:pPr lvl="1"/>
            <a:r>
              <a:rPr lang="ru-RU" sz="2000" b="0" i="0" dirty="0">
                <a:solidFill>
                  <a:srgbClr val="333333"/>
                </a:solidFill>
                <a:effectLst/>
              </a:rPr>
              <a:t>нахождение необходимых общих библиотек;</a:t>
            </a:r>
          </a:p>
          <a:p>
            <a:pPr lvl="1"/>
            <a:r>
              <a:rPr lang="ru-RU" sz="2000" b="0" i="0" dirty="0">
                <a:solidFill>
                  <a:srgbClr val="333333"/>
                </a:solidFill>
                <a:effectLst/>
              </a:rPr>
              <a:t>загрузка общих библиотек в память;</a:t>
            </a:r>
          </a:p>
          <a:p>
            <a:pPr lvl="1"/>
            <a:r>
              <a:rPr lang="ru-RU" sz="2000" b="0" i="0" dirty="0">
                <a:solidFill>
                  <a:srgbClr val="333333"/>
                </a:solidFill>
                <a:effectLst/>
              </a:rPr>
              <a:t>разрешение неопределённых символов программы с помощью символов в общих библиотеках;</a:t>
            </a:r>
          </a:p>
          <a:p>
            <a:pPr lvl="1"/>
            <a:r>
              <a:rPr lang="ru-RU" sz="2000" b="0" i="0" dirty="0">
                <a:solidFill>
                  <a:srgbClr val="333333"/>
                </a:solidFill>
                <a:effectLst/>
              </a:rPr>
              <a:t>сборка программы так, чтобы процесс мог вызывать функции в общих библиотеках во время выполнения.</a:t>
            </a:r>
          </a:p>
          <a:p>
            <a:endParaRPr lang="en-US" sz="36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3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99138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88840-93D3-86F0-7020-5D6135602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Зависимости приложения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D47D52-4DE8-CBD4-55F7-A2C6F03B2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Программа </a:t>
            </a:r>
            <a:r>
              <a:rPr lang="ru-RU" sz="2400" b="1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ldd</a:t>
            </a:r>
            <a:r>
              <a:rPr lang="ru-RU" sz="2400" dirty="0">
                <a:solidFill>
                  <a:srgbClr val="000000"/>
                </a:solidFill>
                <a:latin typeface="arial" panose="020B0604020202020204" pitchFamily="34" charset="0"/>
              </a:rPr>
              <a:t> – 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выдает на экран список динамических библиотек используемых в программе и их местоположение. В качестве параметра ей сообщается название обследуемой программы.</a:t>
            </a:r>
            <a:endParaRPr lang="en-US" sz="24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endParaRPr lang="ru-RU" sz="24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r>
              <a:rPr lang="en-US" sz="2400" i="1" dirty="0" err="1">
                <a:latin typeface="Consolas" panose="020B0609020204030204" pitchFamily="49" charset="0"/>
              </a:rPr>
              <a:t>dron</a:t>
            </a:r>
            <a:r>
              <a:rPr lang="en-US" sz="2400" i="1" dirty="0">
                <a:latin typeface="Consolas" panose="020B0609020204030204" pitchFamily="49" charset="0"/>
              </a:rPr>
              <a:t>:~# </a:t>
            </a:r>
            <a:r>
              <a:rPr lang="en-US" sz="2400" i="1" dirty="0" err="1">
                <a:latin typeface="Consolas" panose="020B0609020204030204" pitchFamily="49" charset="0"/>
              </a:rPr>
              <a:t>ldd</a:t>
            </a:r>
            <a:r>
              <a:rPr lang="en-US" sz="2400" i="1" dirty="0">
                <a:latin typeface="Consolas" panose="020B0609020204030204" pitchFamily="49" charset="0"/>
              </a:rPr>
              <a:t> </a:t>
            </a:r>
            <a:r>
              <a:rPr lang="en-US" sz="2400" i="1" dirty="0" err="1">
                <a:latin typeface="Consolas" panose="020B0609020204030204" pitchFamily="49" charset="0"/>
              </a:rPr>
              <a:t>rezultdyn</a:t>
            </a:r>
            <a:endParaRPr lang="en-US" sz="2400" i="1" dirty="0">
              <a:latin typeface="Consolas" panose="020B0609020204030204" pitchFamily="49" charset="0"/>
            </a:endParaRPr>
          </a:p>
          <a:p>
            <a:r>
              <a:rPr lang="en-US" sz="2400" i="1" dirty="0">
                <a:latin typeface="Consolas" panose="020B0609020204030204" pitchFamily="49" charset="0"/>
              </a:rPr>
              <a:t>        libfsdyn.so =&gt; not found</a:t>
            </a:r>
          </a:p>
          <a:p>
            <a:r>
              <a:rPr lang="en-US" sz="2400" i="1" dirty="0">
                <a:latin typeface="Consolas" panose="020B0609020204030204" pitchFamily="49" charset="0"/>
              </a:rPr>
              <a:t>        libc.so.6 =&gt; /lib/libc.so.6 (0x40016000)</a:t>
            </a:r>
          </a:p>
          <a:p>
            <a:r>
              <a:rPr lang="en-US" sz="2400" i="1" dirty="0">
                <a:latin typeface="Consolas" panose="020B0609020204030204" pitchFamily="49" charset="0"/>
              </a:rPr>
              <a:t>        /lib/ld-linux.so.2 =&gt; /lib/ld-linux.so.2 (0x40000000)</a:t>
            </a:r>
          </a:p>
          <a:p>
            <a:r>
              <a:rPr lang="en-US" sz="2400" i="1" dirty="0" err="1">
                <a:latin typeface="Consolas" panose="020B0609020204030204" pitchFamily="49" charset="0"/>
              </a:rPr>
              <a:t>dron</a:t>
            </a:r>
            <a:r>
              <a:rPr lang="en-US" sz="2400" i="1" dirty="0">
                <a:latin typeface="Consolas" panose="020B0609020204030204" pitchFamily="49" charset="0"/>
              </a:rPr>
              <a:t>:~#</a:t>
            </a:r>
            <a:endParaRPr lang="ru-RU" sz="2400" i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73515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88840-93D3-86F0-7020-5D6135602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Зависимости приложения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D47D52-4DE8-CBD4-55F7-A2C6F03B2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В линукс пути до библиотек можно найти в файле </a:t>
            </a:r>
            <a:r>
              <a:rPr lang="en-US" sz="3600" i="1" dirty="0">
                <a:latin typeface="Consolas" panose="020B0609020204030204" pitchFamily="49" charset="0"/>
              </a:rPr>
              <a:t>/</a:t>
            </a:r>
            <a:r>
              <a:rPr lang="en-US" sz="3600" i="1" dirty="0" err="1">
                <a:latin typeface="Consolas" panose="020B0609020204030204" pitchFamily="49" charset="0"/>
              </a:rPr>
              <a:t>etc</a:t>
            </a:r>
            <a:r>
              <a:rPr lang="en-US" sz="3600" i="1" dirty="0">
                <a:latin typeface="Consolas" panose="020B0609020204030204" pitchFamily="49" charset="0"/>
              </a:rPr>
              <a:t>/</a:t>
            </a:r>
            <a:r>
              <a:rPr lang="en-US" sz="3600" i="1" dirty="0" err="1">
                <a:latin typeface="Consolas" panose="020B0609020204030204" pitchFamily="49" charset="0"/>
              </a:rPr>
              <a:t>ld.so.conf</a:t>
            </a:r>
            <a:r>
              <a:rPr lang="ru-RU" sz="3600" i="1" dirty="0">
                <a:latin typeface="Consolas" panose="020B0609020204030204" pitchFamily="49" charset="0"/>
              </a:rPr>
              <a:t>.</a:t>
            </a:r>
          </a:p>
          <a:p>
            <a:pPr algn="just"/>
            <a:r>
              <a:rPr lang="ru-RU" sz="3600" dirty="0">
                <a:latin typeface="Consolas" panose="020B0609020204030204" pitchFamily="49" charset="0"/>
              </a:rPr>
              <a:t>В каждой системе основанной на линукс внутри этого файла хранятся названия каталогов, содержащих библиотеки.</a:t>
            </a:r>
          </a:p>
          <a:p>
            <a:pPr algn="just"/>
            <a:r>
              <a:rPr lang="ru-RU" sz="3600" dirty="0">
                <a:solidFill>
                  <a:srgbClr val="FF0000"/>
                </a:solidFill>
                <a:latin typeface="Consolas" panose="020B0609020204030204" pitchFamily="49" charset="0"/>
              </a:rPr>
              <a:t>Если вы хотите использовать свои библиотеки в разных приложениях, то отредактируйте данный файл.</a:t>
            </a:r>
          </a:p>
        </p:txBody>
      </p:sp>
    </p:spTree>
    <p:extLst>
      <p:ext uri="{BB962C8B-B14F-4D97-AF65-F5344CB8AC3E}">
        <p14:creationId xmlns:p14="http://schemas.microsoft.com/office/powerpoint/2010/main" val="18297131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88840-93D3-86F0-7020-5D6135602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Зависимости приложения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D47D52-4DE8-CBD4-55F7-A2C6F03B2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Путь описанный на предыдущем слайде опасен. Лучше использовать переменную окружения </a:t>
            </a:r>
            <a:r>
              <a:rPr lang="en-US" sz="3600" i="1" dirty="0">
                <a:latin typeface="Arial" panose="020B0604020202020204" pitchFamily="34" charset="0"/>
                <a:cs typeface="Arial" panose="020B0604020202020204" pitchFamily="34" charset="0"/>
              </a:rPr>
              <a:t>LD_LIBRARY_PATH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18371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88840-93D3-86F0-7020-5D6135602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Типы загрузки библиотек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D47D52-4DE8-CBD4-55F7-A2C6F03B2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400" b="0" dirty="0">
                <a:solidFill>
                  <a:srgbClr val="161616"/>
                </a:solidFill>
                <a:effectLst/>
              </a:rPr>
              <a:t>Неявное связывание — операционная система загружает библиотеку DLL в тот момент, когда она используется исполняемым файлом. Исполняемый файл клиента вызывает экспортированные функции библиотеки DLL так же, как статически скомпонованные и включенные в состав самого исполняемого файла функции. Процесс неявного связывания также иногда называют статической загрузкой или динамической компоновкой времени загрузки.</a:t>
            </a:r>
            <a:endParaRPr lang="en-US" sz="2400" b="0" dirty="0">
              <a:solidFill>
                <a:srgbClr val="161616"/>
              </a:solidFill>
              <a:effectLst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400" b="0" dirty="0">
                <a:solidFill>
                  <a:srgbClr val="161616"/>
                </a:solidFill>
                <a:effectLst/>
              </a:rPr>
              <a:t>Явное связывание — операционная система загружает библиотеку DLL по запросу во время выполнения. Исполняемый файл, который использует библиотеку DLL, должен явно загружать и выгружать ее. Кроме того, в нем должен быть настроен указатель функции для доступа к каждой используемой функции из библиотеки DLL. В отличие от вызовов функций в статически скомпонованной или неявно связанной библиотеке DLL, при работе с явно связанной DLL исполняемый файл клиента должен вызывать экспортированные функции с помощью указателей функций. Процесс явного связывания также иногда называют динамической загрузкой или динамической компоновкой времени выполнения.</a:t>
            </a:r>
          </a:p>
          <a:p>
            <a:endParaRPr lang="ru-RU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47987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88840-93D3-86F0-7020-5D6135602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Неявное связывание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D47D52-4DE8-CBD4-55F7-A2C6F03B2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sz="2400" b="0" i="0" dirty="0">
                <a:solidFill>
                  <a:srgbClr val="161616"/>
                </a:solidFill>
                <a:effectLst/>
              </a:rPr>
              <a:t>Неявное связывание происходит в момент, когда из кода приложения вызывается экспортированная функция библиотеки DLL. При компиляции или сборке исходного кода вызывающего исполняемого файла для вызова функции DLL в коде объекта создается ссылка на внешнюю функцию. Для разрешения этой внешней ссылки приложение должно связаться с библиотекой импорта (LIB-файл), которая предоставляется разработчиком библиотеки DLL.</a:t>
            </a:r>
            <a:endParaRPr lang="en-US" sz="2400" b="0" i="0" dirty="0">
              <a:solidFill>
                <a:srgbClr val="161616"/>
              </a:solidFill>
              <a:effectLst/>
            </a:endParaRPr>
          </a:p>
          <a:p>
            <a:pPr algn="just"/>
            <a:r>
              <a:rPr lang="ru-RU" sz="2400" b="0" i="0" dirty="0">
                <a:solidFill>
                  <a:srgbClr val="161616"/>
                </a:solidFill>
                <a:effectLst/>
              </a:rPr>
              <a:t>Библиотека импорта содержит только код для загрузки библиотеки DLL и реализации вызовов ее функций. При поиске внешней функции в библиотеке импорта компоновщик определяет, что код этой функции находится в библиотеке DLL. Для разрешения внешних ссылок на библиотеки DLL компоновщик просто добавляет в исполняемый файл сведения, на основании которых система определяет, где следует искать код DLL при запуске процесса.</a:t>
            </a:r>
            <a:endParaRPr lang="ru-RU" sz="3600" i="1" dirty="0"/>
          </a:p>
        </p:txBody>
      </p:sp>
    </p:spTree>
    <p:extLst>
      <p:ext uri="{BB962C8B-B14F-4D97-AF65-F5344CB8AC3E}">
        <p14:creationId xmlns:p14="http://schemas.microsoft.com/office/powerpoint/2010/main" val="2663015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88840-93D3-86F0-7020-5D6135602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Неявное связывание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D47D52-4DE8-CBD4-55F7-A2C6F03B2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/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При запуске программы, которая содержит динамически связываемые ссылки, система использует сведения из исполняемого файла для поиска необходимых библиотек DLL. Если найти библиотеку DLL не удается, система завершает процесс и отображает диалоговое окно с сообщением об ошибке. В противном случае система сопоставляет модули DLL в адресном пространстве процесса.</a:t>
            </a:r>
          </a:p>
          <a:p>
            <a:pPr algn="just"/>
            <a:endParaRPr lang="ru-RU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Если любая из библиотек DLL содержит функцию точки входа для инициализации и завершения кода, например </a:t>
            </a:r>
            <a:r>
              <a:rPr lang="ru-RU" sz="3600" dirty="0" err="1">
                <a:latin typeface="Arial" panose="020B0604020202020204" pitchFamily="34" charset="0"/>
                <a:cs typeface="Arial" panose="020B0604020202020204" pitchFamily="34" charset="0"/>
              </a:rPr>
              <a:t>DllMain</a:t>
            </a: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, операционная система вызывает эту функцию. С помощью одного из параметров, передаваемого в функцию точки входа, задается код, который указывает на связывание библиотеки DLL с процессом. Если функция точки входа не возвращает значение TRUE, система завершает процесс и возвращает ошибку.</a:t>
            </a:r>
          </a:p>
        </p:txBody>
      </p:sp>
    </p:spTree>
    <p:extLst>
      <p:ext uri="{BB962C8B-B14F-4D97-AF65-F5344CB8AC3E}">
        <p14:creationId xmlns:p14="http://schemas.microsoft.com/office/powerpoint/2010/main" val="34248654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88840-93D3-86F0-7020-5D6135602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Неявное связывание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D47D52-4DE8-CBD4-55F7-A2C6F03B2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sz="2400" b="0" i="0" dirty="0">
                <a:solidFill>
                  <a:srgbClr val="161616"/>
                </a:solidFill>
                <a:effectLst/>
              </a:rPr>
              <a:t>Наконец, система изменяет код исполняемого файла процесса и предоставляет функциям DLL начальные адреса.</a:t>
            </a:r>
          </a:p>
          <a:p>
            <a:pPr algn="just"/>
            <a:r>
              <a:rPr lang="ru-RU" sz="2400" b="0" i="0" dirty="0">
                <a:solidFill>
                  <a:srgbClr val="161616"/>
                </a:solidFill>
                <a:effectLst/>
              </a:rPr>
              <a:t>Как и в случае с остальном кодом программы, загрузчик сопоставляет код DLL в адресном пространстве процесса при запуске процесса. Операционная система загружает его в память только при необходимости</a:t>
            </a:r>
          </a:p>
          <a:p>
            <a:endParaRPr lang="ru-RU" sz="3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9214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88840-93D3-86F0-7020-5D6135602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Явное связывание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D47D52-4DE8-CBD4-55F7-A2C6F03B2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/>
            <a:r>
              <a:rPr lang="ru-RU" sz="3100" b="0" dirty="0">
                <a:solidFill>
                  <a:srgbClr val="161616"/>
                </a:solidFill>
                <a:effectLst/>
              </a:rPr>
              <a:t>В большинстве приложений используется более простой способ неявного связывания. Тем не менее иногда явное связывание необходимо. Такой подход может требоваться в следующих случаях: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900" b="0" dirty="0">
                <a:solidFill>
                  <a:srgbClr val="161616"/>
                </a:solidFill>
                <a:effectLst/>
              </a:rPr>
              <a:t>Имя библиотеки DLL, которую необходимо загружать, становится известно приложению только во время выполнения. Например, приложение может получать имя библиотеки DLL и экспортированные функции из файла конфигурации во время запуска.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900" dirty="0"/>
              <a:t>Если при запуске не удается найти нужную библиотеку DLL, процесс, в котором используется неявное связывание, завершается операционной системой. Процесс с явным связыванием в таких ситуациях не завершается и может попытаться восстановиться после ошибки. Например, процесс может уведомить пользователя об ошибке и запросить указать другой путь к библиотеке DLL.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900" dirty="0"/>
              <a:t>Процесс с неявным связыванием также завершается, если в любой из связанных библиотек DLL функция </a:t>
            </a:r>
            <a:r>
              <a:rPr lang="ru-RU" sz="2900" dirty="0" err="1"/>
              <a:t>DllMain</a:t>
            </a:r>
            <a:r>
              <a:rPr lang="ru-RU" sz="2900" dirty="0"/>
              <a:t> завершается сбоем. Процесс с явным связыванием в таких ситуациях не завершается.</a:t>
            </a:r>
          </a:p>
        </p:txBody>
      </p:sp>
    </p:spTree>
    <p:extLst>
      <p:ext uri="{BB962C8B-B14F-4D97-AF65-F5344CB8AC3E}">
        <p14:creationId xmlns:p14="http://schemas.microsoft.com/office/powerpoint/2010/main" val="36685030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88840-93D3-86F0-7020-5D6135602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Явное связывание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D47D52-4DE8-CBD4-55F7-A2C6F03B2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Приложение, в котором применяется неявное связывание с множеством библиотек DLL, может долго запускаться, поскольку операционная система Windows при загрузке приложения загружает все библиотеки DLL. Чтобы ускорить процесс запуска приложения, можно выполнять неявное связывание только с теми библиотеками DLL, которые необходимы непосредственно после загрузки. Другие библиотеки DLL могут загружаться позднее по мере необходимости посредством явного связывания.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При явном связывании приложению не требуется библиотека импорта. Если из-за изменений в библиотеке DLL изменяются порядковые номера экспорта, приложениям не нужно будет повторно выполнять связывание, если для вызова </a:t>
            </a:r>
            <a:r>
              <a:rPr lang="ru-RU" sz="3600" dirty="0" err="1">
                <a:latin typeface="Arial" panose="020B0604020202020204" pitchFamily="34" charset="0"/>
                <a:cs typeface="Arial" panose="020B0604020202020204" pitchFamily="34" charset="0"/>
              </a:rPr>
              <a:t>GetProcAddress</a:t>
            </a: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 в них используется имя функции, а не ее порядковый номер. Если приложение использует неявное связывание, в случае изменений в библиотеке импорта им потребуется выполнить связывание повторно.</a:t>
            </a:r>
          </a:p>
        </p:txBody>
      </p:sp>
    </p:spTree>
    <p:extLst>
      <p:ext uri="{BB962C8B-B14F-4D97-AF65-F5344CB8AC3E}">
        <p14:creationId xmlns:p14="http://schemas.microsoft.com/office/powerpoint/2010/main" val="13861445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88840-93D3-86F0-7020-5D6135602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Явное связывание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D47D52-4DE8-CBD4-55F7-A2C6F03B2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sz="3600" i="1" dirty="0">
                <a:latin typeface="Arial" panose="020B0604020202020204" pitchFamily="34" charset="0"/>
                <a:cs typeface="Arial" panose="020B0604020202020204" pitchFamily="34" charset="0"/>
              </a:rPr>
              <a:t>Особенности:</a:t>
            </a:r>
          </a:p>
          <a:p>
            <a:pPr lvl="1" algn="just"/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Если библиотека DLL имеет функцию точки входа </a:t>
            </a:r>
            <a:r>
              <a:rPr lang="ru-RU" sz="3200" dirty="0" err="1">
                <a:latin typeface="Arial" panose="020B0604020202020204" pitchFamily="34" charset="0"/>
                <a:cs typeface="Arial" panose="020B0604020202020204" pitchFamily="34" charset="0"/>
              </a:rPr>
              <a:t>DllMain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, операционная система вызывает функцию в контексте потока, который вызывал </a:t>
            </a:r>
            <a:r>
              <a:rPr lang="ru-RU" sz="3200" dirty="0" err="1">
                <a:latin typeface="Arial" panose="020B0604020202020204" pitchFamily="34" charset="0"/>
                <a:cs typeface="Arial" panose="020B0604020202020204" pitchFamily="34" charset="0"/>
              </a:rPr>
              <a:t>LoadLibrary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. Функция точки входа не вызывается, если библиотека DLL уже связана с процессом в рамках предыдущего вызова </a:t>
            </a:r>
            <a:r>
              <a:rPr lang="ru-RU" sz="3200" dirty="0" err="1">
                <a:latin typeface="Arial" panose="020B0604020202020204" pitchFamily="34" charset="0"/>
                <a:cs typeface="Arial" panose="020B0604020202020204" pitchFamily="34" charset="0"/>
              </a:rPr>
              <a:t>LoadLibrary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, во время которого не выполнялся соответствующий вызов функции </a:t>
            </a:r>
            <a:r>
              <a:rPr lang="ru-RU" sz="3200" dirty="0" err="1">
                <a:latin typeface="Arial" panose="020B0604020202020204" pitchFamily="34" charset="0"/>
                <a:cs typeface="Arial" panose="020B0604020202020204" pitchFamily="34" charset="0"/>
              </a:rPr>
              <a:t>FreeLibrary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. При явном связывании могут возникать проблемы, если библиотека DLL использует функцию </a:t>
            </a:r>
            <a:r>
              <a:rPr lang="ru-RU" sz="3200" dirty="0" err="1">
                <a:latin typeface="Arial" panose="020B0604020202020204" pitchFamily="34" charset="0"/>
                <a:cs typeface="Arial" panose="020B0604020202020204" pitchFamily="34" charset="0"/>
              </a:rPr>
              <a:t>DllMain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 для инициализации каждого потока в процессе, поскольку все потоки, существовавшие на момент вызова </a:t>
            </a:r>
            <a:r>
              <a:rPr lang="ru-RU" sz="3200" dirty="0" err="1">
                <a:latin typeface="Arial" panose="020B0604020202020204" pitchFamily="34" charset="0"/>
                <a:cs typeface="Arial" panose="020B0604020202020204" pitchFamily="34" charset="0"/>
              </a:rPr>
              <a:t>LoadLibrary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 (или </a:t>
            </a:r>
            <a:r>
              <a:rPr lang="ru-RU" sz="3200" dirty="0" err="1">
                <a:latin typeface="Arial" panose="020B0604020202020204" pitchFamily="34" charset="0"/>
                <a:cs typeface="Arial" panose="020B0604020202020204" pitchFamily="34" charset="0"/>
              </a:rPr>
              <a:t>AfxLoadLibrary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), не инициализируются.</a:t>
            </a:r>
          </a:p>
        </p:txBody>
      </p:sp>
    </p:spTree>
    <p:extLst>
      <p:ext uri="{BB962C8B-B14F-4D97-AF65-F5344CB8AC3E}">
        <p14:creationId xmlns:p14="http://schemas.microsoft.com/office/powerpoint/2010/main" val="14213175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88840-93D3-86F0-7020-5D6135602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Используем неявное связывание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D47D52-4DE8-CBD4-55F7-A2C6F03B2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Один или несколько файлов заголовка (с расширением h), в которых содержатся объявления экспортированных данных, функций и классов C++ в библиотеке DLL. Все классы, функции и данные, экспортируемые из библиотеки DLL, должны быть отмечены в файле заголовка как __</a:t>
            </a:r>
            <a:r>
              <a:rPr lang="ru-RU" sz="3600" dirty="0" err="1">
                <a:latin typeface="Arial" panose="020B0604020202020204" pitchFamily="34" charset="0"/>
                <a:cs typeface="Arial" panose="020B0604020202020204" pitchFamily="34" charset="0"/>
              </a:rPr>
              <a:t>declspec</a:t>
            </a: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ru-RU" sz="3600" dirty="0" err="1">
                <a:latin typeface="Arial" panose="020B0604020202020204" pitchFamily="34" charset="0"/>
                <a:cs typeface="Arial" panose="020B0604020202020204" pitchFamily="34" charset="0"/>
              </a:rPr>
              <a:t>dllimport</a:t>
            </a: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). Дополнительные сведения см. в статье </a:t>
            </a:r>
            <a:r>
              <a:rPr lang="ru-RU" sz="3600" dirty="0" err="1">
                <a:latin typeface="Arial" panose="020B0604020202020204" pitchFamily="34" charset="0"/>
                <a:cs typeface="Arial" panose="020B0604020202020204" pitchFamily="34" charset="0"/>
              </a:rPr>
              <a:t>dllexport</a:t>
            </a: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3600" dirty="0" err="1">
                <a:latin typeface="Arial" panose="020B0604020202020204" pitchFamily="34" charset="0"/>
                <a:cs typeface="Arial" panose="020B0604020202020204" pitchFamily="34" charset="0"/>
              </a:rPr>
              <a:t>dllimport</a:t>
            </a: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Библиотека импорта, которая связывается с исполняемым файлом. Библиотека импорта создается компоновщиком при построении DLL. Дополнительные сведения см. в разделе Использование LIB-файлов в качестве входных данных для компоновщика.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DLL-файл библиотеки.</a:t>
            </a:r>
          </a:p>
        </p:txBody>
      </p:sp>
    </p:spTree>
    <p:extLst>
      <p:ext uri="{BB962C8B-B14F-4D97-AF65-F5344CB8AC3E}">
        <p14:creationId xmlns:p14="http://schemas.microsoft.com/office/powerpoint/2010/main" val="11254280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88840-93D3-86F0-7020-5D6135602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Используем явное связывание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D47D52-4DE8-CBD4-55F7-A2C6F03B2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Вызвать </a:t>
            </a:r>
            <a:r>
              <a:rPr lang="ru-RU" sz="3600" dirty="0" err="1">
                <a:latin typeface="Arial" panose="020B0604020202020204" pitchFamily="34" charset="0"/>
                <a:cs typeface="Arial" panose="020B0604020202020204" pitchFamily="34" charset="0"/>
              </a:rPr>
              <a:t>LoadLibraryEx</a:t>
            </a: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 или аналогичную функцию для загрузки библиотеки DLL и получения дескриптора модуля.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ru-RU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Вызвать </a:t>
            </a:r>
            <a:r>
              <a:rPr lang="ru-RU" sz="3600" dirty="0" err="1">
                <a:latin typeface="Arial" panose="020B0604020202020204" pitchFamily="34" charset="0"/>
                <a:cs typeface="Arial" panose="020B0604020202020204" pitchFamily="34" charset="0"/>
              </a:rPr>
              <a:t>GetProcAddress</a:t>
            </a: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, чтобы получить указатель для каждой экспортированной функции, которую вызывает приложение. Поскольку приложения вызывают функции DLL с помощью указателя, компилятор не создает внешние ссылки и нет необходимости связываться с библиотекой импорта. Тем не менее, необходимо использовать оператор </a:t>
            </a:r>
            <a:r>
              <a:rPr lang="ru-RU" sz="3600" dirty="0" err="1">
                <a:latin typeface="Arial" panose="020B0604020202020204" pitchFamily="34" charset="0"/>
                <a:cs typeface="Arial" panose="020B0604020202020204" pitchFamily="34" charset="0"/>
              </a:rPr>
              <a:t>typedef</a:t>
            </a: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 или </a:t>
            </a:r>
            <a:r>
              <a:rPr lang="ru-RU" sz="3600" dirty="0" err="1">
                <a:latin typeface="Arial" panose="020B0604020202020204" pitchFamily="34" charset="0"/>
                <a:cs typeface="Arial" panose="020B0604020202020204" pitchFamily="34" charset="0"/>
              </a:rPr>
              <a:t>using</a:t>
            </a: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, определяющий сигнатуру вызова для вызываемых экспортированных функций.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ru-RU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По завершении работы с библиотекой DLL вызовите </a:t>
            </a:r>
            <a:r>
              <a:rPr lang="ru-RU" sz="3600" dirty="0" err="1">
                <a:latin typeface="Arial" panose="020B0604020202020204" pitchFamily="34" charset="0"/>
                <a:cs typeface="Arial" panose="020B0604020202020204" pitchFamily="34" charset="0"/>
              </a:rPr>
              <a:t>FreeLibrary</a:t>
            </a: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395148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88840-93D3-86F0-7020-5D6135602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Забыли про </a:t>
            </a:r>
            <a:r>
              <a:rPr lang="en-US" dirty="0"/>
              <a:t>Linux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D47D52-4DE8-CBD4-55F7-A2C6F03B2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ru-RU" sz="11200" dirty="0"/>
              <a:t>Загрузка библиотеки </a:t>
            </a:r>
            <a:r>
              <a:rPr lang="en-US" sz="11200" dirty="0"/>
              <a:t>math </a:t>
            </a:r>
            <a:r>
              <a:rPr lang="ru-RU" sz="11200" dirty="0"/>
              <a:t>и вывод </a:t>
            </a:r>
            <a:r>
              <a:rPr lang="en-US" sz="11200" dirty="0"/>
              <a:t>cosine (2.0):</a:t>
            </a:r>
            <a:endParaRPr lang="en-US" sz="3600" dirty="0"/>
          </a:p>
          <a:p>
            <a:r>
              <a:rPr lang="en-US" sz="6400" dirty="0">
                <a:latin typeface="Consolas" panose="020B0609020204030204" pitchFamily="49" charset="0"/>
              </a:rPr>
              <a:t>#include &lt;</a:t>
            </a:r>
            <a:r>
              <a:rPr lang="en-US" sz="6400" dirty="0" err="1">
                <a:latin typeface="Consolas" panose="020B0609020204030204" pitchFamily="49" charset="0"/>
              </a:rPr>
              <a:t>stdio.h</a:t>
            </a:r>
            <a:r>
              <a:rPr lang="en-US" sz="6400" dirty="0">
                <a:latin typeface="Consolas" panose="020B0609020204030204" pitchFamily="49" charset="0"/>
              </a:rPr>
              <a:t>&gt;</a:t>
            </a:r>
          </a:p>
          <a:p>
            <a:r>
              <a:rPr lang="en-US" sz="6400" dirty="0">
                <a:latin typeface="Consolas" panose="020B0609020204030204" pitchFamily="49" charset="0"/>
              </a:rPr>
              <a:t>#include &lt;</a:t>
            </a:r>
            <a:r>
              <a:rPr lang="en-US" sz="6400" dirty="0" err="1">
                <a:latin typeface="Consolas" panose="020B0609020204030204" pitchFamily="49" charset="0"/>
              </a:rPr>
              <a:t>dlfcn.h</a:t>
            </a:r>
            <a:r>
              <a:rPr lang="en-US" sz="6400" dirty="0">
                <a:latin typeface="Consolas" panose="020B0609020204030204" pitchFamily="49" charset="0"/>
              </a:rPr>
              <a:t>&gt;</a:t>
            </a:r>
          </a:p>
          <a:p>
            <a:r>
              <a:rPr lang="en-US" sz="6400" dirty="0">
                <a:latin typeface="Consolas" panose="020B0609020204030204" pitchFamily="49" charset="0"/>
              </a:rPr>
              <a:t>int main(int </a:t>
            </a:r>
            <a:r>
              <a:rPr lang="en-US" sz="6400" dirty="0" err="1">
                <a:latin typeface="Consolas" panose="020B0609020204030204" pitchFamily="49" charset="0"/>
              </a:rPr>
              <a:t>argc</a:t>
            </a:r>
            <a:r>
              <a:rPr lang="en-US" sz="6400" dirty="0">
                <a:latin typeface="Consolas" panose="020B0609020204030204" pitchFamily="49" charset="0"/>
              </a:rPr>
              <a:t>, char **</a:t>
            </a:r>
            <a:r>
              <a:rPr lang="en-US" sz="6400" dirty="0" err="1">
                <a:latin typeface="Consolas" panose="020B0609020204030204" pitchFamily="49" charset="0"/>
              </a:rPr>
              <a:t>argv</a:t>
            </a:r>
            <a:r>
              <a:rPr lang="en-US" sz="6400" dirty="0">
                <a:latin typeface="Consolas" panose="020B0609020204030204" pitchFamily="49" charset="0"/>
              </a:rPr>
              <a:t>) {</a:t>
            </a:r>
          </a:p>
          <a:p>
            <a:r>
              <a:rPr lang="en-US" sz="6400" dirty="0">
                <a:latin typeface="Consolas" panose="020B0609020204030204" pitchFamily="49" charset="0"/>
              </a:rPr>
              <a:t>    void *handle;</a:t>
            </a:r>
          </a:p>
          <a:p>
            <a:r>
              <a:rPr lang="en-US" sz="6400" dirty="0">
                <a:latin typeface="Consolas" panose="020B0609020204030204" pitchFamily="49" charset="0"/>
              </a:rPr>
              <a:t>    double (*cosine)(double);</a:t>
            </a:r>
          </a:p>
          <a:p>
            <a:r>
              <a:rPr lang="en-US" sz="6400" dirty="0">
                <a:latin typeface="Consolas" panose="020B0609020204030204" pitchFamily="49" charset="0"/>
              </a:rPr>
              <a:t>    char *error;</a:t>
            </a:r>
          </a:p>
          <a:p>
            <a:r>
              <a:rPr lang="en-US" sz="6400" dirty="0">
                <a:latin typeface="Consolas" panose="020B0609020204030204" pitchFamily="49" charset="0"/>
              </a:rPr>
              <a:t>    handle = </a:t>
            </a:r>
            <a:r>
              <a:rPr lang="en-US" sz="6400" dirty="0" err="1">
                <a:latin typeface="Consolas" panose="020B0609020204030204" pitchFamily="49" charset="0"/>
              </a:rPr>
              <a:t>dlopen</a:t>
            </a:r>
            <a:r>
              <a:rPr lang="en-US" sz="6400" dirty="0">
                <a:latin typeface="Consolas" panose="020B0609020204030204" pitchFamily="49" charset="0"/>
              </a:rPr>
              <a:t> ("/lib/libm.so", RTLD_LAZY);</a:t>
            </a:r>
          </a:p>
          <a:p>
            <a:r>
              <a:rPr lang="en-US" sz="6400" dirty="0">
                <a:latin typeface="Consolas" panose="020B0609020204030204" pitchFamily="49" charset="0"/>
              </a:rPr>
              <a:t>    if (!handle) { </a:t>
            </a:r>
            <a:r>
              <a:rPr lang="en-US" sz="6400" dirty="0" err="1">
                <a:latin typeface="Consolas" panose="020B0609020204030204" pitchFamily="49" charset="0"/>
              </a:rPr>
              <a:t>fputs</a:t>
            </a:r>
            <a:r>
              <a:rPr lang="en-US" sz="6400" dirty="0">
                <a:latin typeface="Consolas" panose="020B0609020204030204" pitchFamily="49" charset="0"/>
              </a:rPr>
              <a:t> (</a:t>
            </a:r>
            <a:r>
              <a:rPr lang="en-US" sz="6400" dirty="0" err="1">
                <a:latin typeface="Consolas" panose="020B0609020204030204" pitchFamily="49" charset="0"/>
              </a:rPr>
              <a:t>dlerror</a:t>
            </a:r>
            <a:r>
              <a:rPr lang="en-US" sz="6400" dirty="0">
                <a:latin typeface="Consolas" panose="020B0609020204030204" pitchFamily="49" charset="0"/>
              </a:rPr>
              <a:t>(), stderr);exit(1);}</a:t>
            </a:r>
          </a:p>
          <a:p>
            <a:r>
              <a:rPr lang="en-US" sz="6400" dirty="0">
                <a:latin typeface="Consolas" panose="020B0609020204030204" pitchFamily="49" charset="0"/>
              </a:rPr>
              <a:t>    cosine = </a:t>
            </a:r>
            <a:r>
              <a:rPr lang="en-US" sz="6400" dirty="0" err="1">
                <a:latin typeface="Consolas" panose="020B0609020204030204" pitchFamily="49" charset="0"/>
              </a:rPr>
              <a:t>dlsym</a:t>
            </a:r>
            <a:r>
              <a:rPr lang="en-US" sz="6400" dirty="0">
                <a:latin typeface="Consolas" panose="020B0609020204030204" pitchFamily="49" charset="0"/>
              </a:rPr>
              <a:t>(handle, "cos");</a:t>
            </a:r>
          </a:p>
          <a:p>
            <a:r>
              <a:rPr lang="en-US" sz="6400" dirty="0">
                <a:latin typeface="Consolas" panose="020B0609020204030204" pitchFamily="49" charset="0"/>
              </a:rPr>
              <a:t>    if ((error = </a:t>
            </a:r>
            <a:r>
              <a:rPr lang="en-US" sz="6400" dirty="0" err="1">
                <a:latin typeface="Consolas" panose="020B0609020204030204" pitchFamily="49" charset="0"/>
              </a:rPr>
              <a:t>dlerror</a:t>
            </a:r>
            <a:r>
              <a:rPr lang="en-US" sz="6400" dirty="0">
                <a:latin typeface="Consolas" panose="020B0609020204030204" pitchFamily="49" charset="0"/>
              </a:rPr>
              <a:t>()) != NULL)  { </a:t>
            </a:r>
            <a:r>
              <a:rPr lang="en-US" sz="6400" dirty="0" err="1">
                <a:latin typeface="Consolas" panose="020B0609020204030204" pitchFamily="49" charset="0"/>
              </a:rPr>
              <a:t>fprintf</a:t>
            </a:r>
            <a:r>
              <a:rPr lang="en-US" sz="6400" dirty="0">
                <a:latin typeface="Consolas" panose="020B0609020204030204" pitchFamily="49" charset="0"/>
              </a:rPr>
              <a:t> (stderr, "%s\n", error); exit(1);</a:t>
            </a:r>
          </a:p>
          <a:p>
            <a:r>
              <a:rPr lang="en-US" sz="6400" dirty="0">
                <a:latin typeface="Consolas" panose="020B0609020204030204" pitchFamily="49" charset="0"/>
              </a:rPr>
              <a:t>    }</a:t>
            </a:r>
          </a:p>
          <a:p>
            <a:r>
              <a:rPr lang="en-US" sz="6400" dirty="0">
                <a:latin typeface="Consolas" panose="020B0609020204030204" pitchFamily="49" charset="0"/>
              </a:rPr>
              <a:t>    </a:t>
            </a:r>
            <a:r>
              <a:rPr lang="en-US" sz="6400" dirty="0" err="1">
                <a:latin typeface="Consolas" panose="020B0609020204030204" pitchFamily="49" charset="0"/>
              </a:rPr>
              <a:t>printf</a:t>
            </a:r>
            <a:r>
              <a:rPr lang="en-US" sz="6400" dirty="0">
                <a:latin typeface="Consolas" panose="020B0609020204030204" pitchFamily="49" charset="0"/>
              </a:rPr>
              <a:t> ("%f\n", (*cosine)(2.0));</a:t>
            </a:r>
          </a:p>
          <a:p>
            <a:r>
              <a:rPr lang="en-US" sz="6400" dirty="0">
                <a:latin typeface="Consolas" panose="020B0609020204030204" pitchFamily="49" charset="0"/>
              </a:rPr>
              <a:t>    </a:t>
            </a:r>
            <a:r>
              <a:rPr lang="en-US" sz="6400" dirty="0" err="1">
                <a:latin typeface="Consolas" panose="020B0609020204030204" pitchFamily="49" charset="0"/>
              </a:rPr>
              <a:t>dlclose</a:t>
            </a:r>
            <a:r>
              <a:rPr lang="en-US" sz="6400" dirty="0">
                <a:latin typeface="Consolas" panose="020B0609020204030204" pitchFamily="49" charset="0"/>
              </a:rPr>
              <a:t>(handle);</a:t>
            </a:r>
          </a:p>
          <a:p>
            <a:r>
              <a:rPr lang="en-US" sz="6400" dirty="0">
                <a:latin typeface="Consolas" panose="020B0609020204030204" pitchFamily="49" charset="0"/>
              </a:rPr>
              <a:t>}</a:t>
            </a:r>
            <a:endParaRPr lang="ru-RU" sz="6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89860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88840-93D3-86F0-7020-5D6135602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D47D52-4DE8-CBD4-55F7-A2C6F03B2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sz="3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85638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88840-93D3-86F0-7020-5D6135602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D47D52-4DE8-CBD4-55F7-A2C6F03B2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sz="3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77442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88840-93D3-86F0-7020-5D6135602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D47D52-4DE8-CBD4-55F7-A2C6F03B2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sz="3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28370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88840-93D3-86F0-7020-5D6135602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D47D52-4DE8-CBD4-55F7-A2C6F03B2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sz="3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776300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88840-93D3-86F0-7020-5D6135602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D47D52-4DE8-CBD4-55F7-A2C6F03B2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sz="3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32843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88840-93D3-86F0-7020-5D6135602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D47D52-4DE8-CBD4-55F7-A2C6F03B2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sz="3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57016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88840-93D3-86F0-7020-5D6135602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D47D52-4DE8-CBD4-55F7-A2C6F03B2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sz="3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485028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8032</TotalTime>
  <Words>1959</Words>
  <Application>Microsoft Office PowerPoint</Application>
  <PresentationFormat>Широкоэкранный</PresentationFormat>
  <Paragraphs>148</Paragraphs>
  <Slides>35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35</vt:i4>
      </vt:variant>
    </vt:vector>
  </HeadingPairs>
  <TitlesOfParts>
    <vt:vector size="43" baseType="lpstr">
      <vt:lpstr>-apple-system</vt:lpstr>
      <vt:lpstr>Arial</vt:lpstr>
      <vt:lpstr>Arial</vt:lpstr>
      <vt:lpstr>Calibri</vt:lpstr>
      <vt:lpstr>Consolas</vt:lpstr>
      <vt:lpstr>Open Sans</vt:lpstr>
      <vt:lpstr>Symbol</vt:lpstr>
      <vt:lpstr>Тема Office</vt:lpstr>
      <vt:lpstr>Технологии программирования</vt:lpstr>
      <vt:lpstr>Динамически подключаемые библиотеки</vt:lpstr>
      <vt:lpstr>Статические библиотеки</vt:lpstr>
      <vt:lpstr>Состав библиотеки</vt:lpstr>
      <vt:lpstr>DLL  LIB</vt:lpstr>
      <vt:lpstr>Windows  Linux</vt:lpstr>
      <vt:lpstr>Подключение библиотек Статические библиотеки</vt:lpstr>
      <vt:lpstr>Подключение библиотек Динамические библиотеки Linux</vt:lpstr>
      <vt:lpstr>Подключение библиотек Динамические библиотеки Windows</vt:lpstr>
      <vt:lpstr>Подключаем библиотеки в  Visual Studio</vt:lpstr>
      <vt:lpstr>Подключаем библиотеки в  Visual Studio</vt:lpstr>
      <vt:lpstr>vcpkg - пакетный менеджер</vt:lpstr>
      <vt:lpstr>vcpkg - пакетный менеджер</vt:lpstr>
      <vt:lpstr>vcpkg – пакетный менеджер</vt:lpstr>
      <vt:lpstr>Зависимости приложения</vt:lpstr>
      <vt:lpstr>Зависимости приложения</vt:lpstr>
      <vt:lpstr>Зависимости приложения</vt:lpstr>
      <vt:lpstr>Зависимости приложения</vt:lpstr>
      <vt:lpstr>Типы загрузки библиотек</vt:lpstr>
      <vt:lpstr>Неявное связывание</vt:lpstr>
      <vt:lpstr>Неявное связывание</vt:lpstr>
      <vt:lpstr>Неявное связывание</vt:lpstr>
      <vt:lpstr>Явное связывание</vt:lpstr>
      <vt:lpstr>Явное связывание</vt:lpstr>
      <vt:lpstr>Явное связывание</vt:lpstr>
      <vt:lpstr>Используем неявное связывание</vt:lpstr>
      <vt:lpstr>Используем явное связывание</vt:lpstr>
      <vt:lpstr>Забыли про Linux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Иван Петров</dc:creator>
  <cp:lastModifiedBy>Иван Петров</cp:lastModifiedBy>
  <cp:revision>72</cp:revision>
  <dcterms:created xsi:type="dcterms:W3CDTF">2024-09-02T04:38:38Z</dcterms:created>
  <dcterms:modified xsi:type="dcterms:W3CDTF">2024-10-18T07:31:36Z</dcterms:modified>
</cp:coreProperties>
</file>